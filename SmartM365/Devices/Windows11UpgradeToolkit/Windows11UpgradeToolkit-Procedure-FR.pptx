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microsoft.com/software-download/windows11" TargetMode="External"/><Relationship Id="rId2" Type="http://schemas.openxmlformats.org/officeDocument/2006/relationships/hyperlink" Target="https://github.com/khda79/workplacecloudhub.com/blob/main/SmartM365/Devices/Windows11UpgradeToolkit/README.md"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khda79/workplacecloudhub.com/blob/main/SmartM365/Devices/Windows11UpgradeToolkit/README.md" TargetMode="Externa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khda79/workplacecloudhub.com/blob/main/SmartM365/Devices/Windows11UpgradeToolkit/README.md" TargetMode="Externa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8778240" y="-2011680"/>
            <a:ext cx="5943600" cy="5943600"/>
          </a:xfrm>
          <a:prstGeom prst="ellipse">
            <a:avLst/>
          </a:prstGeom>
          <a:solidFill>
            <a:srgbClr val="263080"/>
          </a:solidFill>
          <a:ln/>
        </p:spPr>
      </p:sp>
      <p:sp>
        <p:nvSpPr>
          <p:cNvPr id="4" name="Shape 2"/>
          <p:cNvSpPr/>
          <p:nvPr/>
        </p:nvSpPr>
        <p:spPr>
          <a:xfrm>
            <a:off x="10241280" y="4206240"/>
            <a:ext cx="3840480" cy="3840480"/>
          </a:xfrm>
          <a:prstGeom prst="ellipse">
            <a:avLst/>
          </a:prstGeom>
          <a:solidFill>
            <a:srgbClr val="263080"/>
          </a:solidFill>
          <a:ln/>
        </p:spPr>
      </p:sp>
      <p:pic>
        <p:nvPicPr>
          <p:cNvPr id="5" name="Image 0" descr="C:\Users\Khaled\AppData\Local\Temp\claude\C--Users-Khaled-OneDrive-Documents-SmartIntune\c5e67daa-f249-479e-bda8-772632c0f9d4\scratchpad\pptx\logo.png">    </p:cNvPr>
          <p:cNvPicPr>
            <a:picLocks noChangeAspect="1"/>
          </p:cNvPicPr>
          <p:nvPr/>
        </p:nvPicPr>
        <p:blipFill>
          <a:blip r:embed="rId1"/>
          <a:stretch>
            <a:fillRect/>
          </a:stretch>
        </p:blipFill>
        <p:spPr>
          <a:xfrm>
            <a:off x="640080" y="502920"/>
            <a:ext cx="2286000" cy="896112"/>
          </a:xfrm>
          <a:prstGeom prst="rect">
            <a:avLst/>
          </a:prstGeom>
        </p:spPr>
      </p:pic>
      <p:sp>
        <p:nvSpPr>
          <p:cNvPr id="6" name="Shape 3"/>
          <p:cNvSpPr/>
          <p:nvPr/>
        </p:nvSpPr>
        <p:spPr>
          <a:xfrm>
            <a:off x="640080" y="2331720"/>
            <a:ext cx="3291840" cy="384048"/>
          </a:xfrm>
          <a:prstGeom prst="roundRect">
            <a:avLst>
              <a:gd name="adj" fmla="val 50000"/>
            </a:avLst>
          </a:prstGeom>
          <a:solidFill>
            <a:srgbClr val="2A3576"/>
          </a:solidFill>
          <a:ln/>
        </p:spPr>
      </p:sp>
      <p:sp>
        <p:nvSpPr>
          <p:cNvPr id="7" name="Text 4"/>
          <p:cNvSpPr/>
          <p:nvPr/>
        </p:nvSpPr>
        <p:spPr>
          <a:xfrm>
            <a:off x="640080" y="2331720"/>
            <a:ext cx="3291840" cy="384048"/>
          </a:xfrm>
          <a:prstGeom prst="rect">
            <a:avLst/>
          </a:prstGeom>
          <a:noFill/>
          <a:ln/>
        </p:spPr>
        <p:txBody>
          <a:bodyPr wrap="square" lIns="0" tIns="0" rIns="0" bIns="0" rtlCol="0" anchor="ctr"/>
          <a:lstStyle/>
          <a:p>
            <a:pPr algn="ctr" indent="0" marL="0">
              <a:buNone/>
            </a:pPr>
            <a:r>
              <a:rPr lang="en-US" sz="1200" b="1" spc="150" kern="0" dirty="0">
                <a:solidFill>
                  <a:srgbClr val="CADCFC"/>
                </a:solidFill>
                <a:latin typeface="Calibri" pitchFamily="34" charset="0"/>
                <a:ea typeface="Calibri" pitchFamily="34" charset="-122"/>
                <a:cs typeface="Calibri" pitchFamily="34" charset="-120"/>
              </a:rPr>
              <a:t>SMARTM365 • DEVICES</a:t>
            </a:r>
            <a:endParaRPr lang="en-US" sz="1200" dirty="0"/>
          </a:p>
        </p:txBody>
      </p:sp>
      <p:sp>
        <p:nvSpPr>
          <p:cNvPr id="8" name="Text 5"/>
          <p:cNvSpPr/>
          <p:nvPr/>
        </p:nvSpPr>
        <p:spPr>
          <a:xfrm>
            <a:off x="621792" y="2788920"/>
            <a:ext cx="96012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Windows 11 Upgrade Toolkit</a:t>
            </a:r>
            <a:endParaRPr lang="en-US" sz="4400" dirty="0"/>
          </a:p>
        </p:txBody>
      </p:sp>
      <p:sp>
        <p:nvSpPr>
          <p:cNvPr id="9" name="Text 6"/>
          <p:cNvSpPr/>
          <p:nvPr/>
        </p:nvSpPr>
        <p:spPr>
          <a:xfrm>
            <a:off x="640080" y="3794760"/>
            <a:ext cx="91440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Procédure d'installation et de configuration</a:t>
            </a:r>
            <a:endParaRPr lang="en-US" sz="2000" dirty="0"/>
          </a:p>
        </p:txBody>
      </p:sp>
      <p:sp>
        <p:nvSpPr>
          <p:cNvPr id="10" name="Shape 7"/>
          <p:cNvSpPr/>
          <p:nvPr/>
        </p:nvSpPr>
        <p:spPr>
          <a:xfrm>
            <a:off x="658368" y="4480560"/>
            <a:ext cx="0" cy="1005840"/>
          </a:xfrm>
          <a:prstGeom prst="line">
            <a:avLst/>
          </a:prstGeom>
          <a:noFill/>
          <a:ln w="19050">
            <a:solidFill>
              <a:srgbClr val="3A4590"/>
            </a:solidFill>
            <a:prstDash val="solid"/>
          </a:ln>
        </p:spPr>
      </p:sp>
      <p:sp>
        <p:nvSpPr>
          <p:cNvPr id="11" name="Text 8"/>
          <p:cNvSpPr/>
          <p:nvPr/>
        </p:nvSpPr>
        <p:spPr>
          <a:xfrm>
            <a:off x="868680" y="4526280"/>
            <a:ext cx="8686800" cy="822960"/>
          </a:xfrm>
          <a:prstGeom prst="rect">
            <a:avLst/>
          </a:prstGeom>
          <a:noFill/>
          <a:ln/>
        </p:spPr>
        <p:txBody>
          <a:bodyPr wrap="square" lIns="0" tIns="0" rIns="0" bIns="0" rtlCol="0" anchor="ctr"/>
          <a:lstStyle/>
          <a:p>
            <a:pPr indent="0" marL="0">
              <a:lnSpc>
                <a:spcPts val="2000"/>
              </a:lnSpc>
              <a:buNone/>
            </a:pPr>
            <a:r>
              <a:rPr lang="en-US" sz="1300" dirty="0">
                <a:solidFill>
                  <a:srgbClr val="AEBBEF"/>
                </a:solidFill>
                <a:latin typeface="Calibri" pitchFamily="34" charset="0"/>
                <a:ea typeface="Calibri" pitchFamily="34" charset="-122"/>
                <a:cs typeface="Calibri" pitchFamily="34" charset="-120"/>
              </a:rPr>
              <a:t>Architecture LOT / PsExec  •  Diagnostic guidé  •  Upgrade Windows 10 → Windows 11
</a:t>
            </a:r>
            <a:pPr indent="0" marL="0">
              <a:lnSpc>
                <a:spcPts val="2000"/>
              </a:lnSpc>
              <a:buNone/>
            </a:pPr>
            <a:r>
              <a:rPr lang="en-US" sz="1300" dirty="0">
                <a:solidFill>
                  <a:srgbClr val="AEBBEF"/>
                </a:solidFill>
                <a:latin typeface="Calibri" pitchFamily="34" charset="0"/>
                <a:ea typeface="Calibri" pitchFamily="34" charset="-122"/>
                <a:cs typeface="Calibri" pitchFamily="34" charset="-120"/>
              </a:rPr>
              <a:t>Document technique — équipe SmartM365 Devices</a:t>
            </a:r>
            <a:endParaRPr lang="en-US" sz="1300" dirty="0"/>
          </a:p>
        </p:txBody>
      </p:sp>
      <p:sp>
        <p:nvSpPr>
          <p:cNvPr id="12" name="Text 9"/>
          <p:cNvSpPr/>
          <p:nvPr/>
        </p:nvSpPr>
        <p:spPr>
          <a:xfrm>
            <a:off x="640080" y="6217920"/>
            <a:ext cx="3657600" cy="365760"/>
          </a:xfrm>
          <a:prstGeom prst="rect">
            <a:avLst/>
          </a:prstGeom>
          <a:noFill/>
          <a:ln/>
        </p:spPr>
        <p:txBody>
          <a:bodyPr wrap="square" lIns="0" tIns="0" rIns="0" bIns="0" rtlCol="0" anchor="ctr"/>
          <a:lstStyle/>
          <a:p>
            <a:pPr indent="0" marL="0">
              <a:buNone/>
            </a:pPr>
            <a:r>
              <a:rPr lang="en-US" sz="1100" dirty="0">
                <a:solidFill>
                  <a:srgbClr val="8C99D6"/>
                </a:solidFill>
                <a:latin typeface="Calibri" pitchFamily="34" charset="0"/>
                <a:ea typeface="Calibri" pitchFamily="34" charset="-122"/>
                <a:cs typeface="Calibri" pitchFamily="34" charset="-120"/>
              </a:rPr>
              <a:t>workplacecloudhub.com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VUE D'ENSEMBLE</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Objectif du toolkit</a:t>
            </a:r>
            <a:endParaRPr lang="en-US" sz="3200" dirty="0"/>
          </a:p>
        </p:txBody>
      </p:sp>
      <p:sp>
        <p:nvSpPr>
          <p:cNvPr id="5" name="Text 3"/>
          <p:cNvSpPr/>
          <p:nvPr/>
        </p:nvSpPr>
        <p:spPr>
          <a:xfrm>
            <a:off x="502920" y="1783080"/>
            <a:ext cx="6492240" cy="1371600"/>
          </a:xfrm>
          <a:prstGeom prst="rect">
            <a:avLst/>
          </a:prstGeom>
          <a:noFill/>
          <a:ln/>
        </p:spPr>
        <p:txBody>
          <a:bodyPr wrap="square" lIns="0" tIns="0" rIns="0" bIns="0" rtlCol="0" anchor="ctr"/>
          <a:lstStyle/>
          <a:p>
            <a:pPr indent="0" marL="0">
              <a:lnSpc>
                <a:spcPct val="125000"/>
              </a:lnSpc>
              <a:buNone/>
            </a:pPr>
            <a:r>
              <a:rPr lang="en-US" sz="1500" dirty="0">
                <a:solidFill>
                  <a:srgbClr val="1F2937"/>
                </a:solidFill>
                <a:latin typeface="Calibri" pitchFamily="34" charset="0"/>
                <a:ea typeface="Calibri" pitchFamily="34" charset="-122"/>
                <a:cs typeface="Calibri" pitchFamily="34" charset="-120"/>
              </a:rPr>
              <a:t>Le toolkit diagnostique les postes Windows 10 qui ne migrent pas vers Windows 11 via Intune, Windows Autopatch ou Windows Update for Business, explique pourquoi, puis exécute des actions de réparation ou d'upgrade guardées depuis des dossiers LOT.</a:t>
            </a:r>
            <a:endParaRPr lang="en-US" sz="1500" dirty="0"/>
          </a:p>
        </p:txBody>
      </p:sp>
      <p:sp>
        <p:nvSpPr>
          <p:cNvPr id="6" name="Shape 4"/>
          <p:cNvSpPr/>
          <p:nvPr/>
        </p:nvSpPr>
        <p:spPr>
          <a:xfrm>
            <a:off x="502920" y="3337560"/>
            <a:ext cx="128016" cy="822960"/>
          </a:xfrm>
          <a:prstGeom prst="roundRect">
            <a:avLst>
              <a:gd name="adj" fmla="val 50000"/>
            </a:avLst>
          </a:prstGeom>
          <a:solidFill>
            <a:srgbClr val="0078D4"/>
          </a:solidFill>
          <a:ln/>
        </p:spPr>
      </p:sp>
      <p:sp>
        <p:nvSpPr>
          <p:cNvPr id="7" name="Text 5"/>
          <p:cNvSpPr/>
          <p:nvPr/>
        </p:nvSpPr>
        <p:spPr>
          <a:xfrm>
            <a:off x="777240" y="3291840"/>
            <a:ext cx="62179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Diagnostic autonome</a:t>
            </a:r>
            <a:endParaRPr lang="en-US" sz="1500" dirty="0"/>
          </a:p>
        </p:txBody>
      </p:sp>
      <p:sp>
        <p:nvSpPr>
          <p:cNvPr id="8" name="Text 6"/>
          <p:cNvSpPr/>
          <p:nvPr/>
        </p:nvSpPr>
        <p:spPr>
          <a:xfrm>
            <a:off x="777240" y="3630168"/>
            <a:ext cx="6217920" cy="548640"/>
          </a:xfrm>
          <a:prstGeom prst="rect">
            <a:avLst/>
          </a:prstGeom>
          <a:noFill/>
          <a:ln/>
        </p:spPr>
        <p:txBody>
          <a:bodyPr wrap="square" lIns="0" tIns="0" rIns="0" bIns="0" rtlCol="0" anchor="ctr"/>
          <a:lstStyle/>
          <a:p>
            <a:pPr indent="0" marL="0">
              <a:lnSpc>
                <a:spcPct val="120000"/>
              </a:lnSpc>
              <a:buNone/>
            </a:pPr>
            <a:r>
              <a:rPr lang="en-US" sz="1250" dirty="0">
                <a:solidFill>
                  <a:srgbClr val="5F6B7A"/>
                </a:solidFill>
                <a:latin typeface="Calibri" pitchFamily="34" charset="0"/>
                <a:ea typeface="Calibri" pitchFamily="34" charset="-122"/>
                <a:cs typeface="Calibri" pitchFamily="34" charset="-120"/>
              </a:rPr>
              <a:t>Le script endpoint est un fichier PowerShell unique, déployable par PsExec sans module SmartM365 sur la cible.</a:t>
            </a:r>
            <a:endParaRPr lang="en-US" sz="1250" dirty="0"/>
          </a:p>
        </p:txBody>
      </p:sp>
      <p:sp>
        <p:nvSpPr>
          <p:cNvPr id="9" name="Shape 7"/>
          <p:cNvSpPr/>
          <p:nvPr/>
        </p:nvSpPr>
        <p:spPr>
          <a:xfrm>
            <a:off x="502920" y="4297680"/>
            <a:ext cx="128016" cy="822960"/>
          </a:xfrm>
          <a:prstGeom prst="roundRect">
            <a:avLst>
              <a:gd name="adj" fmla="val 50000"/>
            </a:avLst>
          </a:prstGeom>
          <a:solidFill>
            <a:srgbClr val="0078D4"/>
          </a:solidFill>
          <a:ln/>
        </p:spPr>
      </p:sp>
      <p:sp>
        <p:nvSpPr>
          <p:cNvPr id="10" name="Text 8"/>
          <p:cNvSpPr/>
          <p:nvPr/>
        </p:nvSpPr>
        <p:spPr>
          <a:xfrm>
            <a:off x="777240" y="4251960"/>
            <a:ext cx="62179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Actions guardées</a:t>
            </a:r>
            <a:endParaRPr lang="en-US" sz="1500" dirty="0"/>
          </a:p>
        </p:txBody>
      </p:sp>
      <p:sp>
        <p:nvSpPr>
          <p:cNvPr id="11" name="Text 9"/>
          <p:cNvSpPr/>
          <p:nvPr/>
        </p:nvSpPr>
        <p:spPr>
          <a:xfrm>
            <a:off x="777240" y="4590288"/>
            <a:ext cx="6217920" cy="548640"/>
          </a:xfrm>
          <a:prstGeom prst="rect">
            <a:avLst/>
          </a:prstGeom>
          <a:noFill/>
          <a:ln/>
        </p:spPr>
        <p:txBody>
          <a:bodyPr wrap="square" lIns="0" tIns="0" rIns="0" bIns="0" rtlCol="0" anchor="ctr"/>
          <a:lstStyle/>
          <a:p>
            <a:pPr indent="0" marL="0">
              <a:lnSpc>
                <a:spcPct val="120000"/>
              </a:lnSpc>
              <a:buNone/>
            </a:pPr>
            <a:r>
              <a:rPr lang="en-US" sz="1250" dirty="0">
                <a:solidFill>
                  <a:srgbClr val="5F6B7A"/>
                </a:solidFill>
                <a:latin typeface="Calibri" pitchFamily="34" charset="0"/>
                <a:ea typeface="Calibri" pitchFamily="34" charset="-122"/>
                <a:cs typeface="Calibri" pitchFamily="34" charset="-120"/>
              </a:rPr>
              <a:t>Chaque action (réparation, reset WU, upgrade setup) n'est exécutée que si le switch -Allow* correspondant est activé.</a:t>
            </a:r>
            <a:endParaRPr lang="en-US" sz="1250" dirty="0"/>
          </a:p>
        </p:txBody>
      </p:sp>
      <p:sp>
        <p:nvSpPr>
          <p:cNvPr id="12" name="Shape 10"/>
          <p:cNvSpPr/>
          <p:nvPr/>
        </p:nvSpPr>
        <p:spPr>
          <a:xfrm>
            <a:off x="502920" y="5257800"/>
            <a:ext cx="128016" cy="822960"/>
          </a:xfrm>
          <a:prstGeom prst="roundRect">
            <a:avLst>
              <a:gd name="adj" fmla="val 50000"/>
            </a:avLst>
          </a:prstGeom>
          <a:solidFill>
            <a:srgbClr val="0078D4"/>
          </a:solidFill>
          <a:ln/>
        </p:spPr>
      </p:sp>
      <p:sp>
        <p:nvSpPr>
          <p:cNvPr id="13" name="Text 11"/>
          <p:cNvSpPr/>
          <p:nvPr/>
        </p:nvSpPr>
        <p:spPr>
          <a:xfrm>
            <a:off x="777240" y="5212080"/>
            <a:ext cx="62179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Opérations en lot</a:t>
            </a:r>
            <a:endParaRPr lang="en-US" sz="1500" dirty="0"/>
          </a:p>
        </p:txBody>
      </p:sp>
      <p:sp>
        <p:nvSpPr>
          <p:cNvPr id="14" name="Text 12"/>
          <p:cNvSpPr/>
          <p:nvPr/>
        </p:nvSpPr>
        <p:spPr>
          <a:xfrm>
            <a:off x="777240" y="5550408"/>
            <a:ext cx="6217920" cy="548640"/>
          </a:xfrm>
          <a:prstGeom prst="rect">
            <a:avLst/>
          </a:prstGeom>
          <a:noFill/>
          <a:ln/>
        </p:spPr>
        <p:txBody>
          <a:bodyPr wrap="square" lIns="0" tIns="0" rIns="0" bIns="0" rtlCol="0" anchor="ctr"/>
          <a:lstStyle/>
          <a:p>
            <a:pPr indent="0" marL="0">
              <a:lnSpc>
                <a:spcPct val="120000"/>
              </a:lnSpc>
              <a:buNone/>
            </a:pPr>
            <a:r>
              <a:rPr lang="en-US" sz="1250" dirty="0">
                <a:solidFill>
                  <a:srgbClr val="5F6B7A"/>
                </a:solidFill>
                <a:latin typeface="Calibri" pitchFamily="34" charset="0"/>
                <a:ea typeface="Calibri" pitchFamily="34" charset="-122"/>
                <a:cs typeface="Calibri" pitchFamily="34" charset="-120"/>
              </a:rPr>
              <a:t>Conçu pour traiter des campagnes de plusieurs centaines de postes depuis un poste opérateur.</a:t>
            </a:r>
            <a:endParaRPr lang="en-US" sz="1250" dirty="0"/>
          </a:p>
        </p:txBody>
      </p:sp>
      <p:sp>
        <p:nvSpPr>
          <p:cNvPr id="15" name="Shape 13"/>
          <p:cNvSpPr/>
          <p:nvPr/>
        </p:nvSpPr>
        <p:spPr>
          <a:xfrm>
            <a:off x="7360920" y="1783080"/>
            <a:ext cx="4343400" cy="4343400"/>
          </a:xfrm>
          <a:prstGeom prst="roundRect">
            <a:avLst>
              <a:gd name="adj" fmla="val 2105"/>
            </a:avLst>
          </a:prstGeom>
          <a:solidFill>
            <a:srgbClr val="F5F8FB"/>
          </a:solidFill>
          <a:ln w="12700">
            <a:solidFill>
              <a:srgbClr val="DDE7F0"/>
            </a:solidFill>
            <a:prstDash val="solid"/>
          </a:ln>
        </p:spPr>
      </p:sp>
      <p:sp>
        <p:nvSpPr>
          <p:cNvPr id="16" name="Text 14"/>
          <p:cNvSpPr/>
          <p:nvPr/>
        </p:nvSpPr>
        <p:spPr>
          <a:xfrm>
            <a:off x="7635240" y="2011680"/>
            <a:ext cx="38404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Flux simplifié</a:t>
            </a:r>
            <a:endParaRPr lang="en-US" sz="1300" dirty="0"/>
          </a:p>
        </p:txBody>
      </p:sp>
      <p:sp>
        <p:nvSpPr>
          <p:cNvPr id="17" name="Shape 15"/>
          <p:cNvSpPr/>
          <p:nvPr/>
        </p:nvSpPr>
        <p:spPr>
          <a:xfrm>
            <a:off x="7635240" y="2514600"/>
            <a:ext cx="3566160" cy="658368"/>
          </a:xfrm>
          <a:prstGeom prst="roundRect">
            <a:avLst>
              <a:gd name="adj" fmla="val 11111"/>
            </a:avLst>
          </a:prstGeom>
          <a:solidFill>
            <a:srgbClr val="FFFFFF"/>
          </a:solidFill>
          <a:ln w="12700">
            <a:solidFill>
              <a:srgbClr val="DDE7F0"/>
            </a:solidFill>
            <a:prstDash val="solid"/>
          </a:ln>
        </p:spPr>
      </p:sp>
      <p:sp>
        <p:nvSpPr>
          <p:cNvPr id="18" name="Shape 16"/>
          <p:cNvSpPr/>
          <p:nvPr/>
        </p:nvSpPr>
        <p:spPr>
          <a:xfrm>
            <a:off x="7790688" y="2670048"/>
            <a:ext cx="347472" cy="347472"/>
          </a:xfrm>
          <a:prstGeom prst="ellipse">
            <a:avLst/>
          </a:prstGeom>
          <a:solidFill>
            <a:srgbClr val="CADCFC"/>
          </a:solidFill>
          <a:ln/>
        </p:spPr>
      </p:sp>
      <p:sp>
        <p:nvSpPr>
          <p:cNvPr id="19" name="Text 17"/>
          <p:cNvSpPr/>
          <p:nvPr/>
        </p:nvSpPr>
        <p:spPr>
          <a:xfrm>
            <a:off x="7790688" y="2670048"/>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8275320" y="2514600"/>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Diagnostic Windows 10</a:t>
            </a:r>
            <a:endParaRPr lang="en-US" sz="1250" dirty="0"/>
          </a:p>
        </p:txBody>
      </p:sp>
      <p:sp>
        <p:nvSpPr>
          <p:cNvPr id="21" name="Shape 19"/>
          <p:cNvSpPr/>
          <p:nvPr/>
        </p:nvSpPr>
        <p:spPr>
          <a:xfrm>
            <a:off x="7964424" y="3172968"/>
            <a:ext cx="0" cy="146304"/>
          </a:xfrm>
          <a:prstGeom prst="line">
            <a:avLst/>
          </a:prstGeom>
          <a:noFill/>
          <a:ln w="19050">
            <a:solidFill>
              <a:srgbClr val="DDE7F0"/>
            </a:solidFill>
            <a:prstDash val="solid"/>
          </a:ln>
        </p:spPr>
      </p:sp>
      <p:sp>
        <p:nvSpPr>
          <p:cNvPr id="22" name="Shape 20"/>
          <p:cNvSpPr/>
          <p:nvPr/>
        </p:nvSpPr>
        <p:spPr>
          <a:xfrm>
            <a:off x="7635240" y="3319272"/>
            <a:ext cx="3566160" cy="658368"/>
          </a:xfrm>
          <a:prstGeom prst="roundRect">
            <a:avLst>
              <a:gd name="adj" fmla="val 11111"/>
            </a:avLst>
          </a:prstGeom>
          <a:solidFill>
            <a:srgbClr val="FFFFFF"/>
          </a:solidFill>
          <a:ln w="12700">
            <a:solidFill>
              <a:srgbClr val="DDE7F0"/>
            </a:solidFill>
            <a:prstDash val="solid"/>
          </a:ln>
        </p:spPr>
      </p:sp>
      <p:sp>
        <p:nvSpPr>
          <p:cNvPr id="23" name="Shape 21"/>
          <p:cNvSpPr/>
          <p:nvPr/>
        </p:nvSpPr>
        <p:spPr>
          <a:xfrm>
            <a:off x="7790688" y="3474720"/>
            <a:ext cx="347472" cy="347472"/>
          </a:xfrm>
          <a:prstGeom prst="ellipse">
            <a:avLst/>
          </a:prstGeom>
          <a:solidFill>
            <a:srgbClr val="CADCFC"/>
          </a:solidFill>
          <a:ln/>
        </p:spPr>
      </p:sp>
      <p:sp>
        <p:nvSpPr>
          <p:cNvPr id="24" name="Text 22"/>
          <p:cNvSpPr/>
          <p:nvPr/>
        </p:nvSpPr>
        <p:spPr>
          <a:xfrm>
            <a:off x="7790688" y="3474720"/>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25" name="Text 23"/>
          <p:cNvSpPr/>
          <p:nvPr/>
        </p:nvSpPr>
        <p:spPr>
          <a:xfrm>
            <a:off x="8275320" y="3319272"/>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Analyse des blocages</a:t>
            </a:r>
            <a:endParaRPr lang="en-US" sz="1250" dirty="0"/>
          </a:p>
        </p:txBody>
      </p:sp>
      <p:sp>
        <p:nvSpPr>
          <p:cNvPr id="26" name="Shape 24"/>
          <p:cNvSpPr/>
          <p:nvPr/>
        </p:nvSpPr>
        <p:spPr>
          <a:xfrm>
            <a:off x="7964424" y="3977640"/>
            <a:ext cx="0" cy="146304"/>
          </a:xfrm>
          <a:prstGeom prst="line">
            <a:avLst/>
          </a:prstGeom>
          <a:noFill/>
          <a:ln w="19050">
            <a:solidFill>
              <a:srgbClr val="DDE7F0"/>
            </a:solidFill>
            <a:prstDash val="solid"/>
          </a:ln>
        </p:spPr>
      </p:sp>
      <p:sp>
        <p:nvSpPr>
          <p:cNvPr id="27" name="Shape 25"/>
          <p:cNvSpPr/>
          <p:nvPr/>
        </p:nvSpPr>
        <p:spPr>
          <a:xfrm>
            <a:off x="7635240" y="4123944"/>
            <a:ext cx="3566160" cy="658368"/>
          </a:xfrm>
          <a:prstGeom prst="roundRect">
            <a:avLst>
              <a:gd name="adj" fmla="val 11111"/>
            </a:avLst>
          </a:prstGeom>
          <a:solidFill>
            <a:srgbClr val="FFFFFF"/>
          </a:solidFill>
          <a:ln w="12700">
            <a:solidFill>
              <a:srgbClr val="DDE7F0"/>
            </a:solidFill>
            <a:prstDash val="solid"/>
          </a:ln>
        </p:spPr>
      </p:sp>
      <p:sp>
        <p:nvSpPr>
          <p:cNvPr id="28" name="Shape 26"/>
          <p:cNvSpPr/>
          <p:nvPr/>
        </p:nvSpPr>
        <p:spPr>
          <a:xfrm>
            <a:off x="7790688" y="4279392"/>
            <a:ext cx="347472" cy="347472"/>
          </a:xfrm>
          <a:prstGeom prst="ellipse">
            <a:avLst/>
          </a:prstGeom>
          <a:solidFill>
            <a:srgbClr val="CADCFC"/>
          </a:solidFill>
          <a:ln/>
        </p:spPr>
      </p:sp>
      <p:sp>
        <p:nvSpPr>
          <p:cNvPr id="29" name="Text 27"/>
          <p:cNvSpPr/>
          <p:nvPr/>
        </p:nvSpPr>
        <p:spPr>
          <a:xfrm>
            <a:off x="7790688" y="4279392"/>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30" name="Text 28"/>
          <p:cNvSpPr/>
          <p:nvPr/>
        </p:nvSpPr>
        <p:spPr>
          <a:xfrm>
            <a:off x="8275320" y="4123944"/>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Actions guardées</a:t>
            </a:r>
            <a:endParaRPr lang="en-US" sz="1250" dirty="0"/>
          </a:p>
        </p:txBody>
      </p:sp>
      <p:sp>
        <p:nvSpPr>
          <p:cNvPr id="31" name="Shape 29"/>
          <p:cNvSpPr/>
          <p:nvPr/>
        </p:nvSpPr>
        <p:spPr>
          <a:xfrm>
            <a:off x="7964424" y="4782312"/>
            <a:ext cx="0" cy="146304"/>
          </a:xfrm>
          <a:prstGeom prst="line">
            <a:avLst/>
          </a:prstGeom>
          <a:noFill/>
          <a:ln w="19050">
            <a:solidFill>
              <a:srgbClr val="DDE7F0"/>
            </a:solidFill>
            <a:prstDash val="solid"/>
          </a:ln>
        </p:spPr>
      </p:sp>
      <p:sp>
        <p:nvSpPr>
          <p:cNvPr id="32" name="Shape 30"/>
          <p:cNvSpPr/>
          <p:nvPr/>
        </p:nvSpPr>
        <p:spPr>
          <a:xfrm>
            <a:off x="7635240" y="4928616"/>
            <a:ext cx="3566160" cy="658368"/>
          </a:xfrm>
          <a:prstGeom prst="roundRect">
            <a:avLst>
              <a:gd name="adj" fmla="val 11111"/>
            </a:avLst>
          </a:prstGeom>
          <a:solidFill>
            <a:srgbClr val="FFFFFF"/>
          </a:solidFill>
          <a:ln w="12700">
            <a:solidFill>
              <a:srgbClr val="DDE7F0"/>
            </a:solidFill>
            <a:prstDash val="solid"/>
          </a:ln>
        </p:spPr>
      </p:sp>
      <p:sp>
        <p:nvSpPr>
          <p:cNvPr id="33" name="Shape 31"/>
          <p:cNvSpPr/>
          <p:nvPr/>
        </p:nvSpPr>
        <p:spPr>
          <a:xfrm>
            <a:off x="7790688" y="5084064"/>
            <a:ext cx="347472" cy="347472"/>
          </a:xfrm>
          <a:prstGeom prst="ellipse">
            <a:avLst/>
          </a:prstGeom>
          <a:solidFill>
            <a:srgbClr val="0078D4"/>
          </a:solidFill>
          <a:ln/>
        </p:spPr>
      </p:sp>
      <p:sp>
        <p:nvSpPr>
          <p:cNvPr id="34" name="Text 32"/>
          <p:cNvSpPr/>
          <p:nvPr/>
        </p:nvSpPr>
        <p:spPr>
          <a:xfrm>
            <a:off x="7790688" y="50840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33"/>
          <p:cNvSpPr/>
          <p:nvPr/>
        </p:nvSpPr>
        <p:spPr>
          <a:xfrm>
            <a:off x="8275320" y="4928616"/>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Upgrade Windows 11</a:t>
            </a:r>
            <a:endParaRPr lang="en-US" sz="1250" dirty="0"/>
          </a:p>
        </p:txBody>
      </p:sp>
      <p:sp>
        <p:nvSpPr>
          <p:cNvPr id="36" name="Text 3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7" name="Text 3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POSITIONNEMENT</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Quand utiliser ce toolkit</a:t>
            </a:r>
            <a:endParaRPr lang="en-US" sz="3200" dirty="0"/>
          </a:p>
        </p:txBody>
      </p:sp>
      <p:sp>
        <p:nvSpPr>
          <p:cNvPr id="5" name="Text 3"/>
          <p:cNvSpPr/>
          <p:nvPr/>
        </p:nvSpPr>
        <p:spPr>
          <a:xfrm>
            <a:off x="502920" y="1783080"/>
            <a:ext cx="11155680" cy="36576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Ce toolkit est adapté lorsque les conditions suivantes sont réunies :</a:t>
            </a:r>
            <a:endParaRPr lang="en-US" sz="1350" dirty="0"/>
          </a:p>
        </p:txBody>
      </p:sp>
      <p:sp>
        <p:nvSpPr>
          <p:cNvPr id="6" name="Shape 4"/>
          <p:cNvSpPr/>
          <p:nvPr/>
        </p:nvSpPr>
        <p:spPr>
          <a:xfrm>
            <a:off x="502920" y="2331720"/>
            <a:ext cx="11201400" cy="713232"/>
          </a:xfrm>
          <a:prstGeom prst="roundRect">
            <a:avLst>
              <a:gd name="adj" fmla="val 10256"/>
            </a:avLst>
          </a:prstGeom>
          <a:solidFill>
            <a:srgbClr val="F5F8FB"/>
          </a:solidFill>
          <a:ln w="12700">
            <a:solidFill>
              <a:srgbClr val="DDE7F0"/>
            </a:solidFill>
            <a:prstDash val="solid"/>
          </a:ln>
        </p:spPr>
      </p:sp>
      <p:sp>
        <p:nvSpPr>
          <p:cNvPr id="7" name="Shape 5"/>
          <p:cNvSpPr/>
          <p:nvPr/>
        </p:nvSpPr>
        <p:spPr>
          <a:xfrm>
            <a:off x="694944" y="2487168"/>
            <a:ext cx="384048" cy="384048"/>
          </a:xfrm>
          <a:prstGeom prst="ellipse">
            <a:avLst/>
          </a:prstGeom>
          <a:solidFill>
            <a:srgbClr val="0078D4"/>
          </a:solidFill>
          <a:ln/>
        </p:spPr>
      </p:sp>
      <p:sp>
        <p:nvSpPr>
          <p:cNvPr id="8" name="Text 6"/>
          <p:cNvSpPr/>
          <p:nvPr/>
        </p:nvSpPr>
        <p:spPr>
          <a:xfrm>
            <a:off x="694944" y="2487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98448" y="240487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Postes Intune / Autopatch / WUfB</a:t>
            </a:r>
            <a:endParaRPr lang="en-US" sz="1200" dirty="0"/>
          </a:p>
        </p:txBody>
      </p:sp>
      <p:sp>
        <p:nvSpPr>
          <p:cNvPr id="10" name="Text 8"/>
          <p:cNvSpPr/>
          <p:nvPr/>
        </p:nvSpPr>
        <p:spPr>
          <a:xfrm>
            <a:off x="5577840" y="240487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Devices rattachés à Intune, Windows Autopatch ou Windows Update for Business, pour lesquels la migration Windows 11 doit être expliquée puis débloquée.</a:t>
            </a:r>
            <a:endParaRPr lang="en-US" sz="1030" dirty="0"/>
          </a:p>
        </p:txBody>
      </p:sp>
      <p:sp>
        <p:nvSpPr>
          <p:cNvPr id="11" name="Shape 9"/>
          <p:cNvSpPr/>
          <p:nvPr/>
        </p:nvSpPr>
        <p:spPr>
          <a:xfrm>
            <a:off x="502920" y="3154680"/>
            <a:ext cx="11201400" cy="713232"/>
          </a:xfrm>
          <a:prstGeom prst="roundRect">
            <a:avLst>
              <a:gd name="adj" fmla="val 10256"/>
            </a:avLst>
          </a:prstGeom>
          <a:solidFill>
            <a:srgbClr val="F5F8FB"/>
          </a:solidFill>
          <a:ln w="12700">
            <a:solidFill>
              <a:srgbClr val="DDE7F0"/>
            </a:solidFill>
            <a:prstDash val="solid"/>
          </a:ln>
        </p:spPr>
      </p:sp>
      <p:sp>
        <p:nvSpPr>
          <p:cNvPr id="12" name="Shape 10"/>
          <p:cNvSpPr/>
          <p:nvPr/>
        </p:nvSpPr>
        <p:spPr>
          <a:xfrm>
            <a:off x="694944" y="3310128"/>
            <a:ext cx="384048" cy="384048"/>
          </a:xfrm>
          <a:prstGeom prst="ellipse">
            <a:avLst/>
          </a:prstGeom>
          <a:solidFill>
            <a:srgbClr val="0078D4"/>
          </a:solidFill>
          <a:ln/>
        </p:spPr>
      </p:sp>
      <p:sp>
        <p:nvSpPr>
          <p:cNvPr id="13" name="Text 11"/>
          <p:cNvSpPr/>
          <p:nvPr/>
        </p:nvSpPr>
        <p:spPr>
          <a:xfrm>
            <a:off x="694944" y="3310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298448" y="322783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Traitement par lot depuis un poste opérateur</a:t>
            </a:r>
            <a:endParaRPr lang="en-US" sz="1200" dirty="0"/>
          </a:p>
        </p:txBody>
      </p:sp>
      <p:sp>
        <p:nvSpPr>
          <p:cNvPr id="15" name="Text 13"/>
          <p:cNvSpPr/>
          <p:nvPr/>
        </p:nvSpPr>
        <p:spPr>
          <a:xfrm>
            <a:off x="5577840" y="322783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Campagnes de plusieurs centaines de postes pilotées depuis une seule fenêtre GUI ou un seul lancement CLI.</a:t>
            </a:r>
            <a:endParaRPr lang="en-US" sz="1030" dirty="0"/>
          </a:p>
        </p:txBody>
      </p:sp>
      <p:sp>
        <p:nvSpPr>
          <p:cNvPr id="16" name="Shape 14"/>
          <p:cNvSpPr/>
          <p:nvPr/>
        </p:nvSpPr>
        <p:spPr>
          <a:xfrm>
            <a:off x="502920" y="3977640"/>
            <a:ext cx="11201400" cy="713232"/>
          </a:xfrm>
          <a:prstGeom prst="roundRect">
            <a:avLst>
              <a:gd name="adj" fmla="val 10256"/>
            </a:avLst>
          </a:prstGeom>
          <a:solidFill>
            <a:srgbClr val="F5F8FB"/>
          </a:solidFill>
          <a:ln w="12700">
            <a:solidFill>
              <a:srgbClr val="DDE7F0"/>
            </a:solidFill>
            <a:prstDash val="solid"/>
          </a:ln>
        </p:spPr>
      </p:sp>
      <p:sp>
        <p:nvSpPr>
          <p:cNvPr id="17" name="Shape 15"/>
          <p:cNvSpPr/>
          <p:nvPr/>
        </p:nvSpPr>
        <p:spPr>
          <a:xfrm>
            <a:off x="694944" y="4133088"/>
            <a:ext cx="384048" cy="384048"/>
          </a:xfrm>
          <a:prstGeom prst="ellipse">
            <a:avLst/>
          </a:prstGeom>
          <a:solidFill>
            <a:srgbClr val="0078D4"/>
          </a:solidFill>
          <a:ln/>
        </p:spPr>
      </p:sp>
      <p:sp>
        <p:nvSpPr>
          <p:cNvPr id="18" name="Text 16"/>
          <p:cNvSpPr/>
          <p:nvPr/>
        </p:nvSpPr>
        <p:spPr>
          <a:xfrm>
            <a:off x="694944" y="4133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298448" y="405079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Preuve locale du blocage Windows 11 nécessaire</a:t>
            </a:r>
            <a:endParaRPr lang="en-US" sz="1200" dirty="0"/>
          </a:p>
        </p:txBody>
      </p:sp>
      <p:sp>
        <p:nvSpPr>
          <p:cNvPr id="20" name="Text 18"/>
          <p:cNvSpPr/>
          <p:nvPr/>
        </p:nvSpPr>
        <p:spPr>
          <a:xfrm>
            <a:off x="5577840" y="405079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Diagnostic détaillé côté poste : compatibilité, blocages de policy, espace disque, statut de reboot en attente.</a:t>
            </a:r>
            <a:endParaRPr lang="en-US" sz="1030" dirty="0"/>
          </a:p>
        </p:txBody>
      </p:sp>
      <p:sp>
        <p:nvSpPr>
          <p:cNvPr id="21" name="Shape 19"/>
          <p:cNvSpPr/>
          <p:nvPr/>
        </p:nvSpPr>
        <p:spPr>
          <a:xfrm>
            <a:off x="502920" y="4800600"/>
            <a:ext cx="11201400" cy="713232"/>
          </a:xfrm>
          <a:prstGeom prst="roundRect">
            <a:avLst>
              <a:gd name="adj" fmla="val 10256"/>
            </a:avLst>
          </a:prstGeom>
          <a:solidFill>
            <a:srgbClr val="F5F8FB"/>
          </a:solidFill>
          <a:ln w="12700">
            <a:solidFill>
              <a:srgbClr val="DDE7F0"/>
            </a:solidFill>
            <a:prstDash val="solid"/>
          </a:ln>
        </p:spPr>
      </p:sp>
      <p:sp>
        <p:nvSpPr>
          <p:cNvPr id="22" name="Shape 20"/>
          <p:cNvSpPr/>
          <p:nvPr/>
        </p:nvSpPr>
        <p:spPr>
          <a:xfrm>
            <a:off x="694944" y="4956048"/>
            <a:ext cx="384048" cy="384048"/>
          </a:xfrm>
          <a:prstGeom prst="ellipse">
            <a:avLst/>
          </a:prstGeom>
          <a:solidFill>
            <a:srgbClr val="0078D4"/>
          </a:solidFill>
          <a:ln/>
        </p:spPr>
      </p:sp>
      <p:sp>
        <p:nvSpPr>
          <p:cNvPr id="23" name="Text 21"/>
          <p:cNvSpPr/>
          <p:nvPr/>
        </p:nvSpPr>
        <p:spPr>
          <a:xfrm>
            <a:off x="694944" y="4956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298448" y="487375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Exécution SYSTEM requise via PsExec</a:t>
            </a:r>
            <a:endParaRPr lang="en-US" sz="1200" dirty="0"/>
          </a:p>
        </p:txBody>
      </p:sp>
      <p:sp>
        <p:nvSpPr>
          <p:cNvPr id="25" name="Text 23"/>
          <p:cNvSpPr/>
          <p:nvPr/>
        </p:nvSpPr>
        <p:spPr>
          <a:xfrm>
            <a:off x="5577840" y="487375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Actions nécessitant un contexte SYSTEM sur la cible, sans dépendre d'un agent supplémentaire à déployer.</a:t>
            </a:r>
            <a:endParaRPr lang="en-US" sz="1030" dirty="0"/>
          </a:p>
        </p:txBody>
      </p:sp>
      <p:sp>
        <p:nvSpPr>
          <p:cNvPr id="26" name="Shape 24"/>
          <p:cNvSpPr/>
          <p:nvPr/>
        </p:nvSpPr>
        <p:spPr>
          <a:xfrm>
            <a:off x="502920" y="5623560"/>
            <a:ext cx="11201400" cy="713232"/>
          </a:xfrm>
          <a:prstGeom prst="roundRect">
            <a:avLst>
              <a:gd name="adj" fmla="val 10256"/>
            </a:avLst>
          </a:prstGeom>
          <a:solidFill>
            <a:srgbClr val="F5F8FB"/>
          </a:solidFill>
          <a:ln w="12700">
            <a:solidFill>
              <a:srgbClr val="DDE7F0"/>
            </a:solidFill>
            <a:prstDash val="solid"/>
          </a:ln>
        </p:spPr>
      </p:sp>
      <p:sp>
        <p:nvSpPr>
          <p:cNvPr id="27" name="Shape 25"/>
          <p:cNvSpPr/>
          <p:nvPr/>
        </p:nvSpPr>
        <p:spPr>
          <a:xfrm>
            <a:off x="694944" y="5779008"/>
            <a:ext cx="384048" cy="384048"/>
          </a:xfrm>
          <a:prstGeom prst="ellipse">
            <a:avLst/>
          </a:prstGeom>
          <a:solidFill>
            <a:srgbClr val="0078D4"/>
          </a:solidFill>
          <a:ln/>
        </p:spPr>
      </p:sp>
      <p:sp>
        <p:nvSpPr>
          <p:cNvPr id="28" name="Text 26"/>
          <p:cNvSpPr/>
          <p:nvPr/>
        </p:nvSpPr>
        <p:spPr>
          <a:xfrm>
            <a:off x="694944" y="5779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298448" y="569671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Upgrade pilotée via -AllowSetupUpgrade</a:t>
            </a:r>
            <a:endParaRPr lang="en-US" sz="1200" dirty="0"/>
          </a:p>
        </p:txBody>
      </p:sp>
      <p:sp>
        <p:nvSpPr>
          <p:cNvPr id="30" name="Text 28"/>
          <p:cNvSpPr/>
          <p:nvPr/>
        </p:nvSpPr>
        <p:spPr>
          <a:xfrm>
            <a:off x="5577840" y="569671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Déclenchement contrôlé de Windows Setup avec média validé, une fois les blocages levés.</a:t>
            </a:r>
            <a:endParaRPr lang="en-US" sz="1030" dirty="0"/>
          </a:p>
        </p:txBody>
      </p:sp>
      <p:sp>
        <p:nvSpPr>
          <p:cNvPr id="31" name="Text 2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AVANT DE COMMENCER</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Prérequis</a:t>
            </a:r>
            <a:endParaRPr lang="en-US" sz="3200" dirty="0"/>
          </a:p>
        </p:txBody>
      </p:sp>
      <p:sp>
        <p:nvSpPr>
          <p:cNvPr id="5" name="Shape 3"/>
          <p:cNvSpPr/>
          <p:nvPr/>
        </p:nvSpPr>
        <p:spPr>
          <a:xfrm>
            <a:off x="502920" y="1737360"/>
            <a:ext cx="5394960" cy="1005840"/>
          </a:xfrm>
          <a:prstGeom prst="roundRect">
            <a:avLst>
              <a:gd name="adj" fmla="val 7273"/>
            </a:avLst>
          </a:prstGeom>
          <a:solidFill>
            <a:srgbClr val="F5F8FB"/>
          </a:solidFill>
          <a:ln w="12700">
            <a:solidFill>
              <a:srgbClr val="DDE7F0"/>
            </a:solidFill>
            <a:prstDash val="solid"/>
          </a:ln>
        </p:spPr>
      </p:sp>
      <p:sp>
        <p:nvSpPr>
          <p:cNvPr id="6" name="Shape 4"/>
          <p:cNvSpPr/>
          <p:nvPr/>
        </p:nvSpPr>
        <p:spPr>
          <a:xfrm>
            <a:off x="685800" y="1883664"/>
            <a:ext cx="347472" cy="347472"/>
          </a:xfrm>
          <a:prstGeom prst="roundRect">
            <a:avLst>
              <a:gd name="adj" fmla="val 21053"/>
            </a:avLst>
          </a:prstGeom>
          <a:solidFill>
            <a:srgbClr val="CADCFC"/>
          </a:solidFill>
          <a:ln/>
        </p:spPr>
      </p:sp>
      <p:sp>
        <p:nvSpPr>
          <p:cNvPr id="7" name="Text 5"/>
          <p:cNvSpPr/>
          <p:nvPr/>
        </p:nvSpPr>
        <p:spPr>
          <a:xfrm>
            <a:off x="685800" y="1883664"/>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61288" y="1847088"/>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ZIP opérateur vérifié</a:t>
            </a:r>
            <a:endParaRPr lang="en-US" sz="1250" dirty="0"/>
          </a:p>
        </p:txBody>
      </p:sp>
      <p:sp>
        <p:nvSpPr>
          <p:cNvPr id="9" name="Text 7"/>
          <p:cNvSpPr/>
          <p:nvPr/>
        </p:nvSpPr>
        <p:spPr>
          <a:xfrm>
            <a:off x="1161288" y="2148840"/>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Télécharger la release 0.1.72, vérifier son SHA-256 selon le README, puis extraire le ZIP complet dans un nouveau dossier. GitHub Desktop est facultatif.</a:t>
            </a:r>
            <a:endParaRPr lang="en-US" sz="1000" dirty="0"/>
          </a:p>
        </p:txBody>
      </p:sp>
      <p:sp>
        <p:nvSpPr>
          <p:cNvPr id="10" name="Shape 8"/>
          <p:cNvSpPr/>
          <p:nvPr/>
        </p:nvSpPr>
        <p:spPr>
          <a:xfrm>
            <a:off x="6217920" y="1737360"/>
            <a:ext cx="5394960" cy="1005840"/>
          </a:xfrm>
          <a:prstGeom prst="roundRect">
            <a:avLst>
              <a:gd name="adj" fmla="val 7273"/>
            </a:avLst>
          </a:prstGeom>
          <a:solidFill>
            <a:srgbClr val="F5F8FB"/>
          </a:solidFill>
          <a:ln w="12700">
            <a:solidFill>
              <a:srgbClr val="DDE7F0"/>
            </a:solidFill>
            <a:prstDash val="solid"/>
          </a:ln>
        </p:spPr>
      </p:sp>
      <p:sp>
        <p:nvSpPr>
          <p:cNvPr id="11" name="Shape 9"/>
          <p:cNvSpPr/>
          <p:nvPr/>
        </p:nvSpPr>
        <p:spPr>
          <a:xfrm>
            <a:off x="6400800" y="1883664"/>
            <a:ext cx="347472" cy="347472"/>
          </a:xfrm>
          <a:prstGeom prst="roundRect">
            <a:avLst>
              <a:gd name="adj" fmla="val 21053"/>
            </a:avLst>
          </a:prstGeom>
          <a:solidFill>
            <a:srgbClr val="CADCFC"/>
          </a:solidFill>
          <a:ln/>
        </p:spPr>
      </p:sp>
      <p:sp>
        <p:nvSpPr>
          <p:cNvPr id="12" name="Text 10"/>
          <p:cNvSpPr/>
          <p:nvPr/>
        </p:nvSpPr>
        <p:spPr>
          <a:xfrm>
            <a:off x="6400800" y="1883664"/>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876288" y="1847088"/>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Poste opérateur</a:t>
            </a:r>
            <a:endParaRPr lang="en-US" sz="1250" dirty="0"/>
          </a:p>
        </p:txBody>
      </p:sp>
      <p:sp>
        <p:nvSpPr>
          <p:cNvPr id="14" name="Text 12"/>
          <p:cNvSpPr/>
          <p:nvPr/>
        </p:nvSpPr>
        <p:spPr>
          <a:xfrm>
            <a:off x="6876288" y="2148840"/>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GUI WPF : Windows PowerShell 5.1 / STA. Lanceurs LOT : PowerShell 7 privilégié, avec repli sur 5.1.</a:t>
            </a:r>
            <a:endParaRPr lang="en-US" sz="1000" dirty="0"/>
          </a:p>
        </p:txBody>
      </p:sp>
      <p:sp>
        <p:nvSpPr>
          <p:cNvPr id="15" name="Shape 13"/>
          <p:cNvSpPr/>
          <p:nvPr/>
        </p:nvSpPr>
        <p:spPr>
          <a:xfrm>
            <a:off x="502920" y="2889504"/>
            <a:ext cx="5394960" cy="1005840"/>
          </a:xfrm>
          <a:prstGeom prst="roundRect">
            <a:avLst>
              <a:gd name="adj" fmla="val 7273"/>
            </a:avLst>
          </a:prstGeom>
          <a:solidFill>
            <a:srgbClr val="F5F8FB"/>
          </a:solidFill>
          <a:ln w="12700">
            <a:solidFill>
              <a:srgbClr val="DDE7F0"/>
            </a:solidFill>
            <a:prstDash val="solid"/>
          </a:ln>
        </p:spPr>
      </p:sp>
      <p:sp>
        <p:nvSpPr>
          <p:cNvPr id="16" name="Shape 14"/>
          <p:cNvSpPr/>
          <p:nvPr/>
        </p:nvSpPr>
        <p:spPr>
          <a:xfrm>
            <a:off x="685800" y="3035808"/>
            <a:ext cx="347472" cy="347472"/>
          </a:xfrm>
          <a:prstGeom prst="roundRect">
            <a:avLst>
              <a:gd name="adj" fmla="val 21053"/>
            </a:avLst>
          </a:prstGeom>
          <a:solidFill>
            <a:srgbClr val="CADCFC"/>
          </a:solidFill>
          <a:ln/>
        </p:spPr>
      </p:sp>
      <p:sp>
        <p:nvSpPr>
          <p:cNvPr id="17" name="Text 15"/>
          <p:cNvSpPr/>
          <p:nvPr/>
        </p:nvSpPr>
        <p:spPr>
          <a:xfrm>
            <a:off x="685800" y="303580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61288" y="2999232"/>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PsExec</a:t>
            </a:r>
            <a:endParaRPr lang="en-US" sz="1250" dirty="0"/>
          </a:p>
        </p:txBody>
      </p:sp>
      <p:sp>
        <p:nvSpPr>
          <p:cNvPr id="19" name="Text 17"/>
          <p:cNvSpPr/>
          <p:nvPr/>
        </p:nvSpPr>
        <p:spPr>
          <a:xfrm>
            <a:off x="1161288" y="3300984"/>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Obtenir PsExec.exe auprès de Microsoft Sysinternals ; le placer dans Scripts ou dans le PATH pour exécuter les actions en SYSTEM.</a:t>
            </a:r>
            <a:endParaRPr lang="en-US" sz="1000" dirty="0"/>
          </a:p>
        </p:txBody>
      </p:sp>
      <p:sp>
        <p:nvSpPr>
          <p:cNvPr id="20" name="Shape 18"/>
          <p:cNvSpPr/>
          <p:nvPr/>
        </p:nvSpPr>
        <p:spPr>
          <a:xfrm>
            <a:off x="6217920" y="2889504"/>
            <a:ext cx="5394960" cy="1005840"/>
          </a:xfrm>
          <a:prstGeom prst="roundRect">
            <a:avLst>
              <a:gd name="adj" fmla="val 7273"/>
            </a:avLst>
          </a:prstGeom>
          <a:solidFill>
            <a:srgbClr val="F5F8FB"/>
          </a:solidFill>
          <a:ln w="12700">
            <a:solidFill>
              <a:srgbClr val="DDE7F0"/>
            </a:solidFill>
            <a:prstDash val="solid"/>
          </a:ln>
        </p:spPr>
      </p:sp>
      <p:sp>
        <p:nvSpPr>
          <p:cNvPr id="21" name="Shape 19"/>
          <p:cNvSpPr/>
          <p:nvPr/>
        </p:nvSpPr>
        <p:spPr>
          <a:xfrm>
            <a:off x="6400800" y="3035808"/>
            <a:ext cx="347472" cy="347472"/>
          </a:xfrm>
          <a:prstGeom prst="roundRect">
            <a:avLst>
              <a:gd name="adj" fmla="val 21053"/>
            </a:avLst>
          </a:prstGeom>
          <a:solidFill>
            <a:srgbClr val="CADCFC"/>
          </a:solidFill>
          <a:ln/>
        </p:spPr>
      </p:sp>
      <p:sp>
        <p:nvSpPr>
          <p:cNvPr id="22" name="Text 20"/>
          <p:cNvSpPr/>
          <p:nvPr/>
        </p:nvSpPr>
        <p:spPr>
          <a:xfrm>
            <a:off x="6400800" y="303580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876288" y="2999232"/>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Droits d'administration</a:t>
            </a:r>
            <a:endParaRPr lang="en-US" sz="1250" dirty="0"/>
          </a:p>
        </p:txBody>
      </p:sp>
      <p:sp>
        <p:nvSpPr>
          <p:cNvPr id="24" name="Text 22"/>
          <p:cNvSpPr/>
          <p:nvPr/>
        </p:nvSpPr>
        <p:spPr>
          <a:xfrm>
            <a:off x="6876288" y="3300984"/>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Compte avec droits admin locaux sur les postes cibles (partage admin C$ accessible).</a:t>
            </a:r>
            <a:endParaRPr lang="en-US" sz="1000" dirty="0"/>
          </a:p>
        </p:txBody>
      </p:sp>
      <p:sp>
        <p:nvSpPr>
          <p:cNvPr id="25" name="Shape 23"/>
          <p:cNvSpPr/>
          <p:nvPr/>
        </p:nvSpPr>
        <p:spPr>
          <a:xfrm>
            <a:off x="502920" y="4041648"/>
            <a:ext cx="5394960" cy="1005840"/>
          </a:xfrm>
          <a:prstGeom prst="roundRect">
            <a:avLst>
              <a:gd name="adj" fmla="val 7273"/>
            </a:avLst>
          </a:prstGeom>
          <a:solidFill>
            <a:srgbClr val="F5F8FB"/>
          </a:solidFill>
          <a:ln w="12700">
            <a:solidFill>
              <a:srgbClr val="DDE7F0"/>
            </a:solidFill>
            <a:prstDash val="solid"/>
          </a:ln>
        </p:spPr>
      </p:sp>
      <p:sp>
        <p:nvSpPr>
          <p:cNvPr id="26" name="Shape 24"/>
          <p:cNvSpPr/>
          <p:nvPr/>
        </p:nvSpPr>
        <p:spPr>
          <a:xfrm>
            <a:off x="685800" y="4187952"/>
            <a:ext cx="347472" cy="347472"/>
          </a:xfrm>
          <a:prstGeom prst="roundRect">
            <a:avLst>
              <a:gd name="adj" fmla="val 21053"/>
            </a:avLst>
          </a:prstGeom>
          <a:solidFill>
            <a:srgbClr val="CADCFC"/>
          </a:solidFill>
          <a:ln/>
        </p:spPr>
      </p:sp>
      <p:sp>
        <p:nvSpPr>
          <p:cNvPr id="27" name="Text 25"/>
          <p:cNvSpPr/>
          <p:nvPr/>
        </p:nvSpPr>
        <p:spPr>
          <a:xfrm>
            <a:off x="685800" y="4187952"/>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161288" y="4151376"/>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Accès réseau aux cibles</a:t>
            </a:r>
            <a:endParaRPr lang="en-US" sz="1250" dirty="0"/>
          </a:p>
        </p:txBody>
      </p:sp>
      <p:sp>
        <p:nvSpPr>
          <p:cNvPr id="29" name="Text 27"/>
          <p:cNvSpPr/>
          <p:nvPr/>
        </p:nvSpPr>
        <p:spPr>
          <a:xfrm>
            <a:off x="1161288" y="4453128"/>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Résolution DNS et connectivité SMB/RPC vers les postes Windows 10 du LOT.</a:t>
            </a:r>
            <a:endParaRPr lang="en-US" sz="1000" dirty="0"/>
          </a:p>
        </p:txBody>
      </p:sp>
      <p:sp>
        <p:nvSpPr>
          <p:cNvPr id="30" name="Shape 28"/>
          <p:cNvSpPr/>
          <p:nvPr/>
        </p:nvSpPr>
        <p:spPr>
          <a:xfrm>
            <a:off x="6217920" y="4041648"/>
            <a:ext cx="5394960" cy="1005840"/>
          </a:xfrm>
          <a:prstGeom prst="roundRect">
            <a:avLst>
              <a:gd name="adj" fmla="val 7273"/>
            </a:avLst>
          </a:prstGeom>
          <a:solidFill>
            <a:srgbClr val="F5F8FB"/>
          </a:solidFill>
          <a:ln w="12700">
            <a:solidFill>
              <a:srgbClr val="DDE7F0"/>
            </a:solidFill>
            <a:prstDash val="solid"/>
          </a:ln>
        </p:spPr>
      </p:sp>
      <p:sp>
        <p:nvSpPr>
          <p:cNvPr id="31" name="Shape 29"/>
          <p:cNvSpPr/>
          <p:nvPr/>
        </p:nvSpPr>
        <p:spPr>
          <a:xfrm>
            <a:off x="6400800" y="4187952"/>
            <a:ext cx="347472" cy="347472"/>
          </a:xfrm>
          <a:prstGeom prst="roundRect">
            <a:avLst>
              <a:gd name="adj" fmla="val 21053"/>
            </a:avLst>
          </a:prstGeom>
          <a:solidFill>
            <a:srgbClr val="CADCFC"/>
          </a:solidFill>
          <a:ln/>
        </p:spPr>
      </p:sp>
      <p:sp>
        <p:nvSpPr>
          <p:cNvPr id="32" name="Text 30"/>
          <p:cNvSpPr/>
          <p:nvPr/>
        </p:nvSpPr>
        <p:spPr>
          <a:xfrm>
            <a:off x="6400800" y="4187952"/>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6876288" y="4151376"/>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Média Windows 11 (optionnel)</a:t>
            </a:r>
            <a:endParaRPr lang="en-US" sz="1250" dirty="0"/>
          </a:p>
        </p:txBody>
      </p:sp>
      <p:sp>
        <p:nvSpPr>
          <p:cNvPr id="34" name="Text 32"/>
          <p:cNvSpPr/>
          <p:nvPr/>
        </p:nvSpPr>
        <p:spPr>
          <a:xfrm>
            <a:off x="6876288" y="4453128"/>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Requis uniquement si -AllowSetupUpgrade est activé : setup.exe + sources\install.wim ou .esd valides.</a:t>
            </a:r>
            <a:endParaRPr lang="en-US" sz="1000" dirty="0"/>
          </a:p>
        </p:txBody>
      </p:sp>
      <p:sp>
        <p:nvSpPr>
          <p:cNvPr id="35" name="Shape 33"/>
          <p:cNvSpPr/>
          <p:nvPr/>
        </p:nvSpPr>
        <p:spPr>
          <a:xfrm>
            <a:off x="502920" y="5193792"/>
            <a:ext cx="5394960" cy="1005840"/>
          </a:xfrm>
          <a:prstGeom prst="roundRect">
            <a:avLst>
              <a:gd name="adj" fmla="val 7273"/>
            </a:avLst>
          </a:prstGeom>
          <a:solidFill>
            <a:srgbClr val="F5F8FB"/>
          </a:solidFill>
          <a:ln w="12700">
            <a:solidFill>
              <a:srgbClr val="DDE7F0"/>
            </a:solidFill>
            <a:prstDash val="solid"/>
          </a:ln>
        </p:spPr>
      </p:sp>
      <p:sp>
        <p:nvSpPr>
          <p:cNvPr id="36" name="Shape 34"/>
          <p:cNvSpPr/>
          <p:nvPr/>
        </p:nvSpPr>
        <p:spPr>
          <a:xfrm>
            <a:off x="685800" y="5340096"/>
            <a:ext cx="347472" cy="347472"/>
          </a:xfrm>
          <a:prstGeom prst="roundRect">
            <a:avLst>
              <a:gd name="adj" fmla="val 21053"/>
            </a:avLst>
          </a:prstGeom>
          <a:solidFill>
            <a:srgbClr val="CADCFC"/>
          </a:solidFill>
          <a:ln/>
        </p:spPr>
      </p:sp>
      <p:sp>
        <p:nvSpPr>
          <p:cNvPr id="37" name="Text 35"/>
          <p:cNvSpPr/>
          <p:nvPr/>
        </p:nvSpPr>
        <p:spPr>
          <a:xfrm>
            <a:off x="685800" y="534009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1161288" y="5303520"/>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Accès Intune / AD (optionnel)</a:t>
            </a:r>
            <a:endParaRPr lang="en-US" sz="1250" dirty="0"/>
          </a:p>
        </p:txBody>
      </p:sp>
      <p:sp>
        <p:nvSpPr>
          <p:cNvPr id="39" name="Text 37"/>
          <p:cNvSpPr/>
          <p:nvPr/>
        </p:nvSpPr>
        <p:spPr>
          <a:xfrm>
            <a:off x="1161288" y="5605272"/>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Pour le précheck « déjà Windows 11 » via Graph et/ou l'annuaire Active Directory.</a:t>
            </a:r>
            <a:endParaRPr lang="en-US" sz="1000" dirty="0"/>
          </a:p>
        </p:txBody>
      </p:sp>
      <p:sp>
        <p:nvSpPr>
          <p:cNvPr id="40" name="Text 3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41" name="Text 3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ORGANISATION</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Structure du dossier du toolkit</a:t>
            </a:r>
            <a:endParaRPr lang="en-US" sz="3200" dirty="0"/>
          </a:p>
        </p:txBody>
      </p:sp>
      <p:sp>
        <p:nvSpPr>
          <p:cNvPr id="5" name="Shape 3"/>
          <p:cNvSpPr/>
          <p:nvPr/>
        </p:nvSpPr>
        <p:spPr>
          <a:xfrm>
            <a:off x="502920" y="1783080"/>
            <a:ext cx="5577840" cy="4297680"/>
          </a:xfrm>
          <a:prstGeom prst="roundRect">
            <a:avLst>
              <a:gd name="adj" fmla="val 2128"/>
            </a:avLst>
          </a:prstGeom>
          <a:solidFill>
            <a:srgbClr val="1E2761"/>
          </a:solidFill>
          <a:ln/>
        </p:spPr>
      </p:sp>
      <p:sp>
        <p:nvSpPr>
          <p:cNvPr id="6" name="Text 4"/>
          <p:cNvSpPr/>
          <p:nvPr/>
        </p:nvSpPr>
        <p:spPr>
          <a:xfrm>
            <a:off x="777240" y="1965960"/>
            <a:ext cx="5120640" cy="365760"/>
          </a:xfrm>
          <a:prstGeom prst="rect">
            <a:avLst/>
          </a:prstGeom>
          <a:noFill/>
          <a:ln/>
        </p:spPr>
        <p:txBody>
          <a:bodyPr wrap="square" lIns="0" tIns="0" rIns="0" bIns="0" rtlCol="0" anchor="ctr"/>
          <a:lstStyle/>
          <a:p>
            <a:pPr indent="0" marL="0">
              <a:buNone/>
            </a:pPr>
            <a:r>
              <a:rPr lang="en-US" sz="1300" b="1" dirty="0">
                <a:solidFill>
                  <a:srgbClr val="CADCFC"/>
                </a:solidFill>
                <a:latin typeface="Consolas" pitchFamily="34" charset="0"/>
                <a:ea typeface="Consolas" pitchFamily="34" charset="-122"/>
                <a:cs typeface="Consolas" pitchFamily="34" charset="-120"/>
              </a:rPr>
              <a:t>Windows11UpgradeToolkit\</a:t>
            </a:r>
            <a:endParaRPr lang="en-US" sz="1300" dirty="0"/>
          </a:p>
        </p:txBody>
      </p:sp>
      <p:sp>
        <p:nvSpPr>
          <p:cNvPr id="7" name="Text 5"/>
          <p:cNvSpPr/>
          <p:nvPr/>
        </p:nvSpPr>
        <p:spPr>
          <a:xfrm>
            <a:off x="777240" y="2359152"/>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Start-...-LotLauncher-GUI.cmd</a:t>
            </a:r>
            <a:endParaRPr lang="en-US" sz="1000" dirty="0"/>
          </a:p>
        </p:txBody>
      </p:sp>
      <p:sp>
        <p:nvSpPr>
          <p:cNvPr id="8" name="Text 6"/>
          <p:cNvSpPr/>
          <p:nvPr/>
        </p:nvSpPr>
        <p:spPr>
          <a:xfrm>
            <a:off x="777240" y="2592324"/>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Update-LotCmdWrappers.cmd</a:t>
            </a:r>
            <a:endParaRPr lang="en-US" sz="1000" dirty="0"/>
          </a:p>
        </p:txBody>
      </p:sp>
      <p:sp>
        <p:nvSpPr>
          <p:cNvPr id="9" name="Text 7"/>
          <p:cNvSpPr/>
          <p:nvPr/>
        </p:nvSpPr>
        <p:spPr>
          <a:xfrm>
            <a:off x="777240" y="2825496"/>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Export-IntuneDevicesCsv.cmd</a:t>
            </a:r>
            <a:endParaRPr lang="en-US" sz="1000" dirty="0"/>
          </a:p>
        </p:txBody>
      </p:sp>
      <p:sp>
        <p:nvSpPr>
          <p:cNvPr id="10" name="Text 8"/>
          <p:cNvSpPr/>
          <p:nvPr/>
        </p:nvSpPr>
        <p:spPr>
          <a:xfrm>
            <a:off x="777240" y="3058668"/>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Export-ADDevicesCsv.cmd</a:t>
            </a:r>
            <a:endParaRPr lang="en-US" sz="1000" dirty="0"/>
          </a:p>
        </p:txBody>
      </p:sp>
      <p:sp>
        <p:nvSpPr>
          <p:cNvPr id="11" name="Text 9"/>
          <p:cNvSpPr/>
          <p:nvPr/>
        </p:nvSpPr>
        <p:spPr>
          <a:xfrm>
            <a:off x="777240" y="3291840"/>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New-SetupMediaManifest.cmd</a:t>
            </a:r>
            <a:endParaRPr lang="en-US" sz="1000" dirty="0"/>
          </a:p>
        </p:txBody>
      </p:sp>
      <p:sp>
        <p:nvSpPr>
          <p:cNvPr id="12" name="Text 10"/>
          <p:cNvSpPr/>
          <p:nvPr/>
        </p:nvSpPr>
        <p:spPr>
          <a:xfrm>
            <a:off x="777240" y="3525012"/>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Windows11UpgradeToolkit.config.template</a:t>
            </a:r>
            <a:endParaRPr lang="en-US" sz="1000" dirty="0"/>
          </a:p>
        </p:txBody>
      </p:sp>
      <p:sp>
        <p:nvSpPr>
          <p:cNvPr id="13" name="Text 11"/>
          <p:cNvSpPr/>
          <p:nvPr/>
        </p:nvSpPr>
        <p:spPr>
          <a:xfrm>
            <a:off x="777240" y="3758184"/>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Scripts\</a:t>
            </a:r>
            <a:endParaRPr lang="en-US" sz="1000" dirty="0"/>
          </a:p>
        </p:txBody>
      </p:sp>
      <p:sp>
        <p:nvSpPr>
          <p:cNvPr id="14" name="Text 12"/>
          <p:cNvSpPr/>
          <p:nvPr/>
        </p:nvSpPr>
        <p:spPr>
          <a:xfrm>
            <a:off x="1143000" y="3991356"/>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SmartM365-Invoke-Windows11UpgradeRepair.ps1</a:t>
            </a:r>
            <a:endParaRPr lang="en-US" sz="1000" dirty="0"/>
          </a:p>
        </p:txBody>
      </p:sp>
      <p:sp>
        <p:nvSpPr>
          <p:cNvPr id="15" name="Text 13"/>
          <p:cNvSpPr/>
          <p:nvPr/>
        </p:nvSpPr>
        <p:spPr>
          <a:xfrm>
            <a:off x="1143000" y="4224528"/>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...RepairWithPsExec.ps1  (orchestrateur)</a:t>
            </a:r>
            <a:endParaRPr lang="en-US" sz="1000" dirty="0"/>
          </a:p>
        </p:txBody>
      </p:sp>
      <p:sp>
        <p:nvSpPr>
          <p:cNvPr id="16" name="Text 14"/>
          <p:cNvSpPr/>
          <p:nvPr/>
        </p:nvSpPr>
        <p:spPr>
          <a:xfrm>
            <a:off x="1143000" y="4457700"/>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...LotLauncher-GUI.ps1  (GUI WPF)</a:t>
            </a:r>
            <a:endParaRPr lang="en-US" sz="1000" dirty="0"/>
          </a:p>
        </p:txBody>
      </p:sp>
      <p:sp>
        <p:nvSpPr>
          <p:cNvPr id="17" name="Text 15"/>
          <p:cNvSpPr/>
          <p:nvPr/>
        </p:nvSpPr>
        <p:spPr>
          <a:xfrm>
            <a:off x="1143000" y="4690872"/>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...PsExecWorker.ps1</a:t>
            </a:r>
            <a:endParaRPr lang="en-US" sz="1000" dirty="0"/>
          </a:p>
        </p:txBody>
      </p:sp>
      <p:sp>
        <p:nvSpPr>
          <p:cNvPr id="18" name="Text 16"/>
          <p:cNvSpPr/>
          <p:nvPr/>
        </p:nvSpPr>
        <p:spPr>
          <a:xfrm>
            <a:off x="777240" y="4924044"/>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Lots\LOT-TEMPLATE\</a:t>
            </a:r>
            <a:endParaRPr lang="en-US" sz="1000" dirty="0"/>
          </a:p>
        </p:txBody>
      </p:sp>
      <p:sp>
        <p:nvSpPr>
          <p:cNvPr id="19" name="Text 17"/>
          <p:cNvSpPr/>
          <p:nvPr/>
        </p:nvSpPr>
        <p:spPr>
          <a:xfrm>
            <a:off x="777240" y="5157216"/>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Lots\LOT-&lt;nom&gt;\  (opérationnel, non commité)</a:t>
            </a:r>
            <a:endParaRPr lang="en-US" sz="1000" dirty="0"/>
          </a:p>
        </p:txBody>
      </p:sp>
      <p:sp>
        <p:nvSpPr>
          <p:cNvPr id="20" name="Text 18"/>
          <p:cNvSpPr/>
          <p:nvPr/>
        </p:nvSpPr>
        <p:spPr>
          <a:xfrm>
            <a:off x="777240" y="5390388"/>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Runs\&lt;LOT&gt;\&lt;horodatage&gt;\</a:t>
            </a:r>
            <a:endParaRPr lang="en-US" sz="1000" dirty="0"/>
          </a:p>
        </p:txBody>
      </p:sp>
      <p:sp>
        <p:nvSpPr>
          <p:cNvPr id="21" name="Text 19"/>
          <p:cNvSpPr/>
          <p:nvPr/>
        </p:nvSpPr>
        <p:spPr>
          <a:xfrm>
            <a:off x="777240" y="5623560"/>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SetupSource\  (média local, non commité)</a:t>
            </a:r>
            <a:endParaRPr lang="en-US" sz="1000" dirty="0"/>
          </a:p>
        </p:txBody>
      </p:sp>
      <p:sp>
        <p:nvSpPr>
          <p:cNvPr id="22" name="Shape 20"/>
          <p:cNvSpPr/>
          <p:nvPr/>
        </p:nvSpPr>
        <p:spPr>
          <a:xfrm>
            <a:off x="6355080" y="1783080"/>
            <a:ext cx="5349240" cy="1298448"/>
          </a:xfrm>
          <a:prstGeom prst="roundRect">
            <a:avLst>
              <a:gd name="adj" fmla="val 5634"/>
            </a:avLst>
          </a:prstGeom>
          <a:solidFill>
            <a:srgbClr val="F5F8FB"/>
          </a:solidFill>
          <a:ln w="12700">
            <a:solidFill>
              <a:srgbClr val="DDE7F0"/>
            </a:solidFill>
            <a:prstDash val="solid"/>
          </a:ln>
        </p:spPr>
      </p:sp>
      <p:sp>
        <p:nvSpPr>
          <p:cNvPr id="23" name="Text 21"/>
          <p:cNvSpPr/>
          <p:nvPr/>
        </p:nvSpPr>
        <p:spPr>
          <a:xfrm>
            <a:off x="6583680" y="1947672"/>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onsolas" pitchFamily="34" charset="0"/>
                <a:ea typeface="Consolas" pitchFamily="34" charset="-122"/>
                <a:cs typeface="Consolas" pitchFamily="34" charset="-120"/>
              </a:rPr>
              <a:t>Scripts\</a:t>
            </a:r>
            <a:endParaRPr lang="en-US" sz="1350" dirty="0"/>
          </a:p>
        </p:txBody>
      </p:sp>
      <p:sp>
        <p:nvSpPr>
          <p:cNvPr id="24" name="Text 22"/>
          <p:cNvSpPr/>
          <p:nvPr/>
        </p:nvSpPr>
        <p:spPr>
          <a:xfrm>
            <a:off x="6583680" y="2286000"/>
            <a:ext cx="4937760" cy="685800"/>
          </a:xfrm>
          <a:prstGeom prst="rect">
            <a:avLst/>
          </a:prstGeom>
          <a:noFill/>
          <a:ln/>
        </p:spPr>
        <p:txBody>
          <a:bodyPr wrap="square" lIns="0" tIns="0" rIns="0" bIns="0" rtlCol="0" anchor="ctr"/>
          <a:lstStyle/>
          <a:p>
            <a:pPr indent="0" marL="0">
              <a:lnSpc>
                <a:spcPct val="120000"/>
              </a:lnSpc>
              <a:buNone/>
            </a:pPr>
            <a:r>
              <a:rPr lang="en-US" sz="1150" dirty="0">
                <a:solidFill>
                  <a:srgbClr val="5F6B7A"/>
                </a:solidFill>
                <a:latin typeface="Calibri" pitchFamily="34" charset="0"/>
                <a:ea typeface="Calibri" pitchFamily="34" charset="-122"/>
                <a:cs typeface="Calibri" pitchFamily="34" charset="-120"/>
              </a:rPr>
              <a:t>Orchestrateur PsExec, script endpoint autonome, worker, GUI de lancement LOT.</a:t>
            </a:r>
            <a:endParaRPr lang="en-US" sz="1150" dirty="0"/>
          </a:p>
        </p:txBody>
      </p:sp>
      <p:sp>
        <p:nvSpPr>
          <p:cNvPr id="25" name="Shape 23"/>
          <p:cNvSpPr/>
          <p:nvPr/>
        </p:nvSpPr>
        <p:spPr>
          <a:xfrm>
            <a:off x="6355080" y="3264408"/>
            <a:ext cx="5349240" cy="1298448"/>
          </a:xfrm>
          <a:prstGeom prst="roundRect">
            <a:avLst>
              <a:gd name="adj" fmla="val 5634"/>
            </a:avLst>
          </a:prstGeom>
          <a:solidFill>
            <a:srgbClr val="F5F8FB"/>
          </a:solidFill>
          <a:ln w="12700">
            <a:solidFill>
              <a:srgbClr val="DDE7F0"/>
            </a:solidFill>
            <a:prstDash val="solid"/>
          </a:ln>
        </p:spPr>
      </p:sp>
      <p:sp>
        <p:nvSpPr>
          <p:cNvPr id="26" name="Text 24"/>
          <p:cNvSpPr/>
          <p:nvPr/>
        </p:nvSpPr>
        <p:spPr>
          <a:xfrm>
            <a:off x="6583680" y="3429000"/>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onsolas" pitchFamily="34" charset="0"/>
                <a:ea typeface="Consolas" pitchFamily="34" charset="-122"/>
                <a:cs typeface="Consolas" pitchFamily="34" charset="-120"/>
              </a:rPr>
              <a:t>Lots\LOT-*\</a:t>
            </a:r>
            <a:endParaRPr lang="en-US" sz="1350" dirty="0"/>
          </a:p>
        </p:txBody>
      </p:sp>
      <p:sp>
        <p:nvSpPr>
          <p:cNvPr id="27" name="Text 25"/>
          <p:cNvSpPr/>
          <p:nvPr/>
        </p:nvSpPr>
        <p:spPr>
          <a:xfrm>
            <a:off x="6583680" y="3767328"/>
            <a:ext cx="4937760" cy="685800"/>
          </a:xfrm>
          <a:prstGeom prst="rect">
            <a:avLst/>
          </a:prstGeom>
          <a:noFill/>
          <a:ln/>
        </p:spPr>
        <p:txBody>
          <a:bodyPr wrap="square" lIns="0" tIns="0" rIns="0" bIns="0" rtlCol="0" anchor="ctr"/>
          <a:lstStyle/>
          <a:p>
            <a:pPr indent="0" marL="0">
              <a:lnSpc>
                <a:spcPct val="120000"/>
              </a:lnSpc>
              <a:buNone/>
            </a:pPr>
            <a:r>
              <a:rPr lang="en-US" sz="1150" dirty="0">
                <a:solidFill>
                  <a:srgbClr val="5F6B7A"/>
                </a:solidFill>
                <a:latin typeface="Calibri" pitchFamily="34" charset="0"/>
                <a:ea typeface="Calibri" pitchFamily="34" charset="-122"/>
                <a:cs typeface="Calibri" pitchFamily="34" charset="-120"/>
              </a:rPr>
              <a:t>Configuration opérationnelle et Computers.txt de chaque campagne (jamais commité).</a:t>
            </a:r>
            <a:endParaRPr lang="en-US" sz="1150" dirty="0"/>
          </a:p>
        </p:txBody>
      </p:sp>
      <p:sp>
        <p:nvSpPr>
          <p:cNvPr id="28" name="Shape 26"/>
          <p:cNvSpPr/>
          <p:nvPr/>
        </p:nvSpPr>
        <p:spPr>
          <a:xfrm>
            <a:off x="6355080" y="4745736"/>
            <a:ext cx="5349240" cy="1298448"/>
          </a:xfrm>
          <a:prstGeom prst="roundRect">
            <a:avLst>
              <a:gd name="adj" fmla="val 5634"/>
            </a:avLst>
          </a:prstGeom>
          <a:solidFill>
            <a:srgbClr val="F5F8FB"/>
          </a:solidFill>
          <a:ln w="12700">
            <a:solidFill>
              <a:srgbClr val="DDE7F0"/>
            </a:solidFill>
            <a:prstDash val="solid"/>
          </a:ln>
        </p:spPr>
      </p:sp>
      <p:sp>
        <p:nvSpPr>
          <p:cNvPr id="29" name="Text 27"/>
          <p:cNvSpPr/>
          <p:nvPr/>
        </p:nvSpPr>
        <p:spPr>
          <a:xfrm>
            <a:off x="6583680" y="4910328"/>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onsolas" pitchFamily="34" charset="0"/>
                <a:ea typeface="Consolas" pitchFamily="34" charset="-122"/>
                <a:cs typeface="Consolas" pitchFamily="34" charset="-120"/>
              </a:rPr>
              <a:t>Runs\&lt;LOT&gt;\&lt;horodatage&gt;\</a:t>
            </a:r>
            <a:endParaRPr lang="en-US" sz="1350" dirty="0"/>
          </a:p>
        </p:txBody>
      </p:sp>
      <p:sp>
        <p:nvSpPr>
          <p:cNvPr id="30" name="Text 28"/>
          <p:cNvSpPr/>
          <p:nvPr/>
        </p:nvSpPr>
        <p:spPr>
          <a:xfrm>
            <a:off x="6583680" y="5248656"/>
            <a:ext cx="4937760" cy="685800"/>
          </a:xfrm>
          <a:prstGeom prst="rect">
            <a:avLst/>
          </a:prstGeom>
          <a:noFill/>
          <a:ln/>
        </p:spPr>
        <p:txBody>
          <a:bodyPr wrap="square" lIns="0" tIns="0" rIns="0" bIns="0" rtlCol="0" anchor="ctr"/>
          <a:lstStyle/>
          <a:p>
            <a:pPr indent="0" marL="0">
              <a:lnSpc>
                <a:spcPct val="120000"/>
              </a:lnSpc>
              <a:buNone/>
            </a:pPr>
            <a:r>
              <a:rPr lang="en-US" sz="1150" dirty="0">
                <a:solidFill>
                  <a:srgbClr val="5F6B7A"/>
                </a:solidFill>
                <a:latin typeface="Calibri" pitchFamily="34" charset="0"/>
                <a:ea typeface="Calibri" pitchFamily="34" charset="-122"/>
                <a:cs typeface="Calibri" pitchFamily="34" charset="-120"/>
              </a:rPr>
              <a:t>Données d'exécution : logs, rapports HTML, CentralLogs, CSV d'inventaire.</a:t>
            </a:r>
            <a:endParaRPr lang="en-US" sz="1150" dirty="0"/>
          </a:p>
        </p:txBody>
      </p:sp>
      <p:sp>
        <p:nvSpPr>
          <p:cNvPr id="31" name="Text 2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ÉTAPE 1</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Préparer le média Windows 11</a:t>
            </a:r>
            <a:endParaRPr lang="en-US" sz="3200" dirty="0"/>
          </a:p>
        </p:txBody>
      </p:sp>
      <p:sp>
        <p:nvSpPr>
          <p:cNvPr id="6" name="Text 4"/>
          <p:cNvSpPr/>
          <p:nvPr/>
        </p:nvSpPr>
        <p:spPr>
          <a:xfrm>
            <a:off x="502920" y="2011680"/>
            <a:ext cx="11155680" cy="36576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Nécessaire uniquement si les campagnes doivent activer l'upgrade via Windows Setup (-AllowSetupUpgrade).</a:t>
            </a:r>
            <a:endParaRPr lang="en-US" sz="1350" dirty="0"/>
          </a:p>
        </p:txBody>
      </p:sp>
      <p:sp>
        <p:nvSpPr>
          <p:cNvPr id="7" name="Shape 5"/>
          <p:cNvSpPr/>
          <p:nvPr/>
        </p:nvSpPr>
        <p:spPr>
          <a:xfrm>
            <a:off x="502920" y="2450592"/>
            <a:ext cx="11201400" cy="548640"/>
          </a:xfrm>
          <a:prstGeom prst="roundRect">
            <a:avLst>
              <a:gd name="adj" fmla="val 13333"/>
            </a:avLst>
          </a:prstGeom>
          <a:solidFill>
            <a:srgbClr val="F5F8FB"/>
          </a:solidFill>
          <a:ln w="12700">
            <a:solidFill>
              <a:srgbClr val="DDE7F0"/>
            </a:solidFill>
            <a:prstDash val="solid"/>
          </a:ln>
        </p:spPr>
      </p:sp>
      <p:sp>
        <p:nvSpPr>
          <p:cNvPr id="8" name="Shape 6"/>
          <p:cNvSpPr/>
          <p:nvPr/>
        </p:nvSpPr>
        <p:spPr>
          <a:xfrm>
            <a:off x="694944" y="2569464"/>
            <a:ext cx="310896" cy="310896"/>
          </a:xfrm>
          <a:prstGeom prst="ellipse">
            <a:avLst/>
          </a:prstGeom>
          <a:solidFill>
            <a:srgbClr val="0078D4"/>
          </a:solidFill>
          <a:ln/>
        </p:spPr>
      </p:sp>
      <p:sp>
        <p:nvSpPr>
          <p:cNvPr id="9" name="Text 7"/>
          <p:cNvSpPr/>
          <p:nvPr/>
        </p:nvSpPr>
        <p:spPr>
          <a:xfrm>
            <a:off x="694944" y="25694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225296" y="251460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Télécharger le média Windows 11</a:t>
            </a:r>
            <a:endParaRPr lang="en-US" sz="1200" dirty="0"/>
          </a:p>
        </p:txBody>
      </p:sp>
      <p:sp>
        <p:nvSpPr>
          <p:cNvPr id="11" name="Text 9"/>
          <p:cNvSpPr/>
          <p:nvPr/>
        </p:nvSpPr>
        <p:spPr>
          <a:xfrm>
            <a:off x="1225296" y="2770632"/>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Télécharger l'image ISO ou l'outil de création de média sur la page officielle Microsoft : </a:t>
            </a:r>
            <a:pPr indent="0" marL="0">
              <a:lnSpc>
                <a:spcPct val="108000"/>
              </a:lnSpc>
              <a:buNone/>
            </a:pPr>
            <a:r>
              <a:rPr lang="en-US" sz="1000" u="sng" dirty="0">
                <a:solidFill>
                  <a:srgbClr val="0078D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https://www.microsoft.com/software-download/windows11</a:t>
            </a:r>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02920" y="3090672"/>
            <a:ext cx="11201400" cy="548640"/>
          </a:xfrm>
          <a:prstGeom prst="roundRect">
            <a:avLst>
              <a:gd name="adj" fmla="val 13333"/>
            </a:avLst>
          </a:prstGeom>
          <a:solidFill>
            <a:srgbClr val="F5F8FB"/>
          </a:solidFill>
          <a:ln w="12700">
            <a:solidFill>
              <a:srgbClr val="DDE7F0"/>
            </a:solidFill>
            <a:prstDash val="solid"/>
          </a:ln>
        </p:spPr>
      </p:sp>
      <p:sp>
        <p:nvSpPr>
          <p:cNvPr id="13" name="Shape 11"/>
          <p:cNvSpPr/>
          <p:nvPr/>
        </p:nvSpPr>
        <p:spPr>
          <a:xfrm>
            <a:off x="694944" y="3209544"/>
            <a:ext cx="310896" cy="310896"/>
          </a:xfrm>
          <a:prstGeom prst="ellipse">
            <a:avLst/>
          </a:prstGeom>
          <a:solidFill>
            <a:srgbClr val="0078D4"/>
          </a:solidFill>
          <a:ln/>
        </p:spPr>
      </p:sp>
      <p:sp>
        <p:nvSpPr>
          <p:cNvPr id="14" name="Text 12"/>
          <p:cNvSpPr/>
          <p:nvPr/>
        </p:nvSpPr>
        <p:spPr>
          <a:xfrm>
            <a:off x="694944" y="32095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225296" y="315468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Monter l'ISO et copier le contenu</a:t>
            </a:r>
            <a:endParaRPr lang="en-US" sz="1200" dirty="0"/>
          </a:p>
        </p:txBody>
      </p:sp>
      <p:sp>
        <p:nvSpPr>
          <p:cNvPr id="16" name="Text 14"/>
          <p:cNvSpPr/>
          <p:nvPr/>
        </p:nvSpPr>
        <p:spPr>
          <a:xfrm>
            <a:off x="1225296" y="3410712"/>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Monter l'image ISO téléchargée, puis copier tout son contenu dans SetupSource\&lt;langue&gt; (ex. SetupSource\en-US ou SetupSource\fr-FR) en respectant la langue du média.</a:t>
            </a:r>
            <a:endParaRPr lang="en-US" sz="1000" dirty="0"/>
          </a:p>
        </p:txBody>
      </p:sp>
      <p:sp>
        <p:nvSpPr>
          <p:cNvPr id="17" name="Shape 15"/>
          <p:cNvSpPr/>
          <p:nvPr/>
        </p:nvSpPr>
        <p:spPr>
          <a:xfrm>
            <a:off x="502920" y="3730752"/>
            <a:ext cx="11201400" cy="548640"/>
          </a:xfrm>
          <a:prstGeom prst="roundRect">
            <a:avLst>
              <a:gd name="adj" fmla="val 13333"/>
            </a:avLst>
          </a:prstGeom>
          <a:solidFill>
            <a:srgbClr val="F5F8FB"/>
          </a:solidFill>
          <a:ln w="12700">
            <a:solidFill>
              <a:srgbClr val="DDE7F0"/>
            </a:solidFill>
            <a:prstDash val="solid"/>
          </a:ln>
        </p:spPr>
      </p:sp>
      <p:sp>
        <p:nvSpPr>
          <p:cNvPr id="18" name="Shape 16"/>
          <p:cNvSpPr/>
          <p:nvPr/>
        </p:nvSpPr>
        <p:spPr>
          <a:xfrm>
            <a:off x="694944" y="3849624"/>
            <a:ext cx="310896" cy="310896"/>
          </a:xfrm>
          <a:prstGeom prst="ellipse">
            <a:avLst/>
          </a:prstGeom>
          <a:solidFill>
            <a:srgbClr val="0078D4"/>
          </a:solidFill>
          <a:ln/>
        </p:spPr>
      </p:sp>
      <p:sp>
        <p:nvSpPr>
          <p:cNvPr id="19" name="Text 17"/>
          <p:cNvSpPr/>
          <p:nvPr/>
        </p:nvSpPr>
        <p:spPr>
          <a:xfrm>
            <a:off x="694944" y="3849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225296" y="379476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Valider le média</a:t>
            </a:r>
            <a:endParaRPr lang="en-US" sz="1200" dirty="0"/>
          </a:p>
        </p:txBody>
      </p:sp>
      <p:sp>
        <p:nvSpPr>
          <p:cNvPr id="21" name="Text 19"/>
          <p:cNvSpPr/>
          <p:nvPr/>
        </p:nvSpPr>
        <p:spPr>
          <a:xfrm>
            <a:off x="1225296" y="4050792"/>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Le dossier doit contenir setup.exe et sources\install.wim ou install.esd, avec signature Authenticode Microsoft valide.</a:t>
            </a:r>
            <a:endParaRPr lang="en-US" sz="1000" dirty="0"/>
          </a:p>
        </p:txBody>
      </p:sp>
      <p:sp>
        <p:nvSpPr>
          <p:cNvPr id="22" name="Shape 20"/>
          <p:cNvSpPr/>
          <p:nvPr/>
        </p:nvSpPr>
        <p:spPr>
          <a:xfrm>
            <a:off x="502920" y="4370832"/>
            <a:ext cx="11201400" cy="932688"/>
          </a:xfrm>
          <a:prstGeom prst="roundRect">
            <a:avLst>
              <a:gd name="adj" fmla="val 7843"/>
            </a:avLst>
          </a:prstGeom>
          <a:solidFill>
            <a:srgbClr val="F5F8FB"/>
          </a:solidFill>
          <a:ln w="12700">
            <a:solidFill>
              <a:srgbClr val="DDE7F0"/>
            </a:solidFill>
            <a:prstDash val="solid"/>
          </a:ln>
        </p:spPr>
      </p:sp>
      <p:sp>
        <p:nvSpPr>
          <p:cNvPr id="23" name="Shape 21"/>
          <p:cNvSpPr/>
          <p:nvPr/>
        </p:nvSpPr>
        <p:spPr>
          <a:xfrm>
            <a:off x="694944" y="4681728"/>
            <a:ext cx="310896" cy="310896"/>
          </a:xfrm>
          <a:prstGeom prst="ellipse">
            <a:avLst/>
          </a:prstGeom>
          <a:solidFill>
            <a:srgbClr val="0078D4"/>
          </a:solidFill>
          <a:ln/>
        </p:spPr>
      </p:sp>
      <p:sp>
        <p:nvSpPr>
          <p:cNvPr id="24" name="Text 22"/>
          <p:cNvSpPr/>
          <p:nvPr/>
        </p:nvSpPr>
        <p:spPr>
          <a:xfrm>
            <a:off x="694944" y="4681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225296" y="443484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Partager les dossiers réseau</a:t>
            </a:r>
            <a:endParaRPr lang="en-US" sz="1200" dirty="0"/>
          </a:p>
        </p:txBody>
      </p:sp>
      <p:sp>
        <p:nvSpPr>
          <p:cNvPr id="26" name="Text 24"/>
          <p:cNvSpPr/>
          <p:nvPr/>
        </p:nvSpPr>
        <p:spPr>
          <a:xfrm>
            <a:off x="1225296" y="4690872"/>
            <a:ext cx="10104120" cy="566928"/>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SetupSource : partager en SetupSource$ sur le serveur de média (ou via un service de fichiers centralisé), accès en lecture pour tous les postes cibles. SetupSourceGates : partager en SetupSourceGates$, accès en écriture requis pour les postes cibles (gate de concurrence de copie).</a:t>
            </a:r>
            <a:endParaRPr lang="en-US" sz="1000" dirty="0"/>
          </a:p>
        </p:txBody>
      </p:sp>
      <p:sp>
        <p:nvSpPr>
          <p:cNvPr id="27" name="Shape 25"/>
          <p:cNvSpPr/>
          <p:nvPr/>
        </p:nvSpPr>
        <p:spPr>
          <a:xfrm>
            <a:off x="502920" y="5394960"/>
            <a:ext cx="11201400" cy="548640"/>
          </a:xfrm>
          <a:prstGeom prst="roundRect">
            <a:avLst>
              <a:gd name="adj" fmla="val 13333"/>
            </a:avLst>
          </a:prstGeom>
          <a:solidFill>
            <a:srgbClr val="F5F8FB"/>
          </a:solidFill>
          <a:ln w="12700">
            <a:solidFill>
              <a:srgbClr val="DDE7F0"/>
            </a:solidFill>
            <a:prstDash val="solid"/>
          </a:ln>
        </p:spPr>
      </p:sp>
      <p:sp>
        <p:nvSpPr>
          <p:cNvPr id="28" name="Shape 26"/>
          <p:cNvSpPr/>
          <p:nvPr/>
        </p:nvSpPr>
        <p:spPr>
          <a:xfrm>
            <a:off x="694944" y="5513832"/>
            <a:ext cx="310896" cy="310896"/>
          </a:xfrm>
          <a:prstGeom prst="ellipse">
            <a:avLst/>
          </a:prstGeom>
          <a:solidFill>
            <a:srgbClr val="0078D4"/>
          </a:solidFill>
          <a:ln/>
        </p:spPr>
      </p:sp>
      <p:sp>
        <p:nvSpPr>
          <p:cNvPr id="29" name="Text 27"/>
          <p:cNvSpPr/>
          <p:nvPr/>
        </p:nvSpPr>
        <p:spPr>
          <a:xfrm>
            <a:off x="694944" y="5513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1225296" y="5458968"/>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Générer le manifeste SHA256</a:t>
            </a:r>
            <a:endParaRPr lang="en-US" sz="1200" dirty="0"/>
          </a:p>
        </p:txBody>
      </p:sp>
      <p:sp>
        <p:nvSpPr>
          <p:cNvPr id="31" name="Text 29"/>
          <p:cNvSpPr/>
          <p:nvPr/>
        </p:nvSpPr>
        <p:spPr>
          <a:xfrm>
            <a:off x="1225296" y="5715000"/>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Lancer New-SetupMediaManifest.cmd (ou le script avec -MediaRoot / -SetupSourceRoot) pour créer SmartM365-SetupMediaManifest.sha256.csv à la racine du média.</a:t>
            </a:r>
            <a:endParaRPr lang="en-US" sz="1000" dirty="0"/>
          </a:p>
        </p:txBody>
      </p:sp>
      <p:sp>
        <p:nvSpPr>
          <p:cNvPr id="32" name="Text 30"/>
          <p:cNvSpPr/>
          <p:nvPr/>
        </p:nvSpPr>
        <p:spPr>
          <a:xfrm>
            <a:off x="502920" y="6089904"/>
            <a:ext cx="5486400" cy="219456"/>
          </a:xfrm>
          <a:prstGeom prst="rect">
            <a:avLst/>
          </a:prstGeom>
          <a:noFill/>
          <a:ln/>
        </p:spPr>
        <p:txBody>
          <a:bodyPr wrap="square" lIns="0" tIns="0" rIns="0" bIns="0" rtlCol="0" anchor="ctr"/>
          <a:lstStyle/>
          <a:p>
            <a:pPr indent="0" marL="0">
              <a:buNone/>
            </a:pPr>
            <a:r>
              <a:rPr lang="en-US" sz="950" dirty="0">
                <a:solidFill>
                  <a:srgbClr val="5F6B7A"/>
                </a:solidFill>
                <a:latin typeface="Calibri" pitchFamily="34" charset="0"/>
                <a:ea typeface="Calibri" pitchFamily="34" charset="-122"/>
                <a:cs typeface="Calibri" pitchFamily="34" charset="-120"/>
              </a:rPr>
              <a:t>Documentation complète : </a:t>
            </a:r>
            <a:pPr indent="0" marL="0">
              <a:buNone/>
            </a:pPr>
            <a:r>
              <a:rPr lang="en-US" sz="950" u="sng" dirty="0">
                <a:solidFill>
                  <a:srgbClr val="0078D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README GitHub</a:t>
            </a:r>
            <a:endParaRPr lang="en-US" sz="95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4" name="Text 3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ÉTAPE 2</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Configurer le toolkit</a:t>
            </a:r>
            <a:endParaRPr lang="en-US" sz="3200" dirty="0"/>
          </a:p>
        </p:txBody>
      </p:sp>
      <p:sp>
        <p:nvSpPr>
          <p:cNvPr id="6" name="Text 4"/>
          <p:cNvSpPr/>
          <p:nvPr/>
        </p:nvSpPr>
        <p:spPr>
          <a:xfrm>
            <a:off x="502920" y="2057400"/>
            <a:ext cx="5349240" cy="960120"/>
          </a:xfrm>
          <a:prstGeom prst="rect">
            <a:avLst/>
          </a:prstGeom>
          <a:noFill/>
          <a:ln/>
        </p:spPr>
        <p:txBody>
          <a:bodyPr wrap="square" lIns="0" tIns="0" rIns="0" bIns="0" rtlCol="0" anchor="ctr"/>
          <a:lstStyle/>
          <a:p>
            <a:pPr indent="0" marL="0">
              <a:lnSpc>
                <a:spcPct val="120000"/>
              </a:lnSpc>
              <a:buNone/>
            </a:pPr>
            <a:r>
              <a:rPr lang="en-US" sz="1250" dirty="0">
                <a:solidFill>
                  <a:srgbClr val="1F2937"/>
                </a:solidFill>
                <a:latin typeface="Calibri" pitchFamily="34" charset="0"/>
                <a:ea typeface="Calibri" pitchFamily="34" charset="-122"/>
                <a:cs typeface="Calibri" pitchFamily="34" charset="-120"/>
              </a:rPr>
              <a:t>La configuration se fait principalement via l'onglet Options de la GUI, qui pré-remplit et surcharge Windows11UpgradeToolkit.config. La configuration manuelle par fichier reste disponible pour les lancements sans GUI et est détaillée en annexe.</a:t>
            </a:r>
            <a:endParaRPr lang="en-US" sz="1250" dirty="0"/>
          </a:p>
        </p:txBody>
      </p:sp>
      <p:sp>
        <p:nvSpPr>
          <p:cNvPr id="7" name="Text 5"/>
          <p:cNvSpPr/>
          <p:nvPr/>
        </p:nvSpPr>
        <p:spPr>
          <a:xfrm>
            <a:off x="502920" y="3154680"/>
            <a:ext cx="5349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Champs clés de l'onglet Options</a:t>
            </a:r>
            <a:endParaRPr lang="en-US" sz="1300" dirty="0"/>
          </a:p>
        </p:txBody>
      </p:sp>
      <p:sp>
        <p:nvSpPr>
          <p:cNvPr id="8" name="Shape 6"/>
          <p:cNvSpPr/>
          <p:nvPr/>
        </p:nvSpPr>
        <p:spPr>
          <a:xfrm>
            <a:off x="502920" y="3566160"/>
            <a:ext cx="128016" cy="402336"/>
          </a:xfrm>
          <a:prstGeom prst="roundRect">
            <a:avLst>
              <a:gd name="adj" fmla="val 50000"/>
            </a:avLst>
          </a:prstGeom>
          <a:solidFill>
            <a:srgbClr val="0078D4"/>
          </a:solidFill>
          <a:ln/>
        </p:spPr>
      </p:sp>
      <p:sp>
        <p:nvSpPr>
          <p:cNvPr id="9" name="Text 7"/>
          <p:cNvSpPr/>
          <p:nvPr/>
        </p:nvSpPr>
        <p:spPr>
          <a:xfrm>
            <a:off x="749808" y="35661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Setup source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chemin(s) UNC du média</a:t>
            </a:r>
            <a:endParaRPr lang="en-US" sz="1150" dirty="0"/>
          </a:p>
        </p:txBody>
      </p:sp>
      <p:sp>
        <p:nvSpPr>
          <p:cNvPr id="10" name="Shape 8"/>
          <p:cNvSpPr/>
          <p:nvPr/>
        </p:nvSpPr>
        <p:spPr>
          <a:xfrm>
            <a:off x="502920" y="4023360"/>
            <a:ext cx="128016" cy="402336"/>
          </a:xfrm>
          <a:prstGeom prst="roundRect">
            <a:avLst>
              <a:gd name="adj" fmla="val 50000"/>
            </a:avLst>
          </a:prstGeom>
          <a:solidFill>
            <a:srgbClr val="0078D4"/>
          </a:solidFill>
          <a:ln/>
        </p:spPr>
      </p:sp>
      <p:sp>
        <p:nvSpPr>
          <p:cNvPr id="11" name="Text 9"/>
          <p:cNvSpPr/>
          <p:nvPr/>
        </p:nvSpPr>
        <p:spPr>
          <a:xfrm>
            <a:off x="749808" y="40233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Setup execution mode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LocalCache (défaut) / Share / Auto</a:t>
            </a:r>
            <a:endParaRPr lang="en-US" sz="1150" dirty="0"/>
          </a:p>
        </p:txBody>
      </p:sp>
      <p:sp>
        <p:nvSpPr>
          <p:cNvPr id="12" name="Shape 10"/>
          <p:cNvSpPr/>
          <p:nvPr/>
        </p:nvSpPr>
        <p:spPr>
          <a:xfrm>
            <a:off x="502920" y="4480560"/>
            <a:ext cx="128016" cy="402336"/>
          </a:xfrm>
          <a:prstGeom prst="roundRect">
            <a:avLst>
              <a:gd name="adj" fmla="val 50000"/>
            </a:avLst>
          </a:prstGeom>
          <a:solidFill>
            <a:srgbClr val="0078D4"/>
          </a:solidFill>
          <a:ln/>
        </p:spPr>
      </p:sp>
      <p:sp>
        <p:nvSpPr>
          <p:cNvPr id="13" name="Text 11"/>
          <p:cNvSpPr/>
          <p:nvPr/>
        </p:nvSpPr>
        <p:spPr>
          <a:xfrm>
            <a:off x="749808" y="44805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Setup language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MatchSystem (défaut) ou culture précise</a:t>
            </a:r>
            <a:endParaRPr lang="en-US" sz="1150" dirty="0"/>
          </a:p>
        </p:txBody>
      </p:sp>
      <p:sp>
        <p:nvSpPr>
          <p:cNvPr id="14" name="Shape 12"/>
          <p:cNvSpPr/>
          <p:nvPr/>
        </p:nvSpPr>
        <p:spPr>
          <a:xfrm>
            <a:off x="502920" y="4937760"/>
            <a:ext cx="128016" cy="402336"/>
          </a:xfrm>
          <a:prstGeom prst="roundRect">
            <a:avLst>
              <a:gd name="adj" fmla="val 50000"/>
            </a:avLst>
          </a:prstGeom>
          <a:solidFill>
            <a:srgbClr val="0078D4"/>
          </a:solidFill>
          <a:ln/>
        </p:spPr>
      </p:sp>
      <p:sp>
        <p:nvSpPr>
          <p:cNvPr id="15" name="Text 13"/>
          <p:cNvSpPr/>
          <p:nvPr/>
        </p:nvSpPr>
        <p:spPr>
          <a:xfrm>
            <a:off x="749808" y="49377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Dynamic update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Disable (défaut) / Enable / NoDrivers</a:t>
            </a:r>
            <a:endParaRPr lang="en-US" sz="1150" dirty="0"/>
          </a:p>
        </p:txBody>
      </p:sp>
      <p:sp>
        <p:nvSpPr>
          <p:cNvPr id="16" name="Shape 14"/>
          <p:cNvSpPr/>
          <p:nvPr/>
        </p:nvSpPr>
        <p:spPr>
          <a:xfrm>
            <a:off x="502920" y="5394960"/>
            <a:ext cx="128016" cy="402336"/>
          </a:xfrm>
          <a:prstGeom prst="roundRect">
            <a:avLst>
              <a:gd name="adj" fmla="val 50000"/>
            </a:avLst>
          </a:prstGeom>
          <a:solidFill>
            <a:srgbClr val="0078D4"/>
          </a:solidFill>
          <a:ln/>
        </p:spPr>
      </p:sp>
      <p:sp>
        <p:nvSpPr>
          <p:cNvPr id="17" name="Text 15"/>
          <p:cNvSpPr/>
          <p:nvPr/>
        </p:nvSpPr>
        <p:spPr>
          <a:xfrm>
            <a:off x="749808" y="53949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Timing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throttle, délais entre postes/cycles, timeout PsExec</a:t>
            </a:r>
            <a:endParaRPr lang="en-US" sz="1150" dirty="0"/>
          </a:p>
        </p:txBody>
      </p:sp>
      <p:sp>
        <p:nvSpPr>
          <p:cNvPr id="18" name="Text 16"/>
          <p:cNvSpPr/>
          <p:nvPr/>
        </p:nvSpPr>
        <p:spPr>
          <a:xfrm>
            <a:off x="502920" y="6199632"/>
            <a:ext cx="5486400" cy="219456"/>
          </a:xfrm>
          <a:prstGeom prst="rect">
            <a:avLst/>
          </a:prstGeom>
          <a:noFill/>
          <a:ln/>
        </p:spPr>
        <p:txBody>
          <a:bodyPr wrap="square" lIns="0" tIns="0" rIns="0" bIns="0" rtlCol="0" anchor="ctr"/>
          <a:lstStyle/>
          <a:p>
            <a:pPr indent="0" marL="0">
              <a:buNone/>
            </a:pPr>
            <a:r>
              <a:rPr lang="en-US" sz="950" dirty="0">
                <a:solidFill>
                  <a:srgbClr val="5F6B7A"/>
                </a:solidFill>
                <a:latin typeface="Calibri" pitchFamily="34" charset="0"/>
                <a:ea typeface="Calibri" pitchFamily="34" charset="-122"/>
                <a:cs typeface="Calibri" pitchFamily="34" charset="-120"/>
              </a:rPr>
              <a:t>Documentation complète : </a:t>
            </a:r>
            <a:pPr indent="0" marL="0">
              <a:buNone/>
            </a:pPr>
            <a:r>
              <a:rPr lang="en-US" sz="950" u="sng" dirty="0">
                <a:solidFill>
                  <a:srgbClr val="0078D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README GitHub</a:t>
            </a:r>
            <a:endParaRPr lang="en-US" sz="950" dirty="0"/>
          </a:p>
        </p:txBody>
      </p:sp>
      <p:sp>
        <p:nvSpPr>
          <p:cNvPr id="19" name="Shape 17"/>
          <p:cNvSpPr/>
          <p:nvPr/>
        </p:nvSpPr>
        <p:spPr>
          <a:xfrm>
            <a:off x="6126480" y="2057400"/>
            <a:ext cx="5577840" cy="4160520"/>
          </a:xfrm>
          <a:prstGeom prst="roundRect">
            <a:avLst>
              <a:gd name="adj" fmla="val 2198"/>
            </a:avLst>
          </a:prstGeom>
          <a:solidFill>
            <a:srgbClr val="FFFFFF"/>
          </a:solidFill>
          <a:ln w="19050">
            <a:solidFill>
              <a:srgbClr val="DDE7F0"/>
            </a:solidFill>
            <a:prstDash val="solid"/>
          </a:ln>
          <a:effectLst>
            <a:outerShdw sx="100000" sy="100000" kx="0" ky="0" algn="bl" rotWithShape="0" blurRad="101600" dist="38100" dir="5400000">
              <a:srgbClr val="1F2937">
                <a:alpha val="18000"/>
              </a:srgbClr>
            </a:outerShdw>
          </a:effectLst>
        </p:spPr>
      </p:sp>
      <p:sp>
        <p:nvSpPr>
          <p:cNvPr id="20" name="Text 18"/>
          <p:cNvSpPr/>
          <p:nvPr/>
        </p:nvSpPr>
        <p:spPr>
          <a:xfrm>
            <a:off x="6309360" y="2176272"/>
            <a:ext cx="5212080" cy="292608"/>
          </a:xfrm>
          <a:prstGeom prst="rect">
            <a:avLst/>
          </a:prstGeom>
          <a:noFill/>
          <a:ln/>
        </p:spPr>
        <p:txBody>
          <a:bodyPr wrap="square" lIns="0" tIns="0" rIns="0" bIns="0" rtlCol="0" anchor="ctr"/>
          <a:lstStyle/>
          <a:p>
            <a:pPr indent="0" marL="0">
              <a:buNone/>
            </a:pPr>
            <a:r>
              <a:rPr lang="en-US" sz="1050" b="1" dirty="0">
                <a:solidFill>
                  <a:srgbClr val="5F6B7A"/>
                </a:solidFill>
                <a:latin typeface="Calibri" pitchFamily="34" charset="0"/>
                <a:ea typeface="Calibri" pitchFamily="34" charset="-122"/>
                <a:cs typeface="Calibri" pitchFamily="34" charset="-120"/>
              </a:rPr>
              <a:t>GUI — LOT Launcher — onglet « Options »</a:t>
            </a:r>
            <a:endParaRPr lang="en-US" sz="1050" dirty="0"/>
          </a:p>
        </p:txBody>
      </p:sp>
      <p:pic>
        <p:nvPicPr>
          <p:cNvPr id="21" name="Image 0" descr="C:\Users\Khaled\AppData\Local\Temp\claude\C--Users-Khaled-OneDrive-Documents-SmartIntune\c5e67daa-f249-479e-bda8-772632c0f9d4\scratchpad\screens\lot-launcher-options.png">    </p:cNvPr>
          <p:cNvPicPr>
            <a:picLocks noChangeAspect="1"/>
          </p:cNvPicPr>
          <p:nvPr/>
        </p:nvPicPr>
        <p:blipFill>
          <a:blip r:embed="rId2"/>
          <a:stretch>
            <a:fillRect/>
          </a:stretch>
        </p:blipFill>
        <p:spPr>
          <a:xfrm>
            <a:off x="6309360" y="2487168"/>
            <a:ext cx="5212080" cy="3639312"/>
          </a:xfrm>
          <a:prstGeom prst="rect">
            <a:avLst/>
          </a:prstGeom>
        </p:spPr>
      </p:pic>
      <p:sp>
        <p:nvSpPr>
          <p:cNvPr id="22" name="Text 1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3" name="Text 2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ÉTAPE 3</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Créer un LOT</a:t>
            </a:r>
            <a:endParaRPr lang="en-US" sz="3200" dirty="0"/>
          </a:p>
        </p:txBody>
      </p:sp>
      <p:sp>
        <p:nvSpPr>
          <p:cNvPr id="6" name="Text 4"/>
          <p:cNvSpPr/>
          <p:nvPr/>
        </p:nvSpPr>
        <p:spPr>
          <a:xfrm>
            <a:off x="502920" y="2057400"/>
            <a:ext cx="5349240" cy="777240"/>
          </a:xfrm>
          <a:prstGeom prst="rect">
            <a:avLst/>
          </a:prstGeom>
          <a:noFill/>
          <a:ln/>
        </p:spPr>
        <p:txBody>
          <a:bodyPr wrap="square" lIns="0" tIns="0" rIns="0" bIns="0" rtlCol="0" anchor="ctr"/>
          <a:lstStyle/>
          <a:p>
            <a:pPr indent="0" marL="0">
              <a:lnSpc>
                <a:spcPct val="120000"/>
              </a:lnSpc>
              <a:buNone/>
            </a:pPr>
            <a:r>
              <a:rPr lang="en-US" sz="1300" dirty="0">
                <a:solidFill>
                  <a:srgbClr val="1F2937"/>
                </a:solidFill>
                <a:latin typeface="Calibri" pitchFamily="34" charset="0"/>
                <a:ea typeface="Calibri" pitchFamily="34" charset="-122"/>
                <a:cs typeface="Calibri" pitchFamily="34" charset="-120"/>
              </a:rPr>
              <a:t>Un LOT regroupe la configuration et la liste des postes d'une campagne. Création via la GUI (onglet New LOT) ou manuellement à partir de Lots\LOT-TEMPLATE.</a:t>
            </a:r>
            <a:endParaRPr lang="en-US" sz="1300" dirty="0"/>
          </a:p>
        </p:txBody>
      </p:sp>
      <p:sp>
        <p:nvSpPr>
          <p:cNvPr id="7" name="Text 5"/>
          <p:cNvSpPr/>
          <p:nvPr/>
        </p:nvSpPr>
        <p:spPr>
          <a:xfrm>
            <a:off x="502920" y="301752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Onglet « New LOT » : saisir le nom du LOT puis « Create LOT »</a:t>
            </a:r>
            <a:endParaRPr lang="en-US" sz="1250" dirty="0"/>
          </a:p>
        </p:txBody>
      </p:sp>
      <p:sp>
        <p:nvSpPr>
          <p:cNvPr id="8" name="Text 6"/>
          <p:cNvSpPr/>
          <p:nvPr/>
        </p:nvSpPr>
        <p:spPr>
          <a:xfrm>
            <a:off x="502920" y="352044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Ouvrir Computers.txt et lister les postes cibles (un par ligne)</a:t>
            </a:r>
            <a:endParaRPr lang="en-US" sz="1250" dirty="0"/>
          </a:p>
        </p:txBody>
      </p:sp>
      <p:sp>
        <p:nvSpPr>
          <p:cNvPr id="9" name="Text 7"/>
          <p:cNvSpPr/>
          <p:nvPr/>
        </p:nvSpPr>
        <p:spPr>
          <a:xfrm>
            <a:off x="502920" y="402336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Optionnel : ajouter AdDomain.txt pour restreindre l'export AD</a:t>
            </a:r>
            <a:endParaRPr lang="en-US" sz="1250" dirty="0"/>
          </a:p>
        </p:txBody>
      </p:sp>
      <p:sp>
        <p:nvSpPr>
          <p:cNvPr id="10" name="Text 8"/>
          <p:cNvSpPr/>
          <p:nvPr/>
        </p:nvSpPr>
        <p:spPr>
          <a:xfrm>
            <a:off x="502920" y="452628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Optionnel : Windows11UpgradeToolkit.config local au LOT</a:t>
            </a:r>
            <a:endParaRPr lang="en-US" sz="1250" dirty="0"/>
          </a:p>
        </p:txBody>
      </p:sp>
      <p:sp>
        <p:nvSpPr>
          <p:cNvPr id="11" name="Text 9"/>
          <p:cNvSpPr/>
          <p:nvPr/>
        </p:nvSpPr>
        <p:spPr>
          <a:xfrm>
            <a:off x="502920" y="502920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 Refresh wrappers » / Update-LotCmdWrappers.cmd si le LOT existait déjà</a:t>
            </a:r>
            <a:endParaRPr lang="en-US" sz="1250" dirty="0"/>
          </a:p>
        </p:txBody>
      </p:sp>
      <p:sp>
        <p:nvSpPr>
          <p:cNvPr id="12" name="Text 10"/>
          <p:cNvSpPr/>
          <p:nvPr/>
        </p:nvSpPr>
        <p:spPr>
          <a:xfrm>
            <a:off x="502920" y="6199632"/>
            <a:ext cx="5486400" cy="219456"/>
          </a:xfrm>
          <a:prstGeom prst="rect">
            <a:avLst/>
          </a:prstGeom>
          <a:noFill/>
          <a:ln/>
        </p:spPr>
        <p:txBody>
          <a:bodyPr wrap="square" lIns="0" tIns="0" rIns="0" bIns="0" rtlCol="0" anchor="ctr"/>
          <a:lstStyle/>
          <a:p>
            <a:pPr indent="0" marL="0">
              <a:buNone/>
            </a:pPr>
            <a:r>
              <a:rPr lang="en-US" sz="950" dirty="0">
                <a:solidFill>
                  <a:srgbClr val="5F6B7A"/>
                </a:solidFill>
                <a:latin typeface="Calibri" pitchFamily="34" charset="0"/>
                <a:ea typeface="Calibri" pitchFamily="34" charset="-122"/>
                <a:cs typeface="Calibri" pitchFamily="34" charset="-120"/>
              </a:rPr>
              <a:t>Documentation complète : </a:t>
            </a:r>
            <a:pPr indent="0" marL="0">
              <a:buNone/>
            </a:pPr>
            <a:r>
              <a:rPr lang="en-US" sz="950" u="sng" dirty="0">
                <a:solidFill>
                  <a:srgbClr val="0078D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README GitHub</a:t>
            </a:r>
            <a:endParaRPr lang="en-US" sz="950" dirty="0"/>
          </a:p>
        </p:txBody>
      </p:sp>
      <p:sp>
        <p:nvSpPr>
          <p:cNvPr id="13" name="Shape 11"/>
          <p:cNvSpPr/>
          <p:nvPr/>
        </p:nvSpPr>
        <p:spPr>
          <a:xfrm>
            <a:off x="6126480" y="2057400"/>
            <a:ext cx="5577840" cy="4160520"/>
          </a:xfrm>
          <a:prstGeom prst="roundRect">
            <a:avLst>
              <a:gd name="adj" fmla="val 2198"/>
            </a:avLst>
          </a:prstGeom>
          <a:solidFill>
            <a:srgbClr val="FFFFFF"/>
          </a:solidFill>
          <a:ln w="19050">
            <a:solidFill>
              <a:srgbClr val="DDE7F0"/>
            </a:solidFill>
            <a:prstDash val="solid"/>
          </a:ln>
          <a:effectLst>
            <a:outerShdw sx="100000" sy="100000" kx="0" ky="0" algn="bl" rotWithShape="0" blurRad="101600" dist="38100" dir="5400000">
              <a:srgbClr val="1F2937">
                <a:alpha val="18000"/>
              </a:srgbClr>
            </a:outerShdw>
          </a:effectLst>
        </p:spPr>
      </p:sp>
      <p:sp>
        <p:nvSpPr>
          <p:cNvPr id="14" name="Text 12"/>
          <p:cNvSpPr/>
          <p:nvPr/>
        </p:nvSpPr>
        <p:spPr>
          <a:xfrm>
            <a:off x="6309360" y="2176272"/>
            <a:ext cx="5212080" cy="292608"/>
          </a:xfrm>
          <a:prstGeom prst="rect">
            <a:avLst/>
          </a:prstGeom>
          <a:noFill/>
          <a:ln/>
        </p:spPr>
        <p:txBody>
          <a:bodyPr wrap="square" lIns="0" tIns="0" rIns="0" bIns="0" rtlCol="0" anchor="ctr"/>
          <a:lstStyle/>
          <a:p>
            <a:pPr indent="0" marL="0">
              <a:buNone/>
            </a:pPr>
            <a:r>
              <a:rPr lang="en-US" sz="1050" b="1" dirty="0">
                <a:solidFill>
                  <a:srgbClr val="5F6B7A"/>
                </a:solidFill>
                <a:latin typeface="Calibri" pitchFamily="34" charset="0"/>
                <a:ea typeface="Calibri" pitchFamily="34" charset="-122"/>
                <a:cs typeface="Calibri" pitchFamily="34" charset="-120"/>
              </a:rPr>
              <a:t>GUI — LOT Launcher — onglet « New LOT »</a:t>
            </a:r>
            <a:endParaRPr lang="en-US" sz="1050" dirty="0"/>
          </a:p>
        </p:txBody>
      </p:sp>
      <p:pic>
        <p:nvPicPr>
          <p:cNvPr id="15" name="Image 0" descr="C:\Users\Khaled\AppData\Local\Temp\claude\C--Users-Khaled-OneDrive-Documents-SmartIntune\c5e67daa-f249-479e-bda8-772632c0f9d4\scratchpad\screens\lot-launcher-newlot-filled.png">    </p:cNvPr>
          <p:cNvPicPr>
            <a:picLocks noChangeAspect="1"/>
          </p:cNvPicPr>
          <p:nvPr/>
        </p:nvPicPr>
        <p:blipFill>
          <a:blip r:embed="rId2"/>
          <a:stretch>
            <a:fillRect/>
          </a:stretch>
        </p:blipFill>
        <p:spPr>
          <a:xfrm>
            <a:off x="6309360" y="2487168"/>
            <a:ext cx="5212080" cy="3639312"/>
          </a:xfrm>
          <a:prstGeom prst="rect">
            <a:avLst/>
          </a:prstGeom>
        </p:spPr>
      </p:pic>
      <p:sp>
        <p:nvSpPr>
          <p:cNvPr id="16" name="Text 1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17" name="Text 1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ÉTAPE 4</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Options et garde-fous (guardrails)</a:t>
            </a:r>
            <a:endParaRPr lang="en-US" sz="3200" dirty="0"/>
          </a:p>
        </p:txBody>
      </p:sp>
      <p:sp>
        <p:nvSpPr>
          <p:cNvPr id="6" name="Text 4"/>
          <p:cNvSpPr/>
          <p:nvPr/>
        </p:nvSpPr>
        <p:spPr>
          <a:xfrm>
            <a:off x="502920" y="2057400"/>
            <a:ext cx="11155680" cy="5029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Calibri" pitchFamily="34" charset="0"/>
                <a:ea typeface="Calibri" pitchFamily="34" charset="-122"/>
                <a:cs typeface="Calibri" pitchFamily="34" charset="-120"/>
              </a:rPr>
              <a:t>Le script endpoint est diagnostic-only sauf activation explicite des switches -Allow*. Les wrappers LOT sont action-ready par défaut ; les appels PowerShell directs restent désactivés par défaut.</a:t>
            </a:r>
            <a:endParaRPr lang="en-US" sz="1250" dirty="0"/>
          </a:p>
        </p:txBody>
      </p:sp>
      <p:sp>
        <p:nvSpPr>
          <p:cNvPr id="7" name="Shape 5"/>
          <p:cNvSpPr/>
          <p:nvPr/>
        </p:nvSpPr>
        <p:spPr>
          <a:xfrm>
            <a:off x="502920" y="2651760"/>
            <a:ext cx="5532120" cy="576072"/>
          </a:xfrm>
          <a:prstGeom prst="roundRect">
            <a:avLst>
              <a:gd name="adj" fmla="val 9524"/>
            </a:avLst>
          </a:prstGeom>
          <a:solidFill>
            <a:srgbClr val="F5F8FB"/>
          </a:solidFill>
          <a:ln w="12700">
            <a:solidFill>
              <a:srgbClr val="DDE7F0"/>
            </a:solidFill>
            <a:prstDash val="solid"/>
          </a:ln>
        </p:spPr>
      </p:sp>
      <p:sp>
        <p:nvSpPr>
          <p:cNvPr id="8" name="Text 6"/>
          <p:cNvSpPr/>
          <p:nvPr/>
        </p:nvSpPr>
        <p:spPr>
          <a:xfrm>
            <a:off x="667512" y="2706624"/>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-AllowPolicyRepair</a:t>
            </a:r>
            <a:endParaRPr lang="en-US" sz="1150" dirty="0"/>
          </a:p>
        </p:txBody>
      </p:sp>
      <p:sp>
        <p:nvSpPr>
          <p:cNvPr id="9" name="Text 7"/>
          <p:cNvSpPr/>
          <p:nvPr/>
        </p:nvSpPr>
        <p:spPr>
          <a:xfrm>
            <a:off x="667512" y="2944368"/>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Retire les blocages WU hérités (WSUS, UseWUServer, NoAutoUpdate, TargetReleaseVersion).</a:t>
            </a:r>
            <a:endParaRPr lang="en-US" sz="980" dirty="0"/>
          </a:p>
        </p:txBody>
      </p:sp>
      <p:sp>
        <p:nvSpPr>
          <p:cNvPr id="10" name="Shape 8"/>
          <p:cNvSpPr/>
          <p:nvPr/>
        </p:nvSpPr>
        <p:spPr>
          <a:xfrm>
            <a:off x="6172200" y="2651760"/>
            <a:ext cx="5532120" cy="576072"/>
          </a:xfrm>
          <a:prstGeom prst="roundRect">
            <a:avLst>
              <a:gd name="adj" fmla="val 9524"/>
            </a:avLst>
          </a:prstGeom>
          <a:solidFill>
            <a:srgbClr val="F5F8FB"/>
          </a:solidFill>
          <a:ln w="12700">
            <a:solidFill>
              <a:srgbClr val="DDE7F0"/>
            </a:solidFill>
            <a:prstDash val="solid"/>
          </a:ln>
        </p:spPr>
      </p:sp>
      <p:sp>
        <p:nvSpPr>
          <p:cNvPr id="11" name="Text 9"/>
          <p:cNvSpPr/>
          <p:nvPr/>
        </p:nvSpPr>
        <p:spPr>
          <a:xfrm>
            <a:off x="6336792" y="2706624"/>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-AllowWUReset</a:t>
            </a:r>
            <a:endParaRPr lang="en-US" sz="1150" dirty="0"/>
          </a:p>
        </p:txBody>
      </p:sp>
      <p:sp>
        <p:nvSpPr>
          <p:cNvPr id="12" name="Text 10"/>
          <p:cNvSpPr/>
          <p:nvPr/>
        </p:nvSpPr>
        <p:spPr>
          <a:xfrm>
            <a:off x="6336792" y="2944368"/>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Réinitialise le cache et les services Windows Update.</a:t>
            </a:r>
            <a:endParaRPr lang="en-US" sz="980" dirty="0"/>
          </a:p>
        </p:txBody>
      </p:sp>
      <p:sp>
        <p:nvSpPr>
          <p:cNvPr id="13" name="Shape 11"/>
          <p:cNvSpPr/>
          <p:nvPr/>
        </p:nvSpPr>
        <p:spPr>
          <a:xfrm>
            <a:off x="502920" y="3319272"/>
            <a:ext cx="5532120" cy="576072"/>
          </a:xfrm>
          <a:prstGeom prst="roundRect">
            <a:avLst>
              <a:gd name="adj" fmla="val 9524"/>
            </a:avLst>
          </a:prstGeom>
          <a:solidFill>
            <a:srgbClr val="F5F8FB"/>
          </a:solidFill>
          <a:ln w="12700">
            <a:solidFill>
              <a:srgbClr val="DDE7F0"/>
            </a:solidFill>
            <a:prstDash val="solid"/>
          </a:ln>
        </p:spPr>
      </p:sp>
      <p:sp>
        <p:nvSpPr>
          <p:cNvPr id="14" name="Text 12"/>
          <p:cNvSpPr/>
          <p:nvPr/>
        </p:nvSpPr>
        <p:spPr>
          <a:xfrm>
            <a:off x="667512" y="3374136"/>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-AllowForceUpgrade</a:t>
            </a:r>
            <a:endParaRPr lang="en-US" sz="1150" dirty="0"/>
          </a:p>
        </p:txBody>
      </p:sp>
      <p:sp>
        <p:nvSpPr>
          <p:cNvPr id="15" name="Text 13"/>
          <p:cNvSpPr/>
          <p:nvPr/>
        </p:nvSpPr>
        <p:spPr>
          <a:xfrm>
            <a:off x="667512" y="3611880"/>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Déclenche le scan/téléchargement/installation via les API Windows Update et UsoClient.</a:t>
            </a:r>
            <a:endParaRPr lang="en-US" sz="980" dirty="0"/>
          </a:p>
        </p:txBody>
      </p:sp>
      <p:sp>
        <p:nvSpPr>
          <p:cNvPr id="16" name="Shape 14"/>
          <p:cNvSpPr/>
          <p:nvPr/>
        </p:nvSpPr>
        <p:spPr>
          <a:xfrm>
            <a:off x="6172200" y="3319272"/>
            <a:ext cx="5532120" cy="576072"/>
          </a:xfrm>
          <a:prstGeom prst="roundRect">
            <a:avLst>
              <a:gd name="adj" fmla="val 9524"/>
            </a:avLst>
          </a:prstGeom>
          <a:solidFill>
            <a:srgbClr val="F5F8FB"/>
          </a:solidFill>
          <a:ln w="12700">
            <a:solidFill>
              <a:srgbClr val="DDE7F0"/>
            </a:solidFill>
            <a:prstDash val="solid"/>
          </a:ln>
        </p:spPr>
      </p:sp>
      <p:sp>
        <p:nvSpPr>
          <p:cNvPr id="17" name="Text 15"/>
          <p:cNvSpPr/>
          <p:nvPr/>
        </p:nvSpPr>
        <p:spPr>
          <a:xfrm>
            <a:off x="6336792" y="3374136"/>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-AllowSetupUpgrade</a:t>
            </a:r>
            <a:endParaRPr lang="en-US" sz="1150" dirty="0"/>
          </a:p>
        </p:txBody>
      </p:sp>
      <p:sp>
        <p:nvSpPr>
          <p:cNvPr id="18" name="Text 16"/>
          <p:cNvSpPr/>
          <p:nvPr/>
        </p:nvSpPr>
        <p:spPr>
          <a:xfrm>
            <a:off x="6336792" y="3611880"/>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Démarre l'upgrade Windows Setup après validation du média et des prérequis.</a:t>
            </a:r>
            <a:endParaRPr lang="en-US" sz="980" dirty="0"/>
          </a:p>
        </p:txBody>
      </p:sp>
      <p:sp>
        <p:nvSpPr>
          <p:cNvPr id="19" name="Shape 17"/>
          <p:cNvSpPr/>
          <p:nvPr/>
        </p:nvSpPr>
        <p:spPr>
          <a:xfrm>
            <a:off x="502920" y="3986784"/>
            <a:ext cx="5532120" cy="576072"/>
          </a:xfrm>
          <a:prstGeom prst="roundRect">
            <a:avLst>
              <a:gd name="adj" fmla="val 9524"/>
            </a:avLst>
          </a:prstGeom>
          <a:solidFill>
            <a:srgbClr val="F5F8FB"/>
          </a:solidFill>
          <a:ln w="12700">
            <a:solidFill>
              <a:srgbClr val="DDE7F0"/>
            </a:solidFill>
            <a:prstDash val="solid"/>
          </a:ln>
        </p:spPr>
      </p:sp>
      <p:sp>
        <p:nvSpPr>
          <p:cNvPr id="20" name="Text 18"/>
          <p:cNvSpPr/>
          <p:nvPr/>
        </p:nvSpPr>
        <p:spPr>
          <a:xfrm>
            <a:off x="667512" y="4041648"/>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-AllowReboot</a:t>
            </a:r>
            <a:endParaRPr lang="en-US" sz="1150" dirty="0"/>
          </a:p>
        </p:txBody>
      </p:sp>
      <p:sp>
        <p:nvSpPr>
          <p:cNvPr id="21" name="Text 19"/>
          <p:cNvSpPr/>
          <p:nvPr/>
        </p:nvSpPr>
        <p:spPr>
          <a:xfrm>
            <a:off x="667512" y="4279392"/>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Autorise un redémarrage contrôlé quand un reboot en attente bloque la progression.</a:t>
            </a:r>
            <a:endParaRPr lang="en-US" sz="980" dirty="0"/>
          </a:p>
        </p:txBody>
      </p:sp>
      <p:sp>
        <p:nvSpPr>
          <p:cNvPr id="22" name="Shape 20"/>
          <p:cNvSpPr/>
          <p:nvPr/>
        </p:nvSpPr>
        <p:spPr>
          <a:xfrm>
            <a:off x="6172200" y="3986784"/>
            <a:ext cx="5532120" cy="576072"/>
          </a:xfrm>
          <a:prstGeom prst="roundRect">
            <a:avLst>
              <a:gd name="adj" fmla="val 9524"/>
            </a:avLst>
          </a:prstGeom>
          <a:solidFill>
            <a:srgbClr val="F5F8FB"/>
          </a:solidFill>
          <a:ln w="12700">
            <a:solidFill>
              <a:srgbClr val="DDE7F0"/>
            </a:solidFill>
            <a:prstDash val="solid"/>
          </a:ln>
        </p:spPr>
      </p:sp>
      <p:sp>
        <p:nvSpPr>
          <p:cNvPr id="23" name="Text 21"/>
          <p:cNvSpPr/>
          <p:nvPr/>
        </p:nvSpPr>
        <p:spPr>
          <a:xfrm>
            <a:off x="6336792" y="4041648"/>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-AllowDiskCleanup</a:t>
            </a:r>
            <a:endParaRPr lang="en-US" sz="1150" dirty="0"/>
          </a:p>
        </p:txBody>
      </p:sp>
      <p:sp>
        <p:nvSpPr>
          <p:cNvPr id="24" name="Text 22"/>
          <p:cNvSpPr/>
          <p:nvPr/>
        </p:nvSpPr>
        <p:spPr>
          <a:xfrm>
            <a:off x="6336792" y="4279392"/>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Nettoyage sûr (caches reconstructibles, anciens logs) si l'espace disque est insuffisant.</a:t>
            </a:r>
            <a:endParaRPr lang="en-US" sz="980" dirty="0"/>
          </a:p>
        </p:txBody>
      </p:sp>
      <p:sp>
        <p:nvSpPr>
          <p:cNvPr id="25" name="Shape 23"/>
          <p:cNvSpPr/>
          <p:nvPr/>
        </p:nvSpPr>
        <p:spPr>
          <a:xfrm>
            <a:off x="502920" y="4654296"/>
            <a:ext cx="5532120" cy="576072"/>
          </a:xfrm>
          <a:prstGeom prst="roundRect">
            <a:avLst>
              <a:gd name="adj" fmla="val 9524"/>
            </a:avLst>
          </a:prstGeom>
          <a:solidFill>
            <a:srgbClr val="F5F8FB"/>
          </a:solidFill>
          <a:ln w="12700">
            <a:solidFill>
              <a:srgbClr val="DDE7F0"/>
            </a:solidFill>
            <a:prstDash val="solid"/>
          </a:ln>
        </p:spPr>
      </p:sp>
      <p:sp>
        <p:nvSpPr>
          <p:cNvPr id="26" name="Text 24"/>
          <p:cNvSpPr/>
          <p:nvPr/>
        </p:nvSpPr>
        <p:spPr>
          <a:xfrm>
            <a:off x="667512" y="4709160"/>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-AuditOnly</a:t>
            </a:r>
            <a:endParaRPr lang="en-US" sz="1150" dirty="0"/>
          </a:p>
        </p:txBody>
      </p:sp>
      <p:sp>
        <p:nvSpPr>
          <p:cNvPr id="27" name="Text 25"/>
          <p:cNvSpPr/>
          <p:nvPr/>
        </p:nvSpPr>
        <p:spPr>
          <a:xfrm>
            <a:off x="667512" y="4946904"/>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Rapporte les actions qui seraient menées, sans exécuter de réparation ni d'upgrade.</a:t>
            </a:r>
            <a:endParaRPr lang="en-US" sz="980" dirty="0"/>
          </a:p>
        </p:txBody>
      </p:sp>
      <p:sp>
        <p:nvSpPr>
          <p:cNvPr id="28" name="Text 26"/>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9" name="Text 2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ÉTAPE 5</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Lancer un run</a:t>
            </a:r>
            <a:endParaRPr lang="en-US" sz="3200" dirty="0"/>
          </a:p>
        </p:txBody>
      </p:sp>
      <p:sp>
        <p:nvSpPr>
          <p:cNvPr id="6" name="Shape 4"/>
          <p:cNvSpPr/>
          <p:nvPr/>
        </p:nvSpPr>
        <p:spPr>
          <a:xfrm>
            <a:off x="502920" y="2103120"/>
            <a:ext cx="5349240" cy="1417320"/>
          </a:xfrm>
          <a:prstGeom prst="roundRect">
            <a:avLst>
              <a:gd name="adj" fmla="val 5161"/>
            </a:avLst>
          </a:prstGeom>
          <a:solidFill>
            <a:srgbClr val="0B1030"/>
          </a:solidFill>
          <a:ln/>
        </p:spPr>
      </p:sp>
      <p:sp>
        <p:nvSpPr>
          <p:cNvPr id="7" name="Text 5"/>
          <p:cNvSpPr/>
          <p:nvPr/>
        </p:nvSpPr>
        <p:spPr>
          <a:xfrm>
            <a:off x="731520" y="2240280"/>
            <a:ext cx="4892040" cy="1188720"/>
          </a:xfrm>
          <a:prstGeom prst="rect">
            <a:avLst/>
          </a:prstGeom>
          <a:noFill/>
          <a:ln/>
        </p:spPr>
        <p:txBody>
          <a:bodyPr wrap="square" lIns="0" tIns="0" rIns="0" bIns="0" rtlCol="0" anchor="ctr"/>
          <a:lstStyle/>
          <a:p>
            <a:pPr indent="0" marL="0">
              <a:lnSpc>
                <a:spcPct val="115000"/>
              </a:lnSpc>
              <a:buNone/>
            </a:pPr>
            <a:r>
              <a:rPr lang="en-US" sz="1000" i="1" dirty="0">
                <a:solidFill>
                  <a:srgbClr val="6C7BB8"/>
                </a:solidFill>
                <a:latin typeface="Consolas" pitchFamily="34" charset="0"/>
                <a:ea typeface="Consolas" pitchFamily="34" charset="-122"/>
                <a:cs typeface="Consolas" pitchFamily="34" charset="-120"/>
              </a:rPr>
              <a:t>REM Ouvrir la GUI
</a:t>
            </a:r>
            <a:pPr indent="0" marL="0">
              <a:lnSpc>
                <a:spcPct val="115000"/>
              </a:lnSpc>
              <a:buNone/>
            </a:pPr>
            <a:r>
              <a:rPr lang="en-US" sz="1000" dirty="0">
                <a:solidFill>
                  <a:srgbClr val="9EE6B8"/>
                </a:solidFill>
                <a:latin typeface="Consolas" pitchFamily="34" charset="0"/>
                <a:ea typeface="Consolas" pitchFamily="34" charset="-122"/>
                <a:cs typeface="Consolas" pitchFamily="34" charset="-120"/>
              </a:rPr>
              <a:t>Start-Windows11UpgradeRepair-LotLauncher-GUI.cmd
</a:t>
            </a:r>
            <a:pPr indent="0" marL="0">
              <a:lnSpc>
                <a:spcPct val="115000"/>
              </a:lnSpc>
              <a:buNone/>
            </a:pPr>
            <a:r>
              <a:rPr lang="en-US" sz="1000" i="1" dirty="0">
                <a:solidFill>
                  <a:srgbClr val="6C7BB8"/>
                </a:solidFill>
                <a:latin typeface="Consolas" pitchFamily="34" charset="0"/>
                <a:ea typeface="Consolas" pitchFamily="34" charset="-122"/>
                <a:cs typeface="Consolas" pitchFamily="34" charset="-120"/>
              </a:rPr>
              <a:t>REM Lancer un LOT une fois (CMD)
</a:t>
            </a:r>
            <a:pPr indent="0" marL="0">
              <a:lnSpc>
                <a:spcPct val="115000"/>
              </a:lnSpc>
              <a:buNone/>
            </a:pPr>
            <a:r>
              <a:rPr lang="en-US" sz="1000" dirty="0">
                <a:solidFill>
                  <a:srgbClr val="9EE6B8"/>
                </a:solidFill>
                <a:latin typeface="Consolas" pitchFamily="34" charset="0"/>
                <a:ea typeface="Consolas" pitchFamily="34" charset="-122"/>
                <a:cs typeface="Consolas" pitchFamily="34" charset="-120"/>
              </a:rPr>
              <a:t>Lots\LOT-A\Run-...-PsExec-Once.cmd</a:t>
            </a:r>
            <a:endParaRPr lang="en-US" sz="1000" dirty="0"/>
          </a:p>
        </p:txBody>
      </p:sp>
      <p:sp>
        <p:nvSpPr>
          <p:cNvPr id="8" name="Text 6"/>
          <p:cNvSpPr/>
          <p:nvPr/>
        </p:nvSpPr>
        <p:spPr>
          <a:xfrm>
            <a:off x="502920" y="3703320"/>
            <a:ext cx="5349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Recommandé : premier passage en -AuditOnly</a:t>
            </a:r>
            <a:endParaRPr lang="en-US" sz="1300" dirty="0"/>
          </a:p>
        </p:txBody>
      </p:sp>
      <p:sp>
        <p:nvSpPr>
          <p:cNvPr id="9" name="Shape 7"/>
          <p:cNvSpPr/>
          <p:nvPr/>
        </p:nvSpPr>
        <p:spPr>
          <a:xfrm>
            <a:off x="502920" y="4069080"/>
            <a:ext cx="5349240" cy="960120"/>
          </a:xfrm>
          <a:prstGeom prst="roundRect">
            <a:avLst>
              <a:gd name="adj" fmla="val 7619"/>
            </a:avLst>
          </a:prstGeom>
          <a:solidFill>
            <a:srgbClr val="0B1030"/>
          </a:solidFill>
          <a:ln/>
        </p:spPr>
      </p:sp>
      <p:sp>
        <p:nvSpPr>
          <p:cNvPr id="10" name="Text 8"/>
          <p:cNvSpPr/>
          <p:nvPr/>
        </p:nvSpPr>
        <p:spPr>
          <a:xfrm>
            <a:off x="731520" y="4187952"/>
            <a:ext cx="4892040" cy="731520"/>
          </a:xfrm>
          <a:prstGeom prst="rect">
            <a:avLst/>
          </a:prstGeom>
          <a:noFill/>
          <a:ln/>
        </p:spPr>
        <p:txBody>
          <a:bodyPr wrap="square" lIns="0" tIns="0" rIns="0" bIns="0" rtlCol="0" anchor="ctr"/>
          <a:lstStyle/>
          <a:p>
            <a:pPr indent="0" marL="0">
              <a:lnSpc>
                <a:spcPct val="115000"/>
              </a:lnSpc>
              <a:buNone/>
            </a:pPr>
            <a:r>
              <a:rPr lang="en-US" sz="1000" dirty="0">
                <a:solidFill>
                  <a:srgbClr val="7FD1FF"/>
                </a:solidFill>
                <a:latin typeface="Consolas" pitchFamily="34" charset="0"/>
                <a:ea typeface="Consolas" pitchFamily="34" charset="-122"/>
                <a:cs typeface="Consolas" pitchFamily="34" charset="-120"/>
              </a:rPr>
              <a:t>.\Scripts\SmartM365-Invoke-Windows11UpgradeRepairWithPsExec.ps1 `</a:t>
            </a:r>
            <a:endParaRPr lang="en-US" sz="1000" dirty="0"/>
          </a:p>
          <a:p>
            <a:pPr indent="0" marL="0">
              <a:lnSpc>
                <a:spcPct val="115000"/>
              </a:lnSpc>
              <a:buNone/>
            </a:pPr>
            <a:r>
              <a:rPr lang="en-US" sz="1000" dirty="0">
                <a:solidFill>
                  <a:srgbClr val="7FD1FF"/>
                </a:solidFill>
                <a:latin typeface="Consolas" pitchFamily="34" charset="0"/>
                <a:ea typeface="Consolas" pitchFamily="34" charset="-122"/>
                <a:cs typeface="Consolas" pitchFamily="34" charset="-120"/>
              </a:rPr>
              <a:t>  -ComputerListPath .\Lots\LOT-A\Computers.txt -RunOnce -AuditOnly</a:t>
            </a:r>
            <a:endParaRPr lang="en-US" sz="1000" dirty="0"/>
          </a:p>
        </p:txBody>
      </p:sp>
      <p:sp>
        <p:nvSpPr>
          <p:cNvPr id="11" name="Text 9"/>
          <p:cNvSpPr/>
          <p:nvPr/>
        </p:nvSpPr>
        <p:spPr>
          <a:xfrm>
            <a:off x="502920" y="5166360"/>
            <a:ext cx="5349240" cy="777240"/>
          </a:xfrm>
          <a:prstGeom prst="rect">
            <a:avLst/>
          </a:prstGeom>
          <a:noFill/>
          <a:ln/>
        </p:spPr>
        <p:txBody>
          <a:bodyPr wrap="square" lIns="0" tIns="0" rIns="0" bIns="0" rtlCol="0" anchor="ctr"/>
          <a:lstStyle/>
          <a:p>
            <a:pPr indent="0" marL="0">
              <a:lnSpc>
                <a:spcPct val="120000"/>
              </a:lnSpc>
              <a:buNone/>
            </a:pPr>
            <a:r>
              <a:rPr lang="en-US" sz="1100" dirty="0">
                <a:solidFill>
                  <a:srgbClr val="5F6B7A"/>
                </a:solidFill>
                <a:latin typeface="Calibri" pitchFamily="34" charset="0"/>
                <a:ea typeface="Calibri" pitchFamily="34" charset="-122"/>
                <a:cs typeface="Calibri" pitchFamily="34" charset="-120"/>
              </a:rPr>
              <a:t>La GUI pré-remplit son onglet Options depuis Windows11UpgradeToolkit.config. Les valeurs visibles dans la GUI priment sur la config LOT au lancement.</a:t>
            </a:r>
            <a:endParaRPr lang="en-US" sz="1100" dirty="0"/>
          </a:p>
        </p:txBody>
      </p:sp>
      <p:sp>
        <p:nvSpPr>
          <p:cNvPr id="12" name="Shape 10"/>
          <p:cNvSpPr/>
          <p:nvPr/>
        </p:nvSpPr>
        <p:spPr>
          <a:xfrm>
            <a:off x="6126480" y="2057400"/>
            <a:ext cx="5577840" cy="4160520"/>
          </a:xfrm>
          <a:prstGeom prst="roundRect">
            <a:avLst>
              <a:gd name="adj" fmla="val 2198"/>
            </a:avLst>
          </a:prstGeom>
          <a:solidFill>
            <a:srgbClr val="FFFFFF"/>
          </a:solidFill>
          <a:ln w="19050">
            <a:solidFill>
              <a:srgbClr val="DDE7F0"/>
            </a:solidFill>
            <a:prstDash val="solid"/>
          </a:ln>
          <a:effectLst>
            <a:outerShdw sx="100000" sy="100000" kx="0" ky="0" algn="bl" rotWithShape="0" blurRad="101600" dist="38100" dir="5400000">
              <a:srgbClr val="1F2937">
                <a:alpha val="18000"/>
              </a:srgbClr>
            </a:outerShdw>
          </a:effectLst>
        </p:spPr>
      </p:sp>
      <p:sp>
        <p:nvSpPr>
          <p:cNvPr id="13" name="Text 11"/>
          <p:cNvSpPr/>
          <p:nvPr/>
        </p:nvSpPr>
        <p:spPr>
          <a:xfrm>
            <a:off x="6309360" y="2176272"/>
            <a:ext cx="5212080" cy="292608"/>
          </a:xfrm>
          <a:prstGeom prst="rect">
            <a:avLst/>
          </a:prstGeom>
          <a:noFill/>
          <a:ln/>
        </p:spPr>
        <p:txBody>
          <a:bodyPr wrap="square" lIns="0" tIns="0" rIns="0" bIns="0" rtlCol="0" anchor="ctr"/>
          <a:lstStyle/>
          <a:p>
            <a:pPr indent="0" marL="0">
              <a:buNone/>
            </a:pPr>
            <a:r>
              <a:rPr lang="en-US" sz="1050" b="1" dirty="0">
                <a:solidFill>
                  <a:srgbClr val="5F6B7A"/>
                </a:solidFill>
                <a:latin typeface="Calibri" pitchFamily="34" charset="0"/>
                <a:ea typeface="Calibri" pitchFamily="34" charset="-122"/>
                <a:cs typeface="Calibri" pitchFamily="34" charset="-120"/>
              </a:rPr>
              <a:t>GUI — LOT Launcher — onglet « Options »</a:t>
            </a:r>
            <a:endParaRPr lang="en-US" sz="1050" dirty="0"/>
          </a:p>
        </p:txBody>
      </p:sp>
      <p:pic>
        <p:nvPicPr>
          <p:cNvPr id="14" name="Image 0" descr="C:\Users\Khaled\AppData\Local\Temp\claude\C--Users-Khaled-OneDrive-Documents-SmartIntune\c5e67daa-f249-479e-bda8-772632c0f9d4\scratchpad\screens\lot-launcher-options.png">    </p:cNvPr>
          <p:cNvPicPr>
            <a:picLocks noChangeAspect="1"/>
          </p:cNvPicPr>
          <p:nvPr/>
        </p:nvPicPr>
        <p:blipFill>
          <a:blip r:embed="rId1"/>
          <a:stretch>
            <a:fillRect/>
          </a:stretch>
        </p:blipFill>
        <p:spPr>
          <a:xfrm>
            <a:off x="6309360" y="2487168"/>
            <a:ext cx="5212080" cy="3639312"/>
          </a:xfrm>
          <a:prstGeom prst="rect">
            <a:avLst/>
          </a:prstGeom>
        </p:spPr>
      </p:pic>
      <p:sp>
        <p:nvSpPr>
          <p:cNvPr id="15" name="Text 1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ÉTAPE 6</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Suivre l'exécution</a:t>
            </a:r>
            <a:endParaRPr lang="en-US" sz="3200" dirty="0"/>
          </a:p>
        </p:txBody>
      </p:sp>
      <p:sp>
        <p:nvSpPr>
          <p:cNvPr id="6" name="Text 4"/>
          <p:cNvSpPr/>
          <p:nvPr/>
        </p:nvSpPr>
        <p:spPr>
          <a:xfrm>
            <a:off x="502920" y="2057400"/>
            <a:ext cx="11155680" cy="502920"/>
          </a:xfrm>
          <a:prstGeom prst="rect">
            <a:avLst/>
          </a:prstGeom>
          <a:noFill/>
          <a:ln/>
        </p:spPr>
        <p:txBody>
          <a:bodyPr wrap="square" lIns="0" tIns="0" rIns="0" bIns="0" rtlCol="0" anchor="ctr"/>
          <a:lstStyle/>
          <a:p>
            <a:pPr indent="0" marL="0">
              <a:lnSpc>
                <a:spcPct val="120000"/>
              </a:lnSpc>
              <a:buNone/>
            </a:pPr>
            <a:r>
              <a:rPr lang="en-US" sz="1300" dirty="0">
                <a:solidFill>
                  <a:srgbClr val="1F2937"/>
                </a:solidFill>
                <a:latin typeface="Calibri" pitchFamily="34" charset="0"/>
                <a:ea typeface="Calibri" pitchFamily="34" charset="-122"/>
                <a:cs typeface="Calibri" pitchFamily="34" charset="-120"/>
              </a:rPr>
              <a:t>Chaque run écrit ses preuves sous Runs\&lt;LOT&gt;\&lt;horodatage&gt; côté opérateur, et sous C:\ProgramData\SmartM365\Windows11UpgradeToolkit côté poste cible.</a:t>
            </a:r>
            <a:endParaRPr lang="en-US" sz="1300" dirty="0"/>
          </a:p>
        </p:txBody>
      </p:sp>
      <p:sp>
        <p:nvSpPr>
          <p:cNvPr id="7" name="Shape 5"/>
          <p:cNvSpPr/>
          <p:nvPr/>
        </p:nvSpPr>
        <p:spPr>
          <a:xfrm>
            <a:off x="502920" y="2743200"/>
            <a:ext cx="2651760" cy="1737360"/>
          </a:xfrm>
          <a:prstGeom prst="roundRect">
            <a:avLst>
              <a:gd name="adj" fmla="val 4211"/>
            </a:avLst>
          </a:prstGeom>
          <a:solidFill>
            <a:srgbClr val="1E2761"/>
          </a:solidFill>
          <a:ln/>
        </p:spPr>
      </p:sp>
      <p:sp>
        <p:nvSpPr>
          <p:cNvPr id="8" name="Text 6"/>
          <p:cNvSpPr/>
          <p:nvPr/>
        </p:nvSpPr>
        <p:spPr>
          <a:xfrm>
            <a:off x="68580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Logs</a:t>
            </a:r>
            <a:endParaRPr lang="en-US" sz="1400" dirty="0"/>
          </a:p>
        </p:txBody>
      </p:sp>
      <p:sp>
        <p:nvSpPr>
          <p:cNvPr id="9" name="Text 7"/>
          <p:cNvSpPr/>
          <p:nvPr/>
        </p:nvSpPr>
        <p:spPr>
          <a:xfrm>
            <a:off x="68580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Journaux détaillés de l'orchestrateur et de chaque worker PsExec.</a:t>
            </a:r>
            <a:endParaRPr lang="en-US" sz="1050" dirty="0"/>
          </a:p>
        </p:txBody>
      </p:sp>
      <p:sp>
        <p:nvSpPr>
          <p:cNvPr id="10" name="Shape 8"/>
          <p:cNvSpPr/>
          <p:nvPr/>
        </p:nvSpPr>
        <p:spPr>
          <a:xfrm>
            <a:off x="3337560" y="2743200"/>
            <a:ext cx="2651760" cy="1737360"/>
          </a:xfrm>
          <a:prstGeom prst="roundRect">
            <a:avLst>
              <a:gd name="adj" fmla="val 4211"/>
            </a:avLst>
          </a:prstGeom>
          <a:solidFill>
            <a:srgbClr val="1E2761"/>
          </a:solidFill>
          <a:ln/>
        </p:spPr>
      </p:sp>
      <p:sp>
        <p:nvSpPr>
          <p:cNvPr id="11" name="Text 9"/>
          <p:cNvSpPr/>
          <p:nvPr/>
        </p:nvSpPr>
        <p:spPr>
          <a:xfrm>
            <a:off x="352044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PsExecLogs</a:t>
            </a:r>
            <a:endParaRPr lang="en-US" sz="1400" dirty="0"/>
          </a:p>
        </p:txBody>
      </p:sp>
      <p:sp>
        <p:nvSpPr>
          <p:cNvPr id="12" name="Text 10"/>
          <p:cNvSpPr/>
          <p:nvPr/>
        </p:nvSpPr>
        <p:spPr>
          <a:xfrm>
            <a:off x="352044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Sorties brutes de chaque appel PsExec par poste.</a:t>
            </a:r>
            <a:endParaRPr lang="en-US" sz="1050" dirty="0"/>
          </a:p>
        </p:txBody>
      </p:sp>
      <p:sp>
        <p:nvSpPr>
          <p:cNvPr id="13" name="Shape 11"/>
          <p:cNvSpPr/>
          <p:nvPr/>
        </p:nvSpPr>
        <p:spPr>
          <a:xfrm>
            <a:off x="6172200" y="2743200"/>
            <a:ext cx="2651760" cy="1737360"/>
          </a:xfrm>
          <a:prstGeom prst="roundRect">
            <a:avLst>
              <a:gd name="adj" fmla="val 4211"/>
            </a:avLst>
          </a:prstGeom>
          <a:solidFill>
            <a:srgbClr val="1E2761"/>
          </a:solidFill>
          <a:ln/>
        </p:spPr>
      </p:sp>
      <p:sp>
        <p:nvSpPr>
          <p:cNvPr id="14" name="Text 12"/>
          <p:cNvSpPr/>
          <p:nvPr/>
        </p:nvSpPr>
        <p:spPr>
          <a:xfrm>
            <a:off x="635508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Reports</a:t>
            </a:r>
            <a:endParaRPr lang="en-US" sz="1400" dirty="0"/>
          </a:p>
        </p:txBody>
      </p:sp>
      <p:sp>
        <p:nvSpPr>
          <p:cNvPr id="15" name="Text 13"/>
          <p:cNvSpPr/>
          <p:nvPr/>
        </p:nvSpPr>
        <p:spPr>
          <a:xfrm>
            <a:off x="635508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Rapports HTML de cycle (live puis final) et CSV de synthèse.</a:t>
            </a:r>
            <a:endParaRPr lang="en-US" sz="1050" dirty="0"/>
          </a:p>
        </p:txBody>
      </p:sp>
      <p:sp>
        <p:nvSpPr>
          <p:cNvPr id="16" name="Shape 14"/>
          <p:cNvSpPr/>
          <p:nvPr/>
        </p:nvSpPr>
        <p:spPr>
          <a:xfrm>
            <a:off x="9006840" y="2743200"/>
            <a:ext cx="2651760" cy="1737360"/>
          </a:xfrm>
          <a:prstGeom prst="roundRect">
            <a:avLst>
              <a:gd name="adj" fmla="val 4211"/>
            </a:avLst>
          </a:prstGeom>
          <a:solidFill>
            <a:srgbClr val="1E2761"/>
          </a:solidFill>
          <a:ln/>
        </p:spPr>
      </p:sp>
      <p:sp>
        <p:nvSpPr>
          <p:cNvPr id="17" name="Text 15"/>
          <p:cNvSpPr/>
          <p:nvPr/>
        </p:nvSpPr>
        <p:spPr>
          <a:xfrm>
            <a:off x="918972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CentralLogs</a:t>
            </a:r>
            <a:endParaRPr lang="en-US" sz="1400" dirty="0"/>
          </a:p>
        </p:txBody>
      </p:sp>
      <p:sp>
        <p:nvSpPr>
          <p:cNvPr id="18" name="Text 16"/>
          <p:cNvSpPr/>
          <p:nvPr/>
        </p:nvSpPr>
        <p:spPr>
          <a:xfrm>
            <a:off x="918972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Preuves par catégorie : Success, Compatibility, InsufficientDisk, Errors, ...</a:t>
            </a:r>
            <a:endParaRPr lang="en-US" sz="1050" dirty="0"/>
          </a:p>
        </p:txBody>
      </p:sp>
      <p:sp>
        <p:nvSpPr>
          <p:cNvPr id="19" name="Shape 17"/>
          <p:cNvSpPr/>
          <p:nvPr/>
        </p:nvSpPr>
        <p:spPr>
          <a:xfrm>
            <a:off x="502920" y="4553712"/>
            <a:ext cx="11201400" cy="310896"/>
          </a:xfrm>
          <a:prstGeom prst="roundRect">
            <a:avLst>
              <a:gd name="adj" fmla="val 23529"/>
            </a:avLst>
          </a:prstGeom>
          <a:solidFill>
            <a:srgbClr val="E6F4FF"/>
          </a:solidFill>
          <a:ln/>
        </p:spPr>
      </p:sp>
      <p:sp>
        <p:nvSpPr>
          <p:cNvPr id="20" name="Text 18"/>
          <p:cNvSpPr/>
          <p:nvPr/>
        </p:nvSpPr>
        <p:spPr>
          <a:xfrm>
            <a:off x="685800" y="4553712"/>
            <a:ext cx="10881360" cy="31089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Rapport HTML : </a:t>
            </a:r>
            <a:pPr indent="0" marL="0">
              <a:buNone/>
            </a:pPr>
            <a:r>
              <a:rPr lang="en-US" sz="1050" dirty="0">
                <a:solidFill>
                  <a:srgbClr val="1E2761"/>
                </a:solidFill>
                <a:latin typeface="Consolas" pitchFamily="34" charset="0"/>
                <a:ea typeface="Consolas" pitchFamily="34" charset="-122"/>
                <a:cs typeface="Consolas" pitchFamily="34" charset="-120"/>
              </a:rPr>
              <a:t>PsExec_Windows11Upgrade_Summary_&lt;LOT&gt;_&lt;horodatage&gt;.html</a:t>
            </a:r>
            <a:pPr indent="0" marL="0">
              <a:buNone/>
            </a:pPr>
            <a:r>
              <a:rPr lang="en-US" sz="1050" dirty="0">
                <a:solidFill>
                  <a:srgbClr val="1E2761"/>
                </a:solidFill>
                <a:latin typeface="Calibri" pitchFamily="34" charset="0"/>
                <a:ea typeface="Calibri" pitchFamily="34" charset="-122"/>
                <a:cs typeface="Calibri" pitchFamily="34" charset="-120"/>
              </a:rPr>
              <a:t> sous Reports\ — mis à jour en direct pendant le cycle, finalisé à la fin.</a:t>
            </a:r>
            <a:endParaRPr lang="en-US" sz="1050" dirty="0"/>
          </a:p>
        </p:txBody>
      </p:sp>
      <p:sp>
        <p:nvSpPr>
          <p:cNvPr id="21" name="Text 19"/>
          <p:cNvSpPr/>
          <p:nvPr/>
        </p:nvSpPr>
        <p:spPr>
          <a:xfrm>
            <a:off x="502920" y="502920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Catégories CentralLogs (extrait)</a:t>
            </a:r>
            <a:endParaRPr lang="en-US" sz="1300" dirty="0"/>
          </a:p>
        </p:txBody>
      </p:sp>
      <p:sp>
        <p:nvSpPr>
          <p:cNvPr id="22" name="Shape 20"/>
          <p:cNvSpPr/>
          <p:nvPr/>
        </p:nvSpPr>
        <p:spPr>
          <a:xfrm>
            <a:off x="502920" y="5440680"/>
            <a:ext cx="819302" cy="347472"/>
          </a:xfrm>
          <a:prstGeom prst="roundRect">
            <a:avLst>
              <a:gd name="adj" fmla="val 50000"/>
            </a:avLst>
          </a:prstGeom>
          <a:solidFill>
            <a:srgbClr val="E6F4FF"/>
          </a:solidFill>
          <a:ln/>
        </p:spPr>
      </p:sp>
      <p:sp>
        <p:nvSpPr>
          <p:cNvPr id="23" name="Text 21"/>
          <p:cNvSpPr/>
          <p:nvPr/>
        </p:nvSpPr>
        <p:spPr>
          <a:xfrm>
            <a:off x="502920" y="5440680"/>
            <a:ext cx="819302"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Success</a:t>
            </a:r>
            <a:endParaRPr lang="en-US" sz="950" dirty="0"/>
          </a:p>
        </p:txBody>
      </p:sp>
      <p:sp>
        <p:nvSpPr>
          <p:cNvPr id="24" name="Shape 22"/>
          <p:cNvSpPr/>
          <p:nvPr/>
        </p:nvSpPr>
        <p:spPr>
          <a:xfrm>
            <a:off x="1468526" y="5440680"/>
            <a:ext cx="1302106" cy="347472"/>
          </a:xfrm>
          <a:prstGeom prst="roundRect">
            <a:avLst>
              <a:gd name="adj" fmla="val 50000"/>
            </a:avLst>
          </a:prstGeom>
          <a:solidFill>
            <a:srgbClr val="E6F4FF"/>
          </a:solidFill>
          <a:ln/>
        </p:spPr>
      </p:sp>
      <p:sp>
        <p:nvSpPr>
          <p:cNvPr id="25" name="Text 23"/>
          <p:cNvSpPr/>
          <p:nvPr/>
        </p:nvSpPr>
        <p:spPr>
          <a:xfrm>
            <a:off x="1468526" y="5440680"/>
            <a:ext cx="1302106"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Compatibility</a:t>
            </a:r>
            <a:endParaRPr lang="en-US" sz="950" dirty="0"/>
          </a:p>
        </p:txBody>
      </p:sp>
      <p:sp>
        <p:nvSpPr>
          <p:cNvPr id="26" name="Shape 24"/>
          <p:cNvSpPr/>
          <p:nvPr/>
        </p:nvSpPr>
        <p:spPr>
          <a:xfrm>
            <a:off x="2916936" y="5440680"/>
            <a:ext cx="1543507" cy="347472"/>
          </a:xfrm>
          <a:prstGeom prst="roundRect">
            <a:avLst>
              <a:gd name="adj" fmla="val 50000"/>
            </a:avLst>
          </a:prstGeom>
          <a:solidFill>
            <a:srgbClr val="E6F4FF"/>
          </a:solidFill>
          <a:ln/>
        </p:spPr>
      </p:sp>
      <p:sp>
        <p:nvSpPr>
          <p:cNvPr id="27" name="Text 25"/>
          <p:cNvSpPr/>
          <p:nvPr/>
        </p:nvSpPr>
        <p:spPr>
          <a:xfrm>
            <a:off x="2916936" y="5440680"/>
            <a:ext cx="1543507"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InsufficientDisk</a:t>
            </a:r>
            <a:endParaRPr lang="en-US" sz="950" dirty="0"/>
          </a:p>
        </p:txBody>
      </p:sp>
      <p:sp>
        <p:nvSpPr>
          <p:cNvPr id="28" name="Shape 26"/>
          <p:cNvSpPr/>
          <p:nvPr/>
        </p:nvSpPr>
        <p:spPr>
          <a:xfrm>
            <a:off x="4606747" y="5440680"/>
            <a:ext cx="2106778" cy="347472"/>
          </a:xfrm>
          <a:prstGeom prst="roundRect">
            <a:avLst>
              <a:gd name="adj" fmla="val 50000"/>
            </a:avLst>
          </a:prstGeom>
          <a:solidFill>
            <a:srgbClr val="E6F4FF"/>
          </a:solidFill>
          <a:ln/>
        </p:spPr>
      </p:sp>
      <p:sp>
        <p:nvSpPr>
          <p:cNvPr id="29" name="Text 27"/>
          <p:cNvSpPr/>
          <p:nvPr/>
        </p:nvSpPr>
        <p:spPr>
          <a:xfrm>
            <a:off x="4606747" y="5440680"/>
            <a:ext cx="2106778"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ADMIN_SHARE_UNREACHABLE</a:t>
            </a:r>
            <a:endParaRPr lang="en-US" sz="950" dirty="0"/>
          </a:p>
        </p:txBody>
      </p:sp>
      <p:sp>
        <p:nvSpPr>
          <p:cNvPr id="30" name="Shape 28"/>
          <p:cNvSpPr/>
          <p:nvPr/>
        </p:nvSpPr>
        <p:spPr>
          <a:xfrm>
            <a:off x="6859829" y="5440680"/>
            <a:ext cx="2670048" cy="347472"/>
          </a:xfrm>
          <a:prstGeom prst="roundRect">
            <a:avLst>
              <a:gd name="adj" fmla="val 50000"/>
            </a:avLst>
          </a:prstGeom>
          <a:solidFill>
            <a:srgbClr val="E6F4FF"/>
          </a:solidFill>
          <a:ln/>
        </p:spPr>
      </p:sp>
      <p:sp>
        <p:nvSpPr>
          <p:cNvPr id="31" name="Text 29"/>
          <p:cNvSpPr/>
          <p:nvPr/>
        </p:nvSpPr>
        <p:spPr>
          <a:xfrm>
            <a:off x="6859829" y="5440680"/>
            <a:ext cx="2670048"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SetupSourceLanguageUnavailable</a:t>
            </a:r>
            <a:endParaRPr lang="en-US" sz="950" dirty="0"/>
          </a:p>
        </p:txBody>
      </p:sp>
      <p:sp>
        <p:nvSpPr>
          <p:cNvPr id="32" name="Shape 30"/>
          <p:cNvSpPr/>
          <p:nvPr/>
        </p:nvSpPr>
        <p:spPr>
          <a:xfrm>
            <a:off x="502920" y="5861304"/>
            <a:ext cx="2509114" cy="347472"/>
          </a:xfrm>
          <a:prstGeom prst="roundRect">
            <a:avLst>
              <a:gd name="adj" fmla="val 50000"/>
            </a:avLst>
          </a:prstGeom>
          <a:solidFill>
            <a:srgbClr val="E6F4FF"/>
          </a:solidFill>
          <a:ln/>
        </p:spPr>
      </p:sp>
      <p:sp>
        <p:nvSpPr>
          <p:cNvPr id="33" name="Text 31"/>
          <p:cNvSpPr/>
          <p:nvPr/>
        </p:nvSpPr>
        <p:spPr>
          <a:xfrm>
            <a:off x="502920" y="5861304"/>
            <a:ext cx="2509114"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SetupMigrationProfileFailure</a:t>
            </a:r>
            <a:endParaRPr lang="en-US" sz="950" dirty="0"/>
          </a:p>
        </p:txBody>
      </p:sp>
      <p:sp>
        <p:nvSpPr>
          <p:cNvPr id="34" name="Shape 32"/>
          <p:cNvSpPr/>
          <p:nvPr/>
        </p:nvSpPr>
        <p:spPr>
          <a:xfrm>
            <a:off x="3158338" y="5861304"/>
            <a:ext cx="2267712" cy="347472"/>
          </a:xfrm>
          <a:prstGeom prst="roundRect">
            <a:avLst>
              <a:gd name="adj" fmla="val 50000"/>
            </a:avLst>
          </a:prstGeom>
          <a:solidFill>
            <a:srgbClr val="E6F4FF"/>
          </a:solidFill>
          <a:ln/>
        </p:spPr>
      </p:sp>
      <p:sp>
        <p:nvSpPr>
          <p:cNvPr id="35" name="Text 33"/>
          <p:cNvSpPr/>
          <p:nvPr/>
        </p:nvSpPr>
        <p:spPr>
          <a:xfrm>
            <a:off x="3158338" y="5861304"/>
            <a:ext cx="2267712"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SetupMediaManifestFailure</a:t>
            </a:r>
            <a:endParaRPr lang="en-US" sz="950" dirty="0"/>
          </a:p>
        </p:txBody>
      </p:sp>
      <p:sp>
        <p:nvSpPr>
          <p:cNvPr id="36" name="Shape 34"/>
          <p:cNvSpPr/>
          <p:nvPr/>
        </p:nvSpPr>
        <p:spPr>
          <a:xfrm>
            <a:off x="5572354" y="5861304"/>
            <a:ext cx="738835" cy="347472"/>
          </a:xfrm>
          <a:prstGeom prst="roundRect">
            <a:avLst>
              <a:gd name="adj" fmla="val 50000"/>
            </a:avLst>
          </a:prstGeom>
          <a:solidFill>
            <a:srgbClr val="E6F4FF"/>
          </a:solidFill>
          <a:ln/>
        </p:spPr>
      </p:sp>
      <p:sp>
        <p:nvSpPr>
          <p:cNvPr id="37" name="Text 35"/>
          <p:cNvSpPr/>
          <p:nvPr/>
        </p:nvSpPr>
        <p:spPr>
          <a:xfrm>
            <a:off x="5572354" y="5861304"/>
            <a:ext cx="738835"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Errors</a:t>
            </a:r>
            <a:endParaRPr lang="en-US" sz="950" dirty="0"/>
          </a:p>
        </p:txBody>
      </p:sp>
      <p:sp>
        <p:nvSpPr>
          <p:cNvPr id="38" name="Text 36"/>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9" name="Text 3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ÉTAPE 7</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Cas particuliers et dépannage</a:t>
            </a:r>
            <a:endParaRPr lang="en-US" sz="3200" dirty="0"/>
          </a:p>
        </p:txBody>
      </p:sp>
      <p:sp>
        <p:nvSpPr>
          <p:cNvPr id="6" name="Shape 4"/>
          <p:cNvSpPr/>
          <p:nvPr/>
        </p:nvSpPr>
        <p:spPr>
          <a:xfrm>
            <a:off x="502920" y="2057400"/>
            <a:ext cx="5440680" cy="1298448"/>
          </a:xfrm>
          <a:prstGeom prst="roundRect">
            <a:avLst>
              <a:gd name="adj" fmla="val 5634"/>
            </a:avLst>
          </a:prstGeom>
          <a:solidFill>
            <a:srgbClr val="F5F8FB"/>
          </a:solidFill>
          <a:ln w="12700">
            <a:solidFill>
              <a:srgbClr val="DDE7F0"/>
            </a:solidFill>
            <a:prstDash val="solid"/>
          </a:ln>
        </p:spPr>
      </p:sp>
      <p:sp>
        <p:nvSpPr>
          <p:cNvPr id="7" name="Text 5"/>
          <p:cNvSpPr/>
          <p:nvPr/>
        </p:nvSpPr>
        <p:spPr>
          <a:xfrm>
            <a:off x="731520" y="2194560"/>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0x8007001F — Gather data</a:t>
            </a:r>
            <a:endParaRPr lang="en-US" sz="1250" dirty="0"/>
          </a:p>
        </p:txBody>
      </p:sp>
      <p:sp>
        <p:nvSpPr>
          <p:cNvPr id="8" name="Text 6"/>
          <p:cNvSpPr/>
          <p:nvPr/>
        </p:nvSpPr>
        <p:spPr>
          <a:xfrm>
            <a:off x="731520" y="2560320"/>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Profil dupliqué dans ProfileList. Réparation ciblée possible via -AllowSetupProfileRepair après vérifications de sécurité.</a:t>
            </a:r>
            <a:endParaRPr lang="en-US" sz="1080" dirty="0"/>
          </a:p>
        </p:txBody>
      </p:sp>
      <p:sp>
        <p:nvSpPr>
          <p:cNvPr id="9" name="Shape 7"/>
          <p:cNvSpPr/>
          <p:nvPr/>
        </p:nvSpPr>
        <p:spPr>
          <a:xfrm>
            <a:off x="6263640" y="2057400"/>
            <a:ext cx="5440680" cy="1298448"/>
          </a:xfrm>
          <a:prstGeom prst="roundRect">
            <a:avLst>
              <a:gd name="adj" fmla="val 5634"/>
            </a:avLst>
          </a:prstGeom>
          <a:solidFill>
            <a:srgbClr val="F5F8FB"/>
          </a:solidFill>
          <a:ln w="12700">
            <a:solidFill>
              <a:srgbClr val="DDE7F0"/>
            </a:solidFill>
            <a:prstDash val="solid"/>
          </a:ln>
        </p:spPr>
      </p:sp>
      <p:sp>
        <p:nvSpPr>
          <p:cNvPr id="10" name="Text 8"/>
          <p:cNvSpPr/>
          <p:nvPr/>
        </p:nvSpPr>
        <p:spPr>
          <a:xfrm>
            <a:off x="6492240" y="2194560"/>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0x8007000B — Image corrompue</a:t>
            </a:r>
            <a:endParaRPr lang="en-US" sz="1250" dirty="0"/>
          </a:p>
        </p:txBody>
      </p:sp>
      <p:sp>
        <p:nvSpPr>
          <p:cNvPr id="11" name="Text 9"/>
          <p:cNvSpPr/>
          <p:nvPr/>
        </p:nvSpPr>
        <p:spPr>
          <a:xfrm>
            <a:off x="6492240" y="2560320"/>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En-tête WIM/ESD invalide. Le cache local est purgé automatiquement avant une nouvelle copie.</a:t>
            </a:r>
            <a:endParaRPr lang="en-US" sz="1080" dirty="0"/>
          </a:p>
        </p:txBody>
      </p:sp>
      <p:sp>
        <p:nvSpPr>
          <p:cNvPr id="12" name="Shape 10"/>
          <p:cNvSpPr/>
          <p:nvPr/>
        </p:nvSpPr>
        <p:spPr>
          <a:xfrm>
            <a:off x="502920" y="3502152"/>
            <a:ext cx="5440680" cy="1298448"/>
          </a:xfrm>
          <a:prstGeom prst="roundRect">
            <a:avLst>
              <a:gd name="adj" fmla="val 5634"/>
            </a:avLst>
          </a:prstGeom>
          <a:solidFill>
            <a:srgbClr val="F5F8FB"/>
          </a:solidFill>
          <a:ln w="12700">
            <a:solidFill>
              <a:srgbClr val="DDE7F0"/>
            </a:solidFill>
            <a:prstDash val="solid"/>
          </a:ln>
        </p:spPr>
      </p:sp>
      <p:sp>
        <p:nvSpPr>
          <p:cNvPr id="13" name="Text 11"/>
          <p:cNvSpPr/>
          <p:nvPr/>
        </p:nvSpPr>
        <p:spPr>
          <a:xfrm>
            <a:off x="731520" y="3639312"/>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0x8007007F — Plugin de migration</a:t>
            </a:r>
            <a:endParaRPr lang="en-US" sz="1250" dirty="0"/>
          </a:p>
        </p:txBody>
      </p:sp>
      <p:sp>
        <p:nvSpPr>
          <p:cNvPr id="14" name="Text 12"/>
          <p:cNvSpPr/>
          <p:nvPr/>
        </p:nvSpPr>
        <p:spPr>
          <a:xfrm>
            <a:off x="731520" y="4005072"/>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Échec détecté via les logs Panther (CscMig.dll, WSManMigrationPlugin.dll, ...).</a:t>
            </a:r>
            <a:endParaRPr lang="en-US" sz="1080" dirty="0"/>
          </a:p>
        </p:txBody>
      </p:sp>
      <p:sp>
        <p:nvSpPr>
          <p:cNvPr id="15" name="Shape 13"/>
          <p:cNvSpPr/>
          <p:nvPr/>
        </p:nvSpPr>
        <p:spPr>
          <a:xfrm>
            <a:off x="6263640" y="3502152"/>
            <a:ext cx="5440680" cy="1298448"/>
          </a:xfrm>
          <a:prstGeom prst="roundRect">
            <a:avLst>
              <a:gd name="adj" fmla="val 5634"/>
            </a:avLst>
          </a:prstGeom>
          <a:solidFill>
            <a:srgbClr val="F5F8FB"/>
          </a:solidFill>
          <a:ln w="12700">
            <a:solidFill>
              <a:srgbClr val="DDE7F0"/>
            </a:solidFill>
            <a:prstDash val="solid"/>
          </a:ln>
        </p:spPr>
      </p:sp>
      <p:sp>
        <p:nvSpPr>
          <p:cNvPr id="16" name="Text 14"/>
          <p:cNvSpPr/>
          <p:nvPr/>
        </p:nvSpPr>
        <p:spPr>
          <a:xfrm>
            <a:off x="6492240" y="3639312"/>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INSUFFICIENT_DISK</a:t>
            </a:r>
            <a:endParaRPr lang="en-US" sz="1250" dirty="0"/>
          </a:p>
        </p:txBody>
      </p:sp>
      <p:sp>
        <p:nvSpPr>
          <p:cNvPr id="17" name="Text 15"/>
          <p:cNvSpPr/>
          <p:nvPr/>
        </p:nvSpPr>
        <p:spPr>
          <a:xfrm>
            <a:off x="6492240" y="4005072"/>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Espace libre insuffisant avant copie ou upgrade ; -AllowDiskCleanup libère les caches reconstructibles.</a:t>
            </a:r>
            <a:endParaRPr lang="en-US" sz="1080" dirty="0"/>
          </a:p>
        </p:txBody>
      </p:sp>
      <p:sp>
        <p:nvSpPr>
          <p:cNvPr id="18" name="Shape 16"/>
          <p:cNvSpPr/>
          <p:nvPr/>
        </p:nvSpPr>
        <p:spPr>
          <a:xfrm>
            <a:off x="502920" y="4946904"/>
            <a:ext cx="5440680" cy="1298448"/>
          </a:xfrm>
          <a:prstGeom prst="roundRect">
            <a:avLst>
              <a:gd name="adj" fmla="val 5634"/>
            </a:avLst>
          </a:prstGeom>
          <a:solidFill>
            <a:srgbClr val="F5F8FB"/>
          </a:solidFill>
          <a:ln w="12700">
            <a:solidFill>
              <a:srgbClr val="DDE7F0"/>
            </a:solidFill>
            <a:prstDash val="solid"/>
          </a:ln>
        </p:spPr>
      </p:sp>
      <p:sp>
        <p:nvSpPr>
          <p:cNvPr id="19" name="Text 17"/>
          <p:cNvSpPr/>
          <p:nvPr/>
        </p:nvSpPr>
        <p:spPr>
          <a:xfrm>
            <a:off x="731520" y="5084064"/>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Robocopy exit &gt; 7</a:t>
            </a:r>
            <a:endParaRPr lang="en-US" sz="1250" dirty="0"/>
          </a:p>
        </p:txBody>
      </p:sp>
      <p:sp>
        <p:nvSpPr>
          <p:cNvPr id="20" name="Text 18"/>
          <p:cNvSpPr/>
          <p:nvPr/>
        </p:nvSpPr>
        <p:spPr>
          <a:xfrm>
            <a:off x="731520" y="5449824"/>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Copie du média échouée ; le cache local partiel est nettoyé pour éviter un WIM incohérent.</a:t>
            </a:r>
            <a:endParaRPr lang="en-US" sz="1080" dirty="0"/>
          </a:p>
        </p:txBody>
      </p:sp>
      <p:sp>
        <p:nvSpPr>
          <p:cNvPr id="21" name="Shape 19"/>
          <p:cNvSpPr/>
          <p:nvPr/>
        </p:nvSpPr>
        <p:spPr>
          <a:xfrm>
            <a:off x="6263640" y="4946904"/>
            <a:ext cx="5440680" cy="1298448"/>
          </a:xfrm>
          <a:prstGeom prst="roundRect">
            <a:avLst>
              <a:gd name="adj" fmla="val 5634"/>
            </a:avLst>
          </a:prstGeom>
          <a:solidFill>
            <a:srgbClr val="F5F8FB"/>
          </a:solidFill>
          <a:ln w="12700">
            <a:solidFill>
              <a:srgbClr val="DDE7F0"/>
            </a:solidFill>
            <a:prstDash val="solid"/>
          </a:ln>
        </p:spPr>
      </p:sp>
      <p:sp>
        <p:nvSpPr>
          <p:cNvPr id="22" name="Text 20"/>
          <p:cNvSpPr/>
          <p:nvPr/>
        </p:nvSpPr>
        <p:spPr>
          <a:xfrm>
            <a:off x="6492240" y="5084064"/>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PENDING_REBOOT*</a:t>
            </a:r>
            <a:endParaRPr lang="en-US" sz="1250" dirty="0"/>
          </a:p>
        </p:txBody>
      </p:sp>
      <p:sp>
        <p:nvSpPr>
          <p:cNvPr id="23" name="Text 21"/>
          <p:cNvSpPr/>
          <p:nvPr/>
        </p:nvSpPr>
        <p:spPr>
          <a:xfrm>
            <a:off x="6492240" y="5449824"/>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Redémarrage en attente détecté ; reporté tant qu'un utilisateur est connecté, sauf seuil d'uptime dépassé.</a:t>
            </a:r>
            <a:endParaRPr lang="en-US" sz="108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RECOMMANDATIONS</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Bonnes pratiques</a:t>
            </a:r>
            <a:endParaRPr lang="en-US" sz="3200" dirty="0"/>
          </a:p>
        </p:txBody>
      </p:sp>
      <p:sp>
        <p:nvSpPr>
          <p:cNvPr id="5" name="Shape 3"/>
          <p:cNvSpPr/>
          <p:nvPr/>
        </p:nvSpPr>
        <p:spPr>
          <a:xfrm>
            <a:off x="502920" y="1783080"/>
            <a:ext cx="3611880" cy="1965960"/>
          </a:xfrm>
          <a:prstGeom prst="roundRect">
            <a:avLst>
              <a:gd name="adj" fmla="val 4651"/>
            </a:avLst>
          </a:prstGeom>
          <a:solidFill>
            <a:srgbClr val="1E2761"/>
          </a:solidFill>
          <a:ln w="12700">
            <a:solidFill>
              <a:srgbClr val="1E2761"/>
            </a:solidFill>
            <a:prstDash val="solid"/>
          </a:ln>
        </p:spPr>
      </p:sp>
      <p:sp>
        <p:nvSpPr>
          <p:cNvPr id="6" name="Shape 4"/>
          <p:cNvSpPr/>
          <p:nvPr/>
        </p:nvSpPr>
        <p:spPr>
          <a:xfrm>
            <a:off x="758952" y="2039112"/>
            <a:ext cx="457200" cy="457200"/>
          </a:xfrm>
          <a:prstGeom prst="roundRect">
            <a:avLst>
              <a:gd name="adj" fmla="val 20000"/>
            </a:avLst>
          </a:prstGeom>
          <a:solidFill>
            <a:srgbClr val="2A3576"/>
          </a:solidFill>
          <a:ln/>
        </p:spPr>
      </p:sp>
      <p:sp>
        <p:nvSpPr>
          <p:cNvPr id="7" name="Text 5"/>
          <p:cNvSpPr/>
          <p:nvPr/>
        </p:nvSpPr>
        <p:spPr>
          <a:xfrm>
            <a:off x="758952" y="20391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758952" y="2624328"/>
            <a:ext cx="3099816"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Précheck inventaire</a:t>
            </a:r>
            <a:endParaRPr lang="en-US" sz="1400" dirty="0"/>
          </a:p>
        </p:txBody>
      </p:sp>
      <p:sp>
        <p:nvSpPr>
          <p:cNvPr id="9" name="Text 7"/>
          <p:cNvSpPr/>
          <p:nvPr/>
        </p:nvSpPr>
        <p:spPr>
          <a:xfrm>
            <a:off x="758952" y="308152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C7D0F0"/>
                </a:solidFill>
                <a:latin typeface="Calibri" pitchFamily="34" charset="0"/>
                <a:ea typeface="Calibri" pitchFamily="34" charset="-122"/>
                <a:cs typeface="Calibri" pitchFamily="34" charset="-120"/>
              </a:rPr>
              <a:t>Charger/rafraîchir l'inventaire Intune puis AD avant chaque cycle pour exclure les postes déjà en Windows 11.</a:t>
            </a:r>
            <a:endParaRPr lang="en-US" sz="1080" dirty="0"/>
          </a:p>
        </p:txBody>
      </p:sp>
      <p:sp>
        <p:nvSpPr>
          <p:cNvPr id="10" name="Shape 8"/>
          <p:cNvSpPr/>
          <p:nvPr/>
        </p:nvSpPr>
        <p:spPr>
          <a:xfrm>
            <a:off x="4370832" y="1783080"/>
            <a:ext cx="3611880" cy="1965960"/>
          </a:xfrm>
          <a:prstGeom prst="roundRect">
            <a:avLst>
              <a:gd name="adj" fmla="val 4651"/>
            </a:avLst>
          </a:prstGeom>
          <a:solidFill>
            <a:srgbClr val="F5F8FB"/>
          </a:solidFill>
          <a:ln w="12700">
            <a:solidFill>
              <a:srgbClr val="DDE7F0"/>
            </a:solidFill>
            <a:prstDash val="solid"/>
          </a:ln>
        </p:spPr>
      </p:sp>
      <p:sp>
        <p:nvSpPr>
          <p:cNvPr id="11" name="Shape 9"/>
          <p:cNvSpPr/>
          <p:nvPr/>
        </p:nvSpPr>
        <p:spPr>
          <a:xfrm>
            <a:off x="4626864" y="2039112"/>
            <a:ext cx="457200" cy="457200"/>
          </a:xfrm>
          <a:prstGeom prst="roundRect">
            <a:avLst>
              <a:gd name="adj" fmla="val 20000"/>
            </a:avLst>
          </a:prstGeom>
          <a:solidFill>
            <a:srgbClr val="CADCFC"/>
          </a:solidFill>
          <a:ln/>
        </p:spPr>
      </p:sp>
      <p:sp>
        <p:nvSpPr>
          <p:cNvPr id="12" name="Text 10"/>
          <p:cNvSpPr/>
          <p:nvPr/>
        </p:nvSpPr>
        <p:spPr>
          <a:xfrm>
            <a:off x="4626864" y="2039112"/>
            <a:ext cx="45720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4626864" y="2624328"/>
            <a:ext cx="3099816"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-AuditOnly d'abord</a:t>
            </a:r>
            <a:endParaRPr lang="en-US" sz="1400" dirty="0"/>
          </a:p>
        </p:txBody>
      </p:sp>
      <p:sp>
        <p:nvSpPr>
          <p:cNvPr id="14" name="Text 12"/>
          <p:cNvSpPr/>
          <p:nvPr/>
        </p:nvSpPr>
        <p:spPr>
          <a:xfrm>
            <a:off x="4626864" y="308152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Valider le diagnostic sur un échantillon avant d'activer les actions correctives sur tout le LOT.</a:t>
            </a:r>
            <a:endParaRPr lang="en-US" sz="1080" dirty="0"/>
          </a:p>
        </p:txBody>
      </p:sp>
      <p:sp>
        <p:nvSpPr>
          <p:cNvPr id="15" name="Shape 13"/>
          <p:cNvSpPr/>
          <p:nvPr/>
        </p:nvSpPr>
        <p:spPr>
          <a:xfrm>
            <a:off x="8238744" y="1783080"/>
            <a:ext cx="3611880" cy="1965960"/>
          </a:xfrm>
          <a:prstGeom prst="roundRect">
            <a:avLst>
              <a:gd name="adj" fmla="val 4651"/>
            </a:avLst>
          </a:prstGeom>
          <a:solidFill>
            <a:srgbClr val="1E2761"/>
          </a:solidFill>
          <a:ln w="12700">
            <a:solidFill>
              <a:srgbClr val="1E2761"/>
            </a:solidFill>
            <a:prstDash val="solid"/>
          </a:ln>
        </p:spPr>
      </p:sp>
      <p:sp>
        <p:nvSpPr>
          <p:cNvPr id="16" name="Shape 14"/>
          <p:cNvSpPr/>
          <p:nvPr/>
        </p:nvSpPr>
        <p:spPr>
          <a:xfrm>
            <a:off x="8494776" y="2039112"/>
            <a:ext cx="457200" cy="457200"/>
          </a:xfrm>
          <a:prstGeom prst="roundRect">
            <a:avLst>
              <a:gd name="adj" fmla="val 20000"/>
            </a:avLst>
          </a:prstGeom>
          <a:solidFill>
            <a:srgbClr val="2A3576"/>
          </a:solidFill>
          <a:ln/>
        </p:spPr>
      </p:sp>
      <p:sp>
        <p:nvSpPr>
          <p:cNvPr id="17" name="Text 15"/>
          <p:cNvSpPr/>
          <p:nvPr/>
        </p:nvSpPr>
        <p:spPr>
          <a:xfrm>
            <a:off x="8494776" y="20391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8" name="Text 16"/>
          <p:cNvSpPr/>
          <p:nvPr/>
        </p:nvSpPr>
        <p:spPr>
          <a:xfrm>
            <a:off x="8494776" y="2624328"/>
            <a:ext cx="3099816"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Concurrence globale</a:t>
            </a:r>
            <a:endParaRPr lang="en-US" sz="1400" dirty="0"/>
          </a:p>
        </p:txBody>
      </p:sp>
      <p:sp>
        <p:nvSpPr>
          <p:cNvPr id="19" name="Text 17"/>
          <p:cNvSpPr/>
          <p:nvPr/>
        </p:nvSpPr>
        <p:spPr>
          <a:xfrm>
            <a:off x="8494776" y="308152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C7D0F0"/>
                </a:solidFill>
                <a:latin typeface="Calibri" pitchFamily="34" charset="0"/>
                <a:ea typeface="Calibri" pitchFamily="34" charset="-122"/>
                <a:cs typeface="Calibri" pitchFamily="34" charset="-120"/>
              </a:rPr>
              <a:t>Le gate W11UT_GLOBAL_CONCURRENCY_LIMIT partage la limite entre plusieurs fenêtres LOT ouvertes en parallèle.</a:t>
            </a:r>
            <a:endParaRPr lang="en-US" sz="1080" dirty="0"/>
          </a:p>
        </p:txBody>
      </p:sp>
      <p:sp>
        <p:nvSpPr>
          <p:cNvPr id="20" name="Shape 18"/>
          <p:cNvSpPr/>
          <p:nvPr/>
        </p:nvSpPr>
        <p:spPr>
          <a:xfrm>
            <a:off x="502920" y="3977640"/>
            <a:ext cx="3611880" cy="1965960"/>
          </a:xfrm>
          <a:prstGeom prst="roundRect">
            <a:avLst>
              <a:gd name="adj" fmla="val 4651"/>
            </a:avLst>
          </a:prstGeom>
          <a:solidFill>
            <a:srgbClr val="F5F8FB"/>
          </a:solidFill>
          <a:ln w="12700">
            <a:solidFill>
              <a:srgbClr val="DDE7F0"/>
            </a:solidFill>
            <a:prstDash val="solid"/>
          </a:ln>
        </p:spPr>
      </p:sp>
      <p:sp>
        <p:nvSpPr>
          <p:cNvPr id="21" name="Shape 19"/>
          <p:cNvSpPr/>
          <p:nvPr/>
        </p:nvSpPr>
        <p:spPr>
          <a:xfrm>
            <a:off x="758952" y="4233672"/>
            <a:ext cx="457200" cy="457200"/>
          </a:xfrm>
          <a:prstGeom prst="roundRect">
            <a:avLst>
              <a:gd name="adj" fmla="val 20000"/>
            </a:avLst>
          </a:prstGeom>
          <a:solidFill>
            <a:srgbClr val="CADCFC"/>
          </a:solidFill>
          <a:ln/>
        </p:spPr>
      </p:sp>
      <p:sp>
        <p:nvSpPr>
          <p:cNvPr id="22" name="Text 20"/>
          <p:cNvSpPr/>
          <p:nvPr/>
        </p:nvSpPr>
        <p:spPr>
          <a:xfrm>
            <a:off x="758952" y="4233672"/>
            <a:ext cx="45720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4</a:t>
            </a:r>
            <a:endParaRPr lang="en-US" sz="1700" dirty="0"/>
          </a:p>
        </p:txBody>
      </p:sp>
      <p:sp>
        <p:nvSpPr>
          <p:cNvPr id="23" name="Text 21"/>
          <p:cNvSpPr/>
          <p:nvPr/>
        </p:nvSpPr>
        <p:spPr>
          <a:xfrm>
            <a:off x="758952" y="4818888"/>
            <a:ext cx="3099816"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Bande passante maîtrisée</a:t>
            </a:r>
            <a:endParaRPr lang="en-US" sz="1400" dirty="0"/>
          </a:p>
        </p:txBody>
      </p:sp>
      <p:sp>
        <p:nvSpPr>
          <p:cNvPr id="24" name="Text 22"/>
          <p:cNvSpPr/>
          <p:nvPr/>
        </p:nvSpPr>
        <p:spPr>
          <a:xfrm>
            <a:off x="758952" y="527608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Conserver les valeurs par défaut IPG/jitter de copie du média pour étaler la charge réseau.</a:t>
            </a:r>
            <a:endParaRPr lang="en-US" sz="1080" dirty="0"/>
          </a:p>
        </p:txBody>
      </p:sp>
      <p:sp>
        <p:nvSpPr>
          <p:cNvPr id="25" name="Shape 23"/>
          <p:cNvSpPr/>
          <p:nvPr/>
        </p:nvSpPr>
        <p:spPr>
          <a:xfrm>
            <a:off x="4370832" y="3977640"/>
            <a:ext cx="3611880" cy="1965960"/>
          </a:xfrm>
          <a:prstGeom prst="roundRect">
            <a:avLst>
              <a:gd name="adj" fmla="val 4651"/>
            </a:avLst>
          </a:prstGeom>
          <a:solidFill>
            <a:srgbClr val="1E2761"/>
          </a:solidFill>
          <a:ln w="12700">
            <a:solidFill>
              <a:srgbClr val="1E2761"/>
            </a:solidFill>
            <a:prstDash val="solid"/>
          </a:ln>
        </p:spPr>
      </p:sp>
      <p:sp>
        <p:nvSpPr>
          <p:cNvPr id="26" name="Shape 24"/>
          <p:cNvSpPr/>
          <p:nvPr/>
        </p:nvSpPr>
        <p:spPr>
          <a:xfrm>
            <a:off x="4626864" y="4233672"/>
            <a:ext cx="457200" cy="457200"/>
          </a:xfrm>
          <a:prstGeom prst="roundRect">
            <a:avLst>
              <a:gd name="adj" fmla="val 20000"/>
            </a:avLst>
          </a:prstGeom>
          <a:solidFill>
            <a:srgbClr val="2A3576"/>
          </a:solidFill>
          <a:ln/>
        </p:spPr>
      </p:sp>
      <p:sp>
        <p:nvSpPr>
          <p:cNvPr id="27" name="Text 25"/>
          <p:cNvSpPr/>
          <p:nvPr/>
        </p:nvSpPr>
        <p:spPr>
          <a:xfrm>
            <a:off x="4626864" y="42336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8" name="Text 26"/>
          <p:cNvSpPr/>
          <p:nvPr/>
        </p:nvSpPr>
        <p:spPr>
          <a:xfrm>
            <a:off x="4626864" y="4818888"/>
            <a:ext cx="3099816"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Manifeste SHA256</a:t>
            </a:r>
            <a:endParaRPr lang="en-US" sz="1400" dirty="0"/>
          </a:p>
        </p:txBody>
      </p:sp>
      <p:sp>
        <p:nvSpPr>
          <p:cNvPr id="29" name="Text 27"/>
          <p:cNvSpPr/>
          <p:nvPr/>
        </p:nvSpPr>
        <p:spPr>
          <a:xfrm>
            <a:off x="4626864" y="527608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C7D0F0"/>
                </a:solidFill>
                <a:latin typeface="Calibri" pitchFamily="34" charset="0"/>
                <a:ea typeface="Calibri" pitchFamily="34" charset="-122"/>
                <a:cs typeface="Calibri" pitchFamily="34" charset="-120"/>
              </a:rPr>
              <a:t>Générer et publier le manifeste à chaque mise à jour du média pour détecter toute corruption.</a:t>
            </a:r>
            <a:endParaRPr lang="en-US" sz="1080" dirty="0"/>
          </a:p>
        </p:txBody>
      </p:sp>
      <p:sp>
        <p:nvSpPr>
          <p:cNvPr id="30" name="Shape 28"/>
          <p:cNvSpPr/>
          <p:nvPr/>
        </p:nvSpPr>
        <p:spPr>
          <a:xfrm>
            <a:off x="8238744" y="3977640"/>
            <a:ext cx="3611880" cy="1965960"/>
          </a:xfrm>
          <a:prstGeom prst="roundRect">
            <a:avLst>
              <a:gd name="adj" fmla="val 4651"/>
            </a:avLst>
          </a:prstGeom>
          <a:solidFill>
            <a:srgbClr val="F5F8FB"/>
          </a:solidFill>
          <a:ln w="12700">
            <a:solidFill>
              <a:srgbClr val="DDE7F0"/>
            </a:solidFill>
            <a:prstDash val="solid"/>
          </a:ln>
        </p:spPr>
      </p:sp>
      <p:sp>
        <p:nvSpPr>
          <p:cNvPr id="31" name="Shape 29"/>
          <p:cNvSpPr/>
          <p:nvPr/>
        </p:nvSpPr>
        <p:spPr>
          <a:xfrm>
            <a:off x="8494776" y="4233672"/>
            <a:ext cx="457200" cy="457200"/>
          </a:xfrm>
          <a:prstGeom prst="roundRect">
            <a:avLst>
              <a:gd name="adj" fmla="val 20000"/>
            </a:avLst>
          </a:prstGeom>
          <a:solidFill>
            <a:srgbClr val="CADCFC"/>
          </a:solidFill>
          <a:ln/>
        </p:spPr>
      </p:sp>
      <p:sp>
        <p:nvSpPr>
          <p:cNvPr id="32" name="Text 30"/>
          <p:cNvSpPr/>
          <p:nvPr/>
        </p:nvSpPr>
        <p:spPr>
          <a:xfrm>
            <a:off x="8494776" y="4233672"/>
            <a:ext cx="45720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6</a:t>
            </a:r>
            <a:endParaRPr lang="en-US" sz="1700" dirty="0"/>
          </a:p>
        </p:txBody>
      </p:sp>
      <p:sp>
        <p:nvSpPr>
          <p:cNvPr id="33" name="Text 31"/>
          <p:cNvSpPr/>
          <p:nvPr/>
        </p:nvSpPr>
        <p:spPr>
          <a:xfrm>
            <a:off x="8494776" y="4818888"/>
            <a:ext cx="3099816"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Ne jamais commiter</a:t>
            </a:r>
            <a:endParaRPr lang="en-US" sz="1400" dirty="0"/>
          </a:p>
        </p:txBody>
      </p:sp>
      <p:sp>
        <p:nvSpPr>
          <p:cNvPr id="34" name="Text 32"/>
          <p:cNvSpPr/>
          <p:nvPr/>
        </p:nvSpPr>
        <p:spPr>
          <a:xfrm>
            <a:off x="8494776" y="527608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Computers.txt réels, média de setup, logs PsExec/CentralLogs, et fichiers *.local.json restent hors Git.</a:t>
            </a:r>
            <a:endParaRPr lang="en-US" sz="1080" dirty="0"/>
          </a:p>
        </p:txBody>
      </p:sp>
      <p:sp>
        <p:nvSpPr>
          <p:cNvPr id="35" name="Text 3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6" name="Text 3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ANNEXE</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Configuration manuelle (fichier .config)</a:t>
            </a:r>
            <a:endParaRPr lang="en-US" sz="3200" dirty="0"/>
          </a:p>
        </p:txBody>
      </p:sp>
      <p:sp>
        <p:nvSpPr>
          <p:cNvPr id="5" name="Text 3"/>
          <p:cNvSpPr/>
          <p:nvPr/>
        </p:nvSpPr>
        <p:spPr>
          <a:xfrm>
            <a:off x="502920" y="1783080"/>
            <a:ext cx="11155680" cy="45720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Pour les exécutions LOT sans GUI, copier le template puis définir la source de setup accessible par les cibles.</a:t>
            </a:r>
            <a:endParaRPr lang="en-US" sz="1350" dirty="0"/>
          </a:p>
        </p:txBody>
      </p:sp>
      <p:sp>
        <p:nvSpPr>
          <p:cNvPr id="6" name="Shape 4"/>
          <p:cNvSpPr/>
          <p:nvPr/>
        </p:nvSpPr>
        <p:spPr>
          <a:xfrm>
            <a:off x="502920" y="2331720"/>
            <a:ext cx="5623560" cy="1417320"/>
          </a:xfrm>
          <a:prstGeom prst="roundRect">
            <a:avLst>
              <a:gd name="adj" fmla="val 5161"/>
            </a:avLst>
          </a:prstGeom>
          <a:solidFill>
            <a:srgbClr val="0B1030"/>
          </a:solidFill>
          <a:ln/>
        </p:spPr>
      </p:sp>
      <p:sp>
        <p:nvSpPr>
          <p:cNvPr id="7" name="Text 5"/>
          <p:cNvSpPr/>
          <p:nvPr/>
        </p:nvSpPr>
        <p:spPr>
          <a:xfrm>
            <a:off x="731520" y="2468880"/>
            <a:ext cx="5166360" cy="1143000"/>
          </a:xfrm>
          <a:prstGeom prst="rect">
            <a:avLst/>
          </a:prstGeom>
          <a:noFill/>
          <a:ln/>
        </p:spPr>
        <p:txBody>
          <a:bodyPr wrap="square" lIns="0" tIns="0" rIns="0" bIns="0" rtlCol="0" anchor="ctr"/>
          <a:lstStyle/>
          <a:p>
            <a:pPr indent="0" marL="0">
              <a:lnSpc>
                <a:spcPct val="115000"/>
              </a:lnSpc>
              <a:buNone/>
            </a:pPr>
            <a:r>
              <a:rPr lang="en-US" sz="1050" dirty="0">
                <a:solidFill>
                  <a:srgbClr val="9EE6B8"/>
                </a:solidFill>
                <a:latin typeface="Consolas" pitchFamily="34" charset="0"/>
                <a:ea typeface="Consolas" pitchFamily="34" charset="-122"/>
                <a:cs typeface="Consolas" pitchFamily="34" charset="-120"/>
              </a:rPr>
              <a:t>copy Windows11UpgradeToolkit.config.template ^
</a:t>
            </a:r>
            <a:pPr indent="0" marL="0">
              <a:lnSpc>
                <a:spcPct val="115000"/>
              </a:lnSpc>
              <a:buNone/>
            </a:pPr>
            <a:r>
              <a:rPr lang="en-US" sz="1050" dirty="0">
                <a:solidFill>
                  <a:srgbClr val="9EE6B8"/>
                </a:solidFill>
                <a:latin typeface="Consolas" pitchFamily="34" charset="0"/>
                <a:ea typeface="Consolas" pitchFamily="34" charset="-122"/>
                <a:cs typeface="Consolas" pitchFamily="34" charset="-120"/>
              </a:rPr>
              <a:t>     Windows11UpgradeToolkit.config
</a:t>
            </a:r>
            <a:pPr indent="0" marL="0">
              <a:lnSpc>
                <a:spcPct val="115000"/>
              </a:lnSpc>
              <a:buNone/>
            </a:pPr>
            <a:r>
              <a:rPr lang="en-US" sz="1050" dirty="0">
                <a:solidFill>
                  <a:srgbClr val="7FD1FF"/>
                </a:solidFill>
                <a:latin typeface="Consolas" pitchFamily="34" charset="0"/>
                <a:ea typeface="Consolas" pitchFamily="34" charset="-122"/>
                <a:cs typeface="Consolas" pitchFamily="34" charset="-120"/>
              </a:rPr>
              <a:t>W11UT_SETUP_SOURCE=\\server\share\Windows11
</a:t>
            </a:r>
            <a:pPr indent="0" marL="0">
              <a:lnSpc>
                <a:spcPct val="115000"/>
              </a:lnSpc>
              <a:buNone/>
            </a:pPr>
            <a:r>
              <a:rPr lang="en-US" sz="1050" dirty="0">
                <a:solidFill>
                  <a:srgbClr val="7FD1FF"/>
                </a:solidFill>
                <a:latin typeface="Consolas" pitchFamily="34" charset="0"/>
                <a:ea typeface="Consolas" pitchFamily="34" charset="-122"/>
                <a:cs typeface="Consolas" pitchFamily="34" charset="-120"/>
              </a:rPr>
              <a:t>W11UT_SETUP_DYNAMIC_UPDATE=Disable</a:t>
            </a:r>
            <a:endParaRPr lang="en-US" sz="1050" dirty="0"/>
          </a:p>
        </p:txBody>
      </p:sp>
      <p:sp>
        <p:nvSpPr>
          <p:cNvPr id="8" name="Text 6"/>
          <p:cNvSpPr/>
          <p:nvPr/>
        </p:nvSpPr>
        <p:spPr>
          <a:xfrm>
            <a:off x="502920" y="397764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Précédence de configuration</a:t>
            </a:r>
            <a:endParaRPr lang="en-US" sz="1300" dirty="0"/>
          </a:p>
        </p:txBody>
      </p:sp>
      <p:sp>
        <p:nvSpPr>
          <p:cNvPr id="9" name="Shape 7"/>
          <p:cNvSpPr/>
          <p:nvPr/>
        </p:nvSpPr>
        <p:spPr>
          <a:xfrm>
            <a:off x="502920" y="4370832"/>
            <a:ext cx="292608" cy="292608"/>
          </a:xfrm>
          <a:prstGeom prst="roundRect">
            <a:avLst>
              <a:gd name="adj" fmla="val 18750"/>
            </a:avLst>
          </a:prstGeom>
          <a:solidFill>
            <a:srgbClr val="CADCFC"/>
          </a:solidFill>
          <a:ln/>
        </p:spPr>
      </p:sp>
      <p:sp>
        <p:nvSpPr>
          <p:cNvPr id="10" name="Text 8"/>
          <p:cNvSpPr/>
          <p:nvPr/>
        </p:nvSpPr>
        <p:spPr>
          <a:xfrm>
            <a:off x="502920" y="437083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914400" y="4343400"/>
            <a:ext cx="521208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Variable d'environnement définie avant le lancement</a:t>
            </a:r>
            <a:endParaRPr lang="en-US" sz="1150" dirty="0"/>
          </a:p>
        </p:txBody>
      </p:sp>
      <p:sp>
        <p:nvSpPr>
          <p:cNvPr id="12" name="Shape 10"/>
          <p:cNvSpPr/>
          <p:nvPr/>
        </p:nvSpPr>
        <p:spPr>
          <a:xfrm>
            <a:off x="502920" y="4828032"/>
            <a:ext cx="292608" cy="292608"/>
          </a:xfrm>
          <a:prstGeom prst="roundRect">
            <a:avLst>
              <a:gd name="adj" fmla="val 18750"/>
            </a:avLst>
          </a:prstGeom>
          <a:solidFill>
            <a:srgbClr val="CADCFC"/>
          </a:solidFill>
          <a:ln/>
        </p:spPr>
      </p:sp>
      <p:sp>
        <p:nvSpPr>
          <p:cNvPr id="13" name="Text 11"/>
          <p:cNvSpPr/>
          <p:nvPr/>
        </p:nvSpPr>
        <p:spPr>
          <a:xfrm>
            <a:off x="502920" y="482803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914400" y="4800600"/>
            <a:ext cx="521208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Config du LOT (Lots\LOT-&lt;nom&gt;\Windows11UpgradeToolkit.config)</a:t>
            </a:r>
            <a:endParaRPr lang="en-US" sz="1150" dirty="0"/>
          </a:p>
        </p:txBody>
      </p:sp>
      <p:sp>
        <p:nvSpPr>
          <p:cNvPr id="15" name="Shape 13"/>
          <p:cNvSpPr/>
          <p:nvPr/>
        </p:nvSpPr>
        <p:spPr>
          <a:xfrm>
            <a:off x="502920" y="5285232"/>
            <a:ext cx="292608" cy="292608"/>
          </a:xfrm>
          <a:prstGeom prst="roundRect">
            <a:avLst>
              <a:gd name="adj" fmla="val 18750"/>
            </a:avLst>
          </a:prstGeom>
          <a:solidFill>
            <a:srgbClr val="CADCFC"/>
          </a:solidFill>
          <a:ln/>
        </p:spPr>
      </p:sp>
      <p:sp>
        <p:nvSpPr>
          <p:cNvPr id="16" name="Text 14"/>
          <p:cNvSpPr/>
          <p:nvPr/>
        </p:nvSpPr>
        <p:spPr>
          <a:xfrm>
            <a:off x="502920" y="528523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914400" y="5257800"/>
            <a:ext cx="521208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Config racine du toolkit</a:t>
            </a:r>
            <a:endParaRPr lang="en-US" sz="1150" dirty="0"/>
          </a:p>
        </p:txBody>
      </p:sp>
      <p:sp>
        <p:nvSpPr>
          <p:cNvPr id="18" name="Shape 16"/>
          <p:cNvSpPr/>
          <p:nvPr/>
        </p:nvSpPr>
        <p:spPr>
          <a:xfrm>
            <a:off x="6446520" y="2331720"/>
            <a:ext cx="5257800" cy="3749040"/>
          </a:xfrm>
          <a:prstGeom prst="roundRect">
            <a:avLst>
              <a:gd name="adj" fmla="val 2439"/>
            </a:avLst>
          </a:prstGeom>
          <a:solidFill>
            <a:srgbClr val="F5F8FB"/>
          </a:solidFill>
          <a:ln w="12700">
            <a:solidFill>
              <a:srgbClr val="DDE7F0"/>
            </a:solidFill>
            <a:prstDash val="solid"/>
          </a:ln>
        </p:spPr>
      </p:sp>
      <p:sp>
        <p:nvSpPr>
          <p:cNvPr id="19" name="Text 17"/>
          <p:cNvSpPr/>
          <p:nvPr/>
        </p:nvSpPr>
        <p:spPr>
          <a:xfrm>
            <a:off x="6720840" y="2514600"/>
            <a:ext cx="4754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Variables clés</a:t>
            </a:r>
            <a:endParaRPr lang="en-US" sz="1350" dirty="0"/>
          </a:p>
        </p:txBody>
      </p:sp>
      <p:sp>
        <p:nvSpPr>
          <p:cNvPr id="20" name="Text 18"/>
          <p:cNvSpPr/>
          <p:nvPr/>
        </p:nvSpPr>
        <p:spPr>
          <a:xfrm>
            <a:off x="6720840" y="292608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W11UT_SETUP_SOURCE</a:t>
            </a:r>
            <a:endParaRPr lang="en-US" sz="1150" dirty="0"/>
          </a:p>
        </p:txBody>
      </p:sp>
      <p:sp>
        <p:nvSpPr>
          <p:cNvPr id="21" name="Text 19"/>
          <p:cNvSpPr/>
          <p:nvPr/>
        </p:nvSpPr>
        <p:spPr>
          <a:xfrm>
            <a:off x="6720840" y="318211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Chemin(s) UNC du média, séparés par ; si plusieurs sites</a:t>
            </a:r>
            <a:endParaRPr lang="en-US" sz="1050" dirty="0"/>
          </a:p>
        </p:txBody>
      </p:sp>
      <p:sp>
        <p:nvSpPr>
          <p:cNvPr id="22" name="Text 20"/>
          <p:cNvSpPr/>
          <p:nvPr/>
        </p:nvSpPr>
        <p:spPr>
          <a:xfrm>
            <a:off x="6720840" y="352044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W11UT_SETUP_EXECUTION_MODE</a:t>
            </a:r>
            <a:endParaRPr lang="en-US" sz="1150" dirty="0"/>
          </a:p>
        </p:txBody>
      </p:sp>
      <p:sp>
        <p:nvSpPr>
          <p:cNvPr id="23" name="Text 21"/>
          <p:cNvSpPr/>
          <p:nvPr/>
        </p:nvSpPr>
        <p:spPr>
          <a:xfrm>
            <a:off x="6720840" y="377647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LocalCache (défaut) / Share / Auto</a:t>
            </a:r>
            <a:endParaRPr lang="en-US" sz="1050" dirty="0"/>
          </a:p>
        </p:txBody>
      </p:sp>
      <p:sp>
        <p:nvSpPr>
          <p:cNvPr id="24" name="Text 22"/>
          <p:cNvSpPr/>
          <p:nvPr/>
        </p:nvSpPr>
        <p:spPr>
          <a:xfrm>
            <a:off x="6720840" y="411480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W11UT_SETUP_LANGUAGE</a:t>
            </a:r>
            <a:endParaRPr lang="en-US" sz="1150" dirty="0"/>
          </a:p>
        </p:txBody>
      </p:sp>
      <p:sp>
        <p:nvSpPr>
          <p:cNvPr id="25" name="Text 23"/>
          <p:cNvSpPr/>
          <p:nvPr/>
        </p:nvSpPr>
        <p:spPr>
          <a:xfrm>
            <a:off x="6720840" y="437083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MatchSystem (défaut), culture précise, ou Any</a:t>
            </a:r>
            <a:endParaRPr lang="en-US" sz="1050" dirty="0"/>
          </a:p>
        </p:txBody>
      </p:sp>
      <p:sp>
        <p:nvSpPr>
          <p:cNvPr id="26" name="Text 24"/>
          <p:cNvSpPr/>
          <p:nvPr/>
        </p:nvSpPr>
        <p:spPr>
          <a:xfrm>
            <a:off x="6720840" y="470916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W11UT_SETUP_DYNAMIC_UPDATE</a:t>
            </a:r>
            <a:endParaRPr lang="en-US" sz="1150" dirty="0"/>
          </a:p>
        </p:txBody>
      </p:sp>
      <p:sp>
        <p:nvSpPr>
          <p:cNvPr id="27" name="Text 25"/>
          <p:cNvSpPr/>
          <p:nvPr/>
        </p:nvSpPr>
        <p:spPr>
          <a:xfrm>
            <a:off x="6720840" y="496519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Disable (défaut) / Enable / NoDrivers / NoLCU</a:t>
            </a:r>
            <a:endParaRPr lang="en-US" sz="1050" dirty="0"/>
          </a:p>
        </p:txBody>
      </p:sp>
      <p:sp>
        <p:nvSpPr>
          <p:cNvPr id="28" name="Text 26"/>
          <p:cNvSpPr/>
          <p:nvPr/>
        </p:nvSpPr>
        <p:spPr>
          <a:xfrm>
            <a:off x="6720840" y="530352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W11UT_SETUP_MEDIA_ID</a:t>
            </a:r>
            <a:endParaRPr lang="en-US" sz="1150" dirty="0"/>
          </a:p>
        </p:txBody>
      </p:sp>
      <p:sp>
        <p:nvSpPr>
          <p:cNvPr id="29" name="Text 27"/>
          <p:cNvSpPr/>
          <p:nvPr/>
        </p:nvSpPr>
        <p:spPr>
          <a:xfrm>
            <a:off x="6720840" y="555955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Identifiant du cache local, ex. Win11-24H2</a:t>
            </a:r>
            <a:endParaRPr lang="en-US" sz="1050" dirty="0"/>
          </a:p>
        </p:txBody>
      </p:sp>
      <p:sp>
        <p:nvSpPr>
          <p:cNvPr id="30" name="Text 2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1" name="Text 2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ANNEXE</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Bande passante maîtrisée</a:t>
            </a:r>
            <a:endParaRPr lang="en-US" sz="3200" dirty="0"/>
          </a:p>
        </p:txBody>
      </p:sp>
      <p:sp>
        <p:nvSpPr>
          <p:cNvPr id="5" name="Text 3"/>
          <p:cNvSpPr/>
          <p:nvPr/>
        </p:nvSpPr>
        <p:spPr>
          <a:xfrm>
            <a:off x="502920" y="1783080"/>
            <a:ext cx="11155680" cy="4114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Plusieurs leviers permettent de maîtriser l'impact réseau de la copie du média Windows 11 vers le cache local de chaque poste.</a:t>
            </a:r>
            <a:endParaRPr lang="en-US" sz="1300" dirty="0"/>
          </a:p>
        </p:txBody>
      </p:sp>
      <p:sp>
        <p:nvSpPr>
          <p:cNvPr id="6" name="Shape 4"/>
          <p:cNvSpPr/>
          <p:nvPr/>
        </p:nvSpPr>
        <p:spPr>
          <a:xfrm>
            <a:off x="502920" y="2240280"/>
            <a:ext cx="11201400" cy="548640"/>
          </a:xfrm>
          <a:prstGeom prst="roundRect">
            <a:avLst>
              <a:gd name="adj" fmla="val 13333"/>
            </a:avLst>
          </a:prstGeom>
          <a:solidFill>
            <a:srgbClr val="F5F8FB"/>
          </a:solidFill>
          <a:ln w="12700">
            <a:solidFill>
              <a:srgbClr val="DDE7F0"/>
            </a:solidFill>
            <a:prstDash val="solid"/>
          </a:ln>
        </p:spPr>
      </p:sp>
      <p:sp>
        <p:nvSpPr>
          <p:cNvPr id="7" name="Text 5"/>
          <p:cNvSpPr/>
          <p:nvPr/>
        </p:nvSpPr>
        <p:spPr>
          <a:xfrm>
            <a:off x="731520" y="2313432"/>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RYTHME DE COPIE  </a:t>
            </a:r>
            <a:pPr indent="0" marL="0">
              <a:buNone/>
            </a:pPr>
            <a:r>
              <a:rPr lang="en-US" sz="1050" b="1" dirty="0">
                <a:solidFill>
                  <a:srgbClr val="0078D4"/>
                </a:solidFill>
                <a:latin typeface="Consolas" pitchFamily="34" charset="0"/>
                <a:ea typeface="Consolas" pitchFamily="34" charset="-122"/>
                <a:cs typeface="Consolas" pitchFamily="34" charset="-120"/>
              </a:rPr>
              <a:t>W11UT_SETUP_COPY_IPG_MS</a:t>
            </a:r>
            <a:endParaRPr lang="en-US" sz="1050" dirty="0"/>
          </a:p>
        </p:txBody>
      </p:sp>
      <p:sp>
        <p:nvSpPr>
          <p:cNvPr id="8" name="Text 6"/>
          <p:cNvSpPr/>
          <p:nvPr/>
        </p:nvSpPr>
        <p:spPr>
          <a:xfrm>
            <a:off x="731520" y="2560320"/>
            <a:ext cx="10698480" cy="182880"/>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Défaut 20. Throttling inter-paquet Robocopy par poste : plus la valeur est élevée, plus la copie est lente et douce pour le réseau.</a:t>
            </a:r>
            <a:endParaRPr lang="en-US" sz="950" dirty="0"/>
          </a:p>
        </p:txBody>
      </p:sp>
      <p:sp>
        <p:nvSpPr>
          <p:cNvPr id="9" name="Shape 7"/>
          <p:cNvSpPr/>
          <p:nvPr/>
        </p:nvSpPr>
        <p:spPr>
          <a:xfrm>
            <a:off x="502920" y="2862072"/>
            <a:ext cx="11201400" cy="548640"/>
          </a:xfrm>
          <a:prstGeom prst="roundRect">
            <a:avLst>
              <a:gd name="adj" fmla="val 13333"/>
            </a:avLst>
          </a:prstGeom>
          <a:solidFill>
            <a:srgbClr val="F5F8FB"/>
          </a:solidFill>
          <a:ln w="12700">
            <a:solidFill>
              <a:srgbClr val="DDE7F0"/>
            </a:solidFill>
            <a:prstDash val="solid"/>
          </a:ln>
        </p:spPr>
      </p:sp>
      <p:sp>
        <p:nvSpPr>
          <p:cNvPr id="10" name="Text 8"/>
          <p:cNvSpPr/>
          <p:nvPr/>
        </p:nvSpPr>
        <p:spPr>
          <a:xfrm>
            <a:off x="731520" y="2935224"/>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RYTHME DE COPIE  </a:t>
            </a:r>
            <a:pPr indent="0" marL="0">
              <a:buNone/>
            </a:pPr>
            <a:r>
              <a:rPr lang="en-US" sz="1050" b="1" dirty="0">
                <a:solidFill>
                  <a:srgbClr val="0078D4"/>
                </a:solidFill>
                <a:latin typeface="Consolas" pitchFamily="34" charset="0"/>
                <a:ea typeface="Consolas" pitchFamily="34" charset="-122"/>
                <a:cs typeface="Consolas" pitchFamily="34" charset="-120"/>
              </a:rPr>
              <a:t>W11UT_SETUP_COPY_JITTER_SECONDS</a:t>
            </a:r>
            <a:endParaRPr lang="en-US" sz="1050" dirty="0"/>
          </a:p>
        </p:txBody>
      </p:sp>
      <p:sp>
        <p:nvSpPr>
          <p:cNvPr id="11" name="Text 9"/>
          <p:cNvSpPr/>
          <p:nvPr/>
        </p:nvSpPr>
        <p:spPr>
          <a:xfrm>
            <a:off x="731520" y="3182112"/>
            <a:ext cx="10698480" cy="182880"/>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Défaut 300. Étale aléatoirement le démarrage des copies sur cette fenêtre (en secondes) pour éviter un pic simultané au lancement d'un LOT.</a:t>
            </a:r>
            <a:endParaRPr lang="en-US" sz="950" dirty="0"/>
          </a:p>
        </p:txBody>
      </p:sp>
      <p:sp>
        <p:nvSpPr>
          <p:cNvPr id="12" name="Shape 10"/>
          <p:cNvSpPr/>
          <p:nvPr/>
        </p:nvSpPr>
        <p:spPr>
          <a:xfrm>
            <a:off x="502920" y="3483864"/>
            <a:ext cx="11201400" cy="548640"/>
          </a:xfrm>
          <a:prstGeom prst="roundRect">
            <a:avLst>
              <a:gd name="adj" fmla="val 13333"/>
            </a:avLst>
          </a:prstGeom>
          <a:solidFill>
            <a:srgbClr val="F5F8FB"/>
          </a:solidFill>
          <a:ln w="12700">
            <a:solidFill>
              <a:srgbClr val="DDE7F0"/>
            </a:solidFill>
            <a:prstDash val="solid"/>
          </a:ln>
        </p:spPr>
      </p:sp>
      <p:sp>
        <p:nvSpPr>
          <p:cNvPr id="13" name="Text 11"/>
          <p:cNvSpPr/>
          <p:nvPr/>
        </p:nvSpPr>
        <p:spPr>
          <a:xfrm>
            <a:off x="731520" y="3557016"/>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SÉLECTION DE LA SOURCE  </a:t>
            </a:r>
            <a:pPr indent="0" marL="0">
              <a:buNone/>
            </a:pPr>
            <a:r>
              <a:rPr lang="en-US" sz="1050" b="1" dirty="0">
                <a:solidFill>
                  <a:srgbClr val="0078D4"/>
                </a:solidFill>
                <a:latin typeface="Consolas" pitchFamily="34" charset="0"/>
                <a:ea typeface="Consolas" pitchFamily="34" charset="-122"/>
                <a:cs typeface="Consolas" pitchFamily="34" charset="-120"/>
              </a:rPr>
              <a:t>W11UT_SETUP_SOURCE_CANDIDATE_LIMIT</a:t>
            </a:r>
            <a:endParaRPr lang="en-US" sz="1050" dirty="0"/>
          </a:p>
        </p:txBody>
      </p:sp>
      <p:sp>
        <p:nvSpPr>
          <p:cNvPr id="14" name="Text 12"/>
          <p:cNvSpPr/>
          <p:nvPr/>
        </p:nvSpPr>
        <p:spPr>
          <a:xfrm>
            <a:off x="731520" y="3803904"/>
            <a:ext cx="10698480" cy="182880"/>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Limite le nombre de sources candidates réellement testées/benchmarkées par poste, utile avec plusieurs chemins UNC.</a:t>
            </a:r>
            <a:endParaRPr lang="en-US" sz="950" dirty="0"/>
          </a:p>
        </p:txBody>
      </p:sp>
      <p:sp>
        <p:nvSpPr>
          <p:cNvPr id="15" name="Shape 13"/>
          <p:cNvSpPr/>
          <p:nvPr/>
        </p:nvSpPr>
        <p:spPr>
          <a:xfrm>
            <a:off x="502920" y="4105656"/>
            <a:ext cx="11201400" cy="713232"/>
          </a:xfrm>
          <a:prstGeom prst="roundRect">
            <a:avLst>
              <a:gd name="adj" fmla="val 10256"/>
            </a:avLst>
          </a:prstGeom>
          <a:solidFill>
            <a:srgbClr val="F5F8FB"/>
          </a:solidFill>
          <a:ln w="12700">
            <a:solidFill>
              <a:srgbClr val="DDE7F0"/>
            </a:solidFill>
            <a:prstDash val="solid"/>
          </a:ln>
        </p:spPr>
      </p:sp>
      <p:sp>
        <p:nvSpPr>
          <p:cNvPr id="16" name="Text 14"/>
          <p:cNvSpPr/>
          <p:nvPr/>
        </p:nvSpPr>
        <p:spPr>
          <a:xfrm>
            <a:off x="731520" y="4178808"/>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SÉLECTION DE LA SOURCE (CARTE CSV)  </a:t>
            </a:r>
            <a:pPr indent="0" marL="0">
              <a:buNone/>
            </a:pPr>
            <a:r>
              <a:rPr lang="en-US" sz="1050" b="1" dirty="0">
                <a:solidFill>
                  <a:srgbClr val="0078D4"/>
                </a:solidFill>
                <a:latin typeface="Consolas" pitchFamily="34" charset="0"/>
                <a:ea typeface="Consolas" pitchFamily="34" charset="-122"/>
                <a:cs typeface="Consolas" pitchFamily="34" charset="-120"/>
              </a:rPr>
              <a:t>W11UT_SETUP_SOURCE_MAP</a:t>
            </a:r>
            <a:endParaRPr lang="en-US" sz="1050" dirty="0"/>
          </a:p>
        </p:txBody>
      </p:sp>
      <p:sp>
        <p:nvSpPr>
          <p:cNvPr id="17" name="Text 15"/>
          <p:cNvSpPr/>
          <p:nvPr/>
        </p:nvSpPr>
        <p:spPr>
          <a:xfrm>
            <a:off x="731520" y="4425696"/>
            <a:ext cx="10698480" cy="347472"/>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Fichier SetupSourceMap.csv (colonnes ScopeType, ScopeValue, SetupSourcePath, Priority) pour choisir automatiquement la source la plus proche par sous-réseau, préfixe IP ou poste, sans tout lister dans W11UT_SETUP_SOURCE.</a:t>
            </a:r>
            <a:endParaRPr lang="en-US" sz="950" dirty="0"/>
          </a:p>
        </p:txBody>
      </p:sp>
      <p:sp>
        <p:nvSpPr>
          <p:cNvPr id="18" name="Shape 16"/>
          <p:cNvSpPr/>
          <p:nvPr/>
        </p:nvSpPr>
        <p:spPr>
          <a:xfrm>
            <a:off x="502920" y="4892040"/>
            <a:ext cx="11201400" cy="603504"/>
          </a:xfrm>
          <a:prstGeom prst="roundRect">
            <a:avLst>
              <a:gd name="adj" fmla="val 12121"/>
            </a:avLst>
          </a:prstGeom>
          <a:solidFill>
            <a:srgbClr val="F5F8FB"/>
          </a:solidFill>
          <a:ln w="12700">
            <a:solidFill>
              <a:srgbClr val="DDE7F0"/>
            </a:solidFill>
            <a:prstDash val="solid"/>
          </a:ln>
        </p:spPr>
      </p:sp>
      <p:sp>
        <p:nvSpPr>
          <p:cNvPr id="19" name="Text 17"/>
          <p:cNvSpPr/>
          <p:nvPr/>
        </p:nvSpPr>
        <p:spPr>
          <a:xfrm>
            <a:off x="731520" y="4965192"/>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CONCURRENCE PAR SOURCE  </a:t>
            </a:r>
            <a:pPr indent="0" marL="0">
              <a:buNone/>
            </a:pPr>
            <a:r>
              <a:rPr lang="en-US" sz="1050" b="1" dirty="0">
                <a:solidFill>
                  <a:srgbClr val="0078D4"/>
                </a:solidFill>
                <a:latin typeface="Consolas" pitchFamily="34" charset="0"/>
                <a:ea typeface="Consolas" pitchFamily="34" charset="-122"/>
                <a:cs typeface="Consolas" pitchFamily="34" charset="-120"/>
              </a:rPr>
              <a:t>W11UT_SETUP_SOURCE_CONCURRENCY_LIMIT / _GATE_ROOT</a:t>
            </a:r>
            <a:endParaRPr lang="en-US" sz="1050" dirty="0"/>
          </a:p>
        </p:txBody>
      </p:sp>
      <p:sp>
        <p:nvSpPr>
          <p:cNvPr id="20" name="Text 18"/>
          <p:cNvSpPr/>
          <p:nvPr/>
        </p:nvSpPr>
        <p:spPr>
          <a:xfrm>
            <a:off x="731520" y="5212080"/>
            <a:ext cx="10698480" cy="237744"/>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Limite le nombre de copies simultanées par source de média via un gate partagé sur un dossier UNC inscriptible.</a:t>
            </a:r>
            <a:endParaRPr lang="en-US" sz="950" dirty="0"/>
          </a:p>
        </p:txBody>
      </p:sp>
      <p:sp>
        <p:nvSpPr>
          <p:cNvPr id="21" name="Shape 19"/>
          <p:cNvSpPr/>
          <p:nvPr/>
        </p:nvSpPr>
        <p:spPr>
          <a:xfrm>
            <a:off x="502920" y="5568696"/>
            <a:ext cx="11201400" cy="603504"/>
          </a:xfrm>
          <a:prstGeom prst="roundRect">
            <a:avLst>
              <a:gd name="adj" fmla="val 12121"/>
            </a:avLst>
          </a:prstGeom>
          <a:solidFill>
            <a:srgbClr val="F5F8FB"/>
          </a:solidFill>
          <a:ln w="12700">
            <a:solidFill>
              <a:srgbClr val="DDE7F0"/>
            </a:solidFill>
            <a:prstDash val="solid"/>
          </a:ln>
        </p:spPr>
      </p:sp>
      <p:sp>
        <p:nvSpPr>
          <p:cNvPr id="22" name="Text 20"/>
          <p:cNvSpPr/>
          <p:nvPr/>
        </p:nvSpPr>
        <p:spPr>
          <a:xfrm>
            <a:off x="731520" y="5641848"/>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CONCURRENCE PAR SOUS-RÉSEAU  </a:t>
            </a:r>
            <a:pPr indent="0" marL="0">
              <a:buNone/>
            </a:pPr>
            <a:r>
              <a:rPr lang="en-US" sz="1050" b="1" dirty="0">
                <a:solidFill>
                  <a:srgbClr val="0078D4"/>
                </a:solidFill>
                <a:latin typeface="Consolas" pitchFamily="34" charset="0"/>
                <a:ea typeface="Consolas" pitchFamily="34" charset="-122"/>
                <a:cs typeface="Consolas" pitchFamily="34" charset="-120"/>
              </a:rPr>
              <a:t>W11UT_SETUP_SUBNET_CONCURRENCY_LIMIT / _GATE_ROOT</a:t>
            </a:r>
            <a:endParaRPr lang="en-US" sz="1050" dirty="0"/>
          </a:p>
        </p:txBody>
      </p:sp>
      <p:sp>
        <p:nvSpPr>
          <p:cNvPr id="23" name="Text 21"/>
          <p:cNvSpPr/>
          <p:nvPr/>
        </p:nvSpPr>
        <p:spPr>
          <a:xfrm>
            <a:off x="731520" y="5888736"/>
            <a:ext cx="10698480" cy="237744"/>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Défaut 1. N'autorise qu'une seule copie Robocopy à la fois par sous-réseau, pour protéger les liens de site les plus étroits.</a:t>
            </a:r>
            <a:endParaRPr lang="en-US" sz="95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263080"/>
          </a:solidFill>
          <a:ln/>
        </p:spPr>
      </p:sp>
      <p:pic>
        <p:nvPicPr>
          <p:cNvPr id="3" name="Image 0" descr="C:\Users\Khaled\AppData\Local\Temp\claude\C--Users-Khaled-OneDrive-Documents-SmartIntune\c5e67daa-f249-479e-bda8-772632c0f9d4\scratchpad\pptx\logo.png">    </p:cNvPr>
          <p:cNvPicPr>
            <a:picLocks noChangeAspect="1"/>
          </p:cNvPicPr>
          <p:nvPr/>
        </p:nvPicPr>
        <p:blipFill>
          <a:blip r:embed="rId1"/>
          <a:stretch>
            <a:fillRect/>
          </a:stretch>
        </p:blipFill>
        <p:spPr>
          <a:xfrm>
            <a:off x="640080" y="548640"/>
            <a:ext cx="1920240" cy="749808"/>
          </a:xfrm>
          <a:prstGeom prst="rect">
            <a:avLst/>
          </a:prstGeom>
        </p:spPr>
      </p:pic>
      <p:sp>
        <p:nvSpPr>
          <p:cNvPr id="4" name="Text 1"/>
          <p:cNvSpPr/>
          <p:nvPr/>
        </p:nvSpPr>
        <p:spPr>
          <a:xfrm>
            <a:off x="640080" y="16002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Résumé</a:t>
            </a:r>
            <a:endParaRPr lang="en-US" sz="3200" dirty="0"/>
          </a:p>
        </p:txBody>
      </p:sp>
      <p:sp>
        <p:nvSpPr>
          <p:cNvPr id="5" name="Text 2"/>
          <p:cNvSpPr/>
          <p:nvPr/>
        </p:nvSpPr>
        <p:spPr>
          <a:xfrm>
            <a:off x="685800" y="2468880"/>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1. Préparer et valider le média Windows 11, publier sur un partage UNC</a:t>
            </a:r>
            <a:endParaRPr lang="en-US" sz="1400" dirty="0"/>
          </a:p>
        </p:txBody>
      </p:sp>
      <p:sp>
        <p:nvSpPr>
          <p:cNvPr id="6" name="Text 3"/>
          <p:cNvSpPr/>
          <p:nvPr/>
        </p:nvSpPr>
        <p:spPr>
          <a:xfrm>
            <a:off x="685800" y="2889504"/>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2. Configurer Windows11UpgradeToolkit.config (source, mode, langue)</a:t>
            </a:r>
            <a:endParaRPr lang="en-US" sz="1400" dirty="0"/>
          </a:p>
        </p:txBody>
      </p:sp>
      <p:sp>
        <p:nvSpPr>
          <p:cNvPr id="7" name="Text 4"/>
          <p:cNvSpPr/>
          <p:nvPr/>
        </p:nvSpPr>
        <p:spPr>
          <a:xfrm>
            <a:off x="685800" y="3310128"/>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3. Créer le LOT via la GUI et renseigner Computers.txt</a:t>
            </a:r>
            <a:endParaRPr lang="en-US" sz="1400" dirty="0"/>
          </a:p>
        </p:txBody>
      </p:sp>
      <p:sp>
        <p:nvSpPr>
          <p:cNvPr id="8" name="Text 5"/>
          <p:cNvSpPr/>
          <p:nvPr/>
        </p:nvSpPr>
        <p:spPr>
          <a:xfrm>
            <a:off x="685800" y="3730752"/>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4. Choisir les guardrails -Allow* adaptés à la campagne</a:t>
            </a:r>
            <a:endParaRPr lang="en-US" sz="1400" dirty="0"/>
          </a:p>
        </p:txBody>
      </p:sp>
      <p:sp>
        <p:nvSpPr>
          <p:cNvPr id="9" name="Text 6"/>
          <p:cNvSpPr/>
          <p:nvPr/>
        </p:nvSpPr>
        <p:spPr>
          <a:xfrm>
            <a:off x="685800" y="4151376"/>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5. Lancer en -AuditOnly, puis en mode action</a:t>
            </a:r>
            <a:endParaRPr lang="en-US" sz="1400" dirty="0"/>
          </a:p>
        </p:txBody>
      </p:sp>
      <p:sp>
        <p:nvSpPr>
          <p:cNvPr id="10" name="Text 7"/>
          <p:cNvSpPr/>
          <p:nvPr/>
        </p:nvSpPr>
        <p:spPr>
          <a:xfrm>
            <a:off x="685800" y="4572000"/>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6. Suivre les rapports HTML et CentralLogs par catégorie</a:t>
            </a:r>
            <a:endParaRPr lang="en-US" sz="1400" dirty="0"/>
          </a:p>
        </p:txBody>
      </p:sp>
      <p:sp>
        <p:nvSpPr>
          <p:cNvPr id="11" name="Shape 8"/>
          <p:cNvSpPr/>
          <p:nvPr/>
        </p:nvSpPr>
        <p:spPr>
          <a:xfrm>
            <a:off x="8732520" y="2377440"/>
            <a:ext cx="2880360" cy="2834640"/>
          </a:xfrm>
          <a:prstGeom prst="roundRect">
            <a:avLst>
              <a:gd name="adj" fmla="val 3226"/>
            </a:avLst>
          </a:prstGeom>
          <a:solidFill>
            <a:srgbClr val="18205C"/>
          </a:solidFill>
          <a:ln w="12700">
            <a:solidFill>
              <a:srgbClr val="2A3576"/>
            </a:solidFill>
            <a:prstDash val="solid"/>
          </a:ln>
        </p:spPr>
      </p:sp>
      <p:sp>
        <p:nvSpPr>
          <p:cNvPr id="12" name="Text 9"/>
          <p:cNvSpPr/>
          <p:nvPr/>
        </p:nvSpPr>
        <p:spPr>
          <a:xfrm>
            <a:off x="8961120" y="2606040"/>
            <a:ext cx="2468880" cy="3200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Documentation</a:t>
            </a:r>
            <a:endParaRPr lang="en-US" sz="1200" dirty="0"/>
          </a:p>
        </p:txBody>
      </p:sp>
      <p:sp>
        <p:nvSpPr>
          <p:cNvPr id="13" name="Text 10"/>
          <p:cNvSpPr/>
          <p:nvPr/>
        </p:nvSpPr>
        <p:spPr>
          <a:xfrm>
            <a:off x="8961120" y="2971800"/>
            <a:ext cx="2468880" cy="1005840"/>
          </a:xfrm>
          <a:prstGeom prst="rect">
            <a:avLst/>
          </a:prstGeom>
          <a:noFill/>
          <a:ln/>
        </p:spPr>
        <p:txBody>
          <a:bodyPr wrap="square" lIns="0" tIns="0" rIns="0" bIns="0" rtlCol="0" anchor="ctr"/>
          <a:lstStyle/>
          <a:p>
            <a:pPr indent="0" marL="0">
              <a:lnSpc>
                <a:spcPct val="120000"/>
              </a:lnSpc>
              <a:buNone/>
            </a:pPr>
            <a:r>
              <a:rPr lang="en-US" sz="1050" dirty="0">
                <a:solidFill>
                  <a:srgbClr val="AEBBEF"/>
                </a:solidFill>
                <a:latin typeface="Calibri" pitchFamily="34" charset="0"/>
                <a:ea typeface="Calibri" pitchFamily="34" charset="-122"/>
                <a:cs typeface="Calibri" pitchFamily="34" charset="-120"/>
              </a:rPr>
              <a:t>README.md et LOCAL_MEMORY.md du dossier Windows11UpgradeToolkit décrivent chaque option en détail.</a:t>
            </a:r>
            <a:endParaRPr lang="en-US" sz="1050" dirty="0"/>
          </a:p>
        </p:txBody>
      </p:sp>
      <p:sp>
        <p:nvSpPr>
          <p:cNvPr id="14" name="Shape 11"/>
          <p:cNvSpPr/>
          <p:nvPr/>
        </p:nvSpPr>
        <p:spPr>
          <a:xfrm>
            <a:off x="8961120" y="4160520"/>
            <a:ext cx="2468880" cy="0"/>
          </a:xfrm>
          <a:prstGeom prst="line">
            <a:avLst/>
          </a:prstGeom>
          <a:noFill/>
          <a:ln w="12700">
            <a:solidFill>
              <a:srgbClr val="2A3576"/>
            </a:solidFill>
            <a:prstDash val="solid"/>
          </a:ln>
        </p:spPr>
      </p:sp>
      <p:sp>
        <p:nvSpPr>
          <p:cNvPr id="15" name="Text 12"/>
          <p:cNvSpPr/>
          <p:nvPr/>
        </p:nvSpPr>
        <p:spPr>
          <a:xfrm>
            <a:off x="8961120" y="4343400"/>
            <a:ext cx="2468880" cy="320040"/>
          </a:xfrm>
          <a:prstGeom prst="rect">
            <a:avLst/>
          </a:prstGeom>
          <a:noFill/>
          <a:ln/>
        </p:spPr>
        <p:txBody>
          <a:bodyPr wrap="square" lIns="0" tIns="0" rIns="0" bIns="0" rtlCol="0" anchor="ctr"/>
          <a:lstStyle/>
          <a:p>
            <a:pPr indent="0" marL="0">
              <a:buNone/>
            </a:pPr>
            <a:r>
              <a:rPr lang="en-US" sz="1050" dirty="0">
                <a:solidFill>
                  <a:srgbClr val="8C99D6"/>
                </a:solidFill>
                <a:latin typeface="Calibri" pitchFamily="34" charset="0"/>
                <a:ea typeface="Calibri" pitchFamily="34" charset="-122"/>
                <a:cs typeface="Calibri" pitchFamily="34" charset="-120"/>
              </a:rPr>
              <a:t>workplacecloudhub.com</a:t>
            </a:r>
            <a:endParaRPr lang="en-US" sz="1050" dirty="0"/>
          </a:p>
        </p:txBody>
      </p:sp>
      <p:sp>
        <p:nvSpPr>
          <p:cNvPr id="16" name="Text 13"/>
          <p:cNvSpPr/>
          <p:nvPr/>
        </p:nvSpPr>
        <p:spPr>
          <a:xfrm>
            <a:off x="640080" y="6217920"/>
            <a:ext cx="5486400" cy="365760"/>
          </a:xfrm>
          <a:prstGeom prst="rect">
            <a:avLst/>
          </a:prstGeom>
          <a:noFill/>
          <a:ln/>
        </p:spPr>
        <p:txBody>
          <a:bodyPr wrap="square" lIns="0" tIns="0" rIns="0" bIns="0" rtlCol="0" anchor="ctr"/>
          <a:lstStyle/>
          <a:p>
            <a:pPr indent="0" marL="0">
              <a:buNone/>
            </a:pPr>
            <a:r>
              <a:rPr lang="en-US" sz="1100" dirty="0">
                <a:solidFill>
                  <a:srgbClr val="8C99D6"/>
                </a:solidFill>
                <a:latin typeface="Calibri" pitchFamily="34" charset="0"/>
                <a:ea typeface="Calibri" pitchFamily="34" charset="-122"/>
                <a:cs typeface="Calibri" pitchFamily="34" charset="-120"/>
              </a:rPr>
              <a:t>SmartM365 Devices — Équipe technique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2026-07-14T18:14:17Z</dcterms:created>
  <dcterms:modified xsi:type="dcterms:W3CDTF">2026-07-14T18:14:17Z</dcterms:modified>
</cp:coreProperties>
</file>