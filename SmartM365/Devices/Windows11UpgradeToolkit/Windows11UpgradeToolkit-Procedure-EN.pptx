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microsoft.com/software-download/windows11" TargetMode="External"/><Relationship Id="rId2" Type="http://schemas.openxmlformats.org/officeDocument/2006/relationships/hyperlink" Target="https://github.com/khda79/workplacecloudhub.com/blob/main/SmartM365/Devices/Windows11UpgradeToolkit/README.md"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github.com/khda79/workplacecloudhub.com/blob/main/SmartM365/Devices/Windows11UpgradeToolkit/README.md" TargetMode="External"/><Relationship Id="rId2"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khda79/workplacecloudhub.com/blob/main/SmartM365/Devices/Windows11UpgradeToolkit/README.md" TargetMode="External"/><Relationship Id="rId2"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E2761"/>
          </a:solidFill>
          <a:ln/>
        </p:spPr>
      </p:sp>
      <p:sp>
        <p:nvSpPr>
          <p:cNvPr id="3" name="Shape 1"/>
          <p:cNvSpPr/>
          <p:nvPr/>
        </p:nvSpPr>
        <p:spPr>
          <a:xfrm>
            <a:off x="8778240" y="-2011680"/>
            <a:ext cx="5943600" cy="5943600"/>
          </a:xfrm>
          <a:prstGeom prst="ellipse">
            <a:avLst/>
          </a:prstGeom>
          <a:solidFill>
            <a:srgbClr val="263080"/>
          </a:solidFill>
          <a:ln/>
        </p:spPr>
      </p:sp>
      <p:sp>
        <p:nvSpPr>
          <p:cNvPr id="4" name="Shape 2"/>
          <p:cNvSpPr/>
          <p:nvPr/>
        </p:nvSpPr>
        <p:spPr>
          <a:xfrm>
            <a:off x="10241280" y="4206240"/>
            <a:ext cx="3840480" cy="3840480"/>
          </a:xfrm>
          <a:prstGeom prst="ellipse">
            <a:avLst/>
          </a:prstGeom>
          <a:solidFill>
            <a:srgbClr val="263080"/>
          </a:solidFill>
          <a:ln/>
        </p:spPr>
      </p:sp>
      <p:pic>
        <p:nvPicPr>
          <p:cNvPr id="5" name="Image 0" descr="C:\Users\Khaled\AppData\Local\Temp\claude\C--Users-Khaled-OneDrive-Documents-SmartIntune\c5e67daa-f249-479e-bda8-772632c0f9d4\scratchpad\pptx\logo.png">    </p:cNvPr>
          <p:cNvPicPr>
            <a:picLocks noChangeAspect="1"/>
          </p:cNvPicPr>
          <p:nvPr/>
        </p:nvPicPr>
        <p:blipFill>
          <a:blip r:embed="rId1"/>
          <a:stretch>
            <a:fillRect/>
          </a:stretch>
        </p:blipFill>
        <p:spPr>
          <a:xfrm>
            <a:off x="640080" y="502920"/>
            <a:ext cx="2286000" cy="896112"/>
          </a:xfrm>
          <a:prstGeom prst="rect">
            <a:avLst/>
          </a:prstGeom>
        </p:spPr>
      </p:pic>
      <p:sp>
        <p:nvSpPr>
          <p:cNvPr id="6" name="Shape 3"/>
          <p:cNvSpPr/>
          <p:nvPr/>
        </p:nvSpPr>
        <p:spPr>
          <a:xfrm>
            <a:off x="640080" y="2331720"/>
            <a:ext cx="3291840" cy="384048"/>
          </a:xfrm>
          <a:prstGeom prst="roundRect">
            <a:avLst>
              <a:gd name="adj" fmla="val 50000"/>
            </a:avLst>
          </a:prstGeom>
          <a:solidFill>
            <a:srgbClr val="2A3576"/>
          </a:solidFill>
          <a:ln/>
        </p:spPr>
      </p:sp>
      <p:sp>
        <p:nvSpPr>
          <p:cNvPr id="7" name="Text 4"/>
          <p:cNvSpPr/>
          <p:nvPr/>
        </p:nvSpPr>
        <p:spPr>
          <a:xfrm>
            <a:off x="640080" y="2331720"/>
            <a:ext cx="3291840" cy="384048"/>
          </a:xfrm>
          <a:prstGeom prst="rect">
            <a:avLst/>
          </a:prstGeom>
          <a:noFill/>
          <a:ln/>
        </p:spPr>
        <p:txBody>
          <a:bodyPr wrap="square" lIns="0" tIns="0" rIns="0" bIns="0" rtlCol="0" anchor="ctr"/>
          <a:lstStyle/>
          <a:p>
            <a:pPr algn="ctr" indent="0" marL="0">
              <a:buNone/>
            </a:pPr>
            <a:r>
              <a:rPr lang="en-US" sz="1200" b="1" spc="150" kern="0" dirty="0">
                <a:solidFill>
                  <a:srgbClr val="CADCFC"/>
                </a:solidFill>
                <a:latin typeface="Calibri" pitchFamily="34" charset="0"/>
                <a:ea typeface="Calibri" pitchFamily="34" charset="-122"/>
                <a:cs typeface="Calibri" pitchFamily="34" charset="-120"/>
              </a:rPr>
              <a:t>SMARTM365 • DEVICES</a:t>
            </a:r>
            <a:endParaRPr lang="en-US" sz="1200" dirty="0"/>
          </a:p>
        </p:txBody>
      </p:sp>
      <p:sp>
        <p:nvSpPr>
          <p:cNvPr id="8" name="Text 5"/>
          <p:cNvSpPr/>
          <p:nvPr/>
        </p:nvSpPr>
        <p:spPr>
          <a:xfrm>
            <a:off x="621792" y="2788920"/>
            <a:ext cx="9601200" cy="13716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Windows 11 Upgrade Toolkit</a:t>
            </a:r>
            <a:endParaRPr lang="en-US" sz="4400" dirty="0"/>
          </a:p>
        </p:txBody>
      </p:sp>
      <p:sp>
        <p:nvSpPr>
          <p:cNvPr id="9" name="Text 6"/>
          <p:cNvSpPr/>
          <p:nvPr/>
        </p:nvSpPr>
        <p:spPr>
          <a:xfrm>
            <a:off x="640080" y="3794760"/>
            <a:ext cx="9144000" cy="54864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Installation and Configuration Guide</a:t>
            </a:r>
            <a:endParaRPr lang="en-US" sz="2000" dirty="0"/>
          </a:p>
        </p:txBody>
      </p:sp>
      <p:sp>
        <p:nvSpPr>
          <p:cNvPr id="10" name="Shape 7"/>
          <p:cNvSpPr/>
          <p:nvPr/>
        </p:nvSpPr>
        <p:spPr>
          <a:xfrm>
            <a:off x="658368" y="4480560"/>
            <a:ext cx="0" cy="1005840"/>
          </a:xfrm>
          <a:prstGeom prst="line">
            <a:avLst/>
          </a:prstGeom>
          <a:noFill/>
          <a:ln w="19050">
            <a:solidFill>
              <a:srgbClr val="3A4590"/>
            </a:solidFill>
            <a:prstDash val="solid"/>
          </a:ln>
        </p:spPr>
      </p:sp>
      <p:sp>
        <p:nvSpPr>
          <p:cNvPr id="11" name="Text 8"/>
          <p:cNvSpPr/>
          <p:nvPr/>
        </p:nvSpPr>
        <p:spPr>
          <a:xfrm>
            <a:off x="868680" y="4526280"/>
            <a:ext cx="8686800" cy="822960"/>
          </a:xfrm>
          <a:prstGeom prst="rect">
            <a:avLst/>
          </a:prstGeom>
          <a:noFill/>
          <a:ln/>
        </p:spPr>
        <p:txBody>
          <a:bodyPr wrap="square" lIns="0" tIns="0" rIns="0" bIns="0" rtlCol="0" anchor="ctr"/>
          <a:lstStyle/>
          <a:p>
            <a:pPr indent="0" marL="0">
              <a:lnSpc>
                <a:spcPts val="2000"/>
              </a:lnSpc>
              <a:buNone/>
            </a:pPr>
            <a:r>
              <a:rPr lang="en-US" sz="1300" dirty="0">
                <a:solidFill>
                  <a:srgbClr val="AEBBEF"/>
                </a:solidFill>
                <a:latin typeface="Calibri" pitchFamily="34" charset="0"/>
                <a:ea typeface="Calibri" pitchFamily="34" charset="-122"/>
                <a:cs typeface="Calibri" pitchFamily="34" charset="-120"/>
              </a:rPr>
              <a:t>LOT / PsExec architecture  •  Guided diagnostics  •  Windows 10 → Windows 11 upgrade
</a:t>
            </a:r>
            <a:pPr indent="0" marL="0">
              <a:lnSpc>
                <a:spcPts val="2000"/>
              </a:lnSpc>
              <a:buNone/>
            </a:pPr>
            <a:r>
              <a:rPr lang="en-US" sz="1300" dirty="0">
                <a:solidFill>
                  <a:srgbClr val="AEBBEF"/>
                </a:solidFill>
                <a:latin typeface="Calibri" pitchFamily="34" charset="0"/>
                <a:ea typeface="Calibri" pitchFamily="34" charset="-122"/>
                <a:cs typeface="Calibri" pitchFamily="34" charset="-120"/>
              </a:rPr>
              <a:t>Technical document — SmartM365 Devices team</a:t>
            </a:r>
            <a:endParaRPr lang="en-US" sz="1300" dirty="0"/>
          </a:p>
        </p:txBody>
      </p:sp>
      <p:sp>
        <p:nvSpPr>
          <p:cNvPr id="12" name="Text 9"/>
          <p:cNvSpPr/>
          <p:nvPr/>
        </p:nvSpPr>
        <p:spPr>
          <a:xfrm>
            <a:off x="640080" y="6217920"/>
            <a:ext cx="3657600" cy="365760"/>
          </a:xfrm>
          <a:prstGeom prst="rect">
            <a:avLst/>
          </a:prstGeom>
          <a:noFill/>
          <a:ln/>
        </p:spPr>
        <p:txBody>
          <a:bodyPr wrap="square" lIns="0" tIns="0" rIns="0" bIns="0" rtlCol="0" anchor="ctr"/>
          <a:lstStyle/>
          <a:p>
            <a:pPr indent="0" marL="0">
              <a:buNone/>
            </a:pPr>
            <a:r>
              <a:rPr lang="en-US" sz="1100" dirty="0">
                <a:solidFill>
                  <a:srgbClr val="8C99D6"/>
                </a:solidFill>
                <a:latin typeface="Calibri" pitchFamily="34" charset="0"/>
                <a:ea typeface="Calibri" pitchFamily="34" charset="-122"/>
                <a:cs typeface="Calibri" pitchFamily="34" charset="-120"/>
              </a:rPr>
              <a:t>workplacecloudhub.com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2834640" cy="347472"/>
          </a:xfrm>
          <a:prstGeom prst="roundRect">
            <a:avLst>
              <a:gd name="adj" fmla="val 50000"/>
            </a:avLst>
          </a:prstGeom>
          <a:solidFill>
            <a:srgbClr val="E6F4FF"/>
          </a:solidFill>
          <a:ln/>
        </p:spPr>
      </p:sp>
      <p:sp>
        <p:nvSpPr>
          <p:cNvPr id="3" name="Text 1"/>
          <p:cNvSpPr/>
          <p:nvPr/>
        </p:nvSpPr>
        <p:spPr>
          <a:xfrm>
            <a:off x="502920" y="457200"/>
            <a:ext cx="2834640" cy="347472"/>
          </a:xfrm>
          <a:prstGeom prst="rect">
            <a:avLst/>
          </a:prstGeom>
          <a:noFill/>
          <a:ln/>
        </p:spPr>
        <p:txBody>
          <a:bodyPr wrap="square" lIns="0" tIns="0" rIns="0" bIns="0" rtlCol="0" anchor="ctr"/>
          <a:lstStyle/>
          <a:p>
            <a:pPr algn="ctr" indent="0" marL="0">
              <a:buNone/>
            </a:pPr>
            <a:r>
              <a:rPr lang="en-US" sz="1100" b="1" spc="100" kern="0" dirty="0">
                <a:solidFill>
                  <a:srgbClr val="0078D4"/>
                </a:solidFill>
                <a:latin typeface="Calibri" pitchFamily="34" charset="0"/>
                <a:ea typeface="Calibri" pitchFamily="34" charset="-122"/>
                <a:cs typeface="Calibri" pitchFamily="34" charset="-120"/>
              </a:rPr>
              <a:t>OVERVIEW</a:t>
            </a:r>
            <a:endParaRPr lang="en-US" sz="1100" dirty="0"/>
          </a:p>
        </p:txBody>
      </p:sp>
      <p:sp>
        <p:nvSpPr>
          <p:cNvPr id="4" name="Text 2"/>
          <p:cNvSpPr/>
          <p:nvPr/>
        </p:nvSpPr>
        <p:spPr>
          <a:xfrm>
            <a:off x="502920" y="896112"/>
            <a:ext cx="11185855"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Toolkit objective</a:t>
            </a:r>
            <a:endParaRPr lang="en-US" sz="3200" dirty="0"/>
          </a:p>
        </p:txBody>
      </p:sp>
      <p:sp>
        <p:nvSpPr>
          <p:cNvPr id="5" name="Text 3"/>
          <p:cNvSpPr/>
          <p:nvPr/>
        </p:nvSpPr>
        <p:spPr>
          <a:xfrm>
            <a:off x="502920" y="1783080"/>
            <a:ext cx="6492240" cy="1371600"/>
          </a:xfrm>
          <a:prstGeom prst="rect">
            <a:avLst/>
          </a:prstGeom>
          <a:noFill/>
          <a:ln/>
        </p:spPr>
        <p:txBody>
          <a:bodyPr wrap="square" lIns="0" tIns="0" rIns="0" bIns="0" rtlCol="0" anchor="ctr"/>
          <a:lstStyle/>
          <a:p>
            <a:pPr indent="0" marL="0">
              <a:lnSpc>
                <a:spcPct val="125000"/>
              </a:lnSpc>
              <a:buNone/>
            </a:pPr>
            <a:r>
              <a:rPr lang="en-US" sz="1500" dirty="0">
                <a:solidFill>
                  <a:srgbClr val="1F2937"/>
                </a:solidFill>
                <a:latin typeface="Calibri" pitchFamily="34" charset="0"/>
                <a:ea typeface="Calibri" pitchFamily="34" charset="-122"/>
                <a:cs typeface="Calibri" pitchFamily="34" charset="-120"/>
              </a:rPr>
              <a:t>The toolkit diagnoses Windows 10 devices that fail to migrate to Windows 11 through Intune, Windows Autopatch, or Windows Update for Business, explains why, then runs guarded repair or upgrade actions from LOT folders.</a:t>
            </a:r>
            <a:endParaRPr lang="en-US" sz="1500" dirty="0"/>
          </a:p>
        </p:txBody>
      </p:sp>
      <p:sp>
        <p:nvSpPr>
          <p:cNvPr id="6" name="Shape 4"/>
          <p:cNvSpPr/>
          <p:nvPr/>
        </p:nvSpPr>
        <p:spPr>
          <a:xfrm>
            <a:off x="502920" y="3337560"/>
            <a:ext cx="128016" cy="822960"/>
          </a:xfrm>
          <a:prstGeom prst="roundRect">
            <a:avLst>
              <a:gd name="adj" fmla="val 50000"/>
            </a:avLst>
          </a:prstGeom>
          <a:solidFill>
            <a:srgbClr val="0078D4"/>
          </a:solidFill>
          <a:ln/>
        </p:spPr>
      </p:sp>
      <p:sp>
        <p:nvSpPr>
          <p:cNvPr id="7" name="Text 5"/>
          <p:cNvSpPr/>
          <p:nvPr/>
        </p:nvSpPr>
        <p:spPr>
          <a:xfrm>
            <a:off x="777240" y="3291840"/>
            <a:ext cx="621792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Self-contained diagnostics</a:t>
            </a:r>
            <a:endParaRPr lang="en-US" sz="1500" dirty="0"/>
          </a:p>
        </p:txBody>
      </p:sp>
      <p:sp>
        <p:nvSpPr>
          <p:cNvPr id="8" name="Text 6"/>
          <p:cNvSpPr/>
          <p:nvPr/>
        </p:nvSpPr>
        <p:spPr>
          <a:xfrm>
            <a:off x="777240" y="3630168"/>
            <a:ext cx="6217920" cy="548640"/>
          </a:xfrm>
          <a:prstGeom prst="rect">
            <a:avLst/>
          </a:prstGeom>
          <a:noFill/>
          <a:ln/>
        </p:spPr>
        <p:txBody>
          <a:bodyPr wrap="square" lIns="0" tIns="0" rIns="0" bIns="0" rtlCol="0" anchor="ctr"/>
          <a:lstStyle/>
          <a:p>
            <a:pPr indent="0" marL="0">
              <a:lnSpc>
                <a:spcPct val="120000"/>
              </a:lnSpc>
              <a:buNone/>
            </a:pPr>
            <a:r>
              <a:rPr lang="en-US" sz="1250" dirty="0">
                <a:solidFill>
                  <a:srgbClr val="5F6B7A"/>
                </a:solidFill>
                <a:latin typeface="Calibri" pitchFamily="34" charset="0"/>
                <a:ea typeface="Calibri" pitchFamily="34" charset="-122"/>
                <a:cs typeface="Calibri" pitchFamily="34" charset="-120"/>
              </a:rPr>
              <a:t>The endpoint script is a single PowerShell file, deployable via PsExec without any SmartM365 module on the target.</a:t>
            </a:r>
            <a:endParaRPr lang="en-US" sz="1250" dirty="0"/>
          </a:p>
        </p:txBody>
      </p:sp>
      <p:sp>
        <p:nvSpPr>
          <p:cNvPr id="9" name="Shape 7"/>
          <p:cNvSpPr/>
          <p:nvPr/>
        </p:nvSpPr>
        <p:spPr>
          <a:xfrm>
            <a:off x="502920" y="4297680"/>
            <a:ext cx="128016" cy="822960"/>
          </a:xfrm>
          <a:prstGeom prst="roundRect">
            <a:avLst>
              <a:gd name="adj" fmla="val 50000"/>
            </a:avLst>
          </a:prstGeom>
          <a:solidFill>
            <a:srgbClr val="0078D4"/>
          </a:solidFill>
          <a:ln/>
        </p:spPr>
      </p:sp>
      <p:sp>
        <p:nvSpPr>
          <p:cNvPr id="10" name="Text 8"/>
          <p:cNvSpPr/>
          <p:nvPr/>
        </p:nvSpPr>
        <p:spPr>
          <a:xfrm>
            <a:off x="777240" y="4251960"/>
            <a:ext cx="621792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Guarded actions</a:t>
            </a:r>
            <a:endParaRPr lang="en-US" sz="1500" dirty="0"/>
          </a:p>
        </p:txBody>
      </p:sp>
      <p:sp>
        <p:nvSpPr>
          <p:cNvPr id="11" name="Text 9"/>
          <p:cNvSpPr/>
          <p:nvPr/>
        </p:nvSpPr>
        <p:spPr>
          <a:xfrm>
            <a:off x="777240" y="4590288"/>
            <a:ext cx="6217920" cy="548640"/>
          </a:xfrm>
          <a:prstGeom prst="rect">
            <a:avLst/>
          </a:prstGeom>
          <a:noFill/>
          <a:ln/>
        </p:spPr>
        <p:txBody>
          <a:bodyPr wrap="square" lIns="0" tIns="0" rIns="0" bIns="0" rtlCol="0" anchor="ctr"/>
          <a:lstStyle/>
          <a:p>
            <a:pPr indent="0" marL="0">
              <a:lnSpc>
                <a:spcPct val="120000"/>
              </a:lnSpc>
              <a:buNone/>
            </a:pPr>
            <a:r>
              <a:rPr lang="en-US" sz="1250" dirty="0">
                <a:solidFill>
                  <a:srgbClr val="5F6B7A"/>
                </a:solidFill>
                <a:latin typeface="Calibri" pitchFamily="34" charset="0"/>
                <a:ea typeface="Calibri" pitchFamily="34" charset="-122"/>
                <a:cs typeface="Calibri" pitchFamily="34" charset="-120"/>
              </a:rPr>
              <a:t>Each action (repair, WU reset, setup upgrade) only runs if the matching -Allow* switch is enabled.</a:t>
            </a:r>
            <a:endParaRPr lang="en-US" sz="1250" dirty="0"/>
          </a:p>
        </p:txBody>
      </p:sp>
      <p:sp>
        <p:nvSpPr>
          <p:cNvPr id="12" name="Shape 10"/>
          <p:cNvSpPr/>
          <p:nvPr/>
        </p:nvSpPr>
        <p:spPr>
          <a:xfrm>
            <a:off x="502920" y="5257800"/>
            <a:ext cx="128016" cy="822960"/>
          </a:xfrm>
          <a:prstGeom prst="roundRect">
            <a:avLst>
              <a:gd name="adj" fmla="val 50000"/>
            </a:avLst>
          </a:prstGeom>
          <a:solidFill>
            <a:srgbClr val="0078D4"/>
          </a:solidFill>
          <a:ln/>
        </p:spPr>
      </p:sp>
      <p:sp>
        <p:nvSpPr>
          <p:cNvPr id="13" name="Text 11"/>
          <p:cNvSpPr/>
          <p:nvPr/>
        </p:nvSpPr>
        <p:spPr>
          <a:xfrm>
            <a:off x="777240" y="5212080"/>
            <a:ext cx="621792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Batch operations</a:t>
            </a:r>
            <a:endParaRPr lang="en-US" sz="1500" dirty="0"/>
          </a:p>
        </p:txBody>
      </p:sp>
      <p:sp>
        <p:nvSpPr>
          <p:cNvPr id="14" name="Text 12"/>
          <p:cNvSpPr/>
          <p:nvPr/>
        </p:nvSpPr>
        <p:spPr>
          <a:xfrm>
            <a:off x="777240" y="5550408"/>
            <a:ext cx="6217920" cy="548640"/>
          </a:xfrm>
          <a:prstGeom prst="rect">
            <a:avLst/>
          </a:prstGeom>
          <a:noFill/>
          <a:ln/>
        </p:spPr>
        <p:txBody>
          <a:bodyPr wrap="square" lIns="0" tIns="0" rIns="0" bIns="0" rtlCol="0" anchor="ctr"/>
          <a:lstStyle/>
          <a:p>
            <a:pPr indent="0" marL="0">
              <a:lnSpc>
                <a:spcPct val="120000"/>
              </a:lnSpc>
              <a:buNone/>
            </a:pPr>
            <a:r>
              <a:rPr lang="en-US" sz="1250" dirty="0">
                <a:solidFill>
                  <a:srgbClr val="5F6B7A"/>
                </a:solidFill>
                <a:latin typeface="Calibri" pitchFamily="34" charset="0"/>
                <a:ea typeface="Calibri" pitchFamily="34" charset="-122"/>
                <a:cs typeface="Calibri" pitchFamily="34" charset="-120"/>
              </a:rPr>
              <a:t>Designed to process campaigns of several hundred devices from a single operator workstation.</a:t>
            </a:r>
            <a:endParaRPr lang="en-US" sz="1250" dirty="0"/>
          </a:p>
        </p:txBody>
      </p:sp>
      <p:sp>
        <p:nvSpPr>
          <p:cNvPr id="15" name="Shape 13"/>
          <p:cNvSpPr/>
          <p:nvPr/>
        </p:nvSpPr>
        <p:spPr>
          <a:xfrm>
            <a:off x="7360920" y="1783080"/>
            <a:ext cx="4343400" cy="4343400"/>
          </a:xfrm>
          <a:prstGeom prst="roundRect">
            <a:avLst>
              <a:gd name="adj" fmla="val 2105"/>
            </a:avLst>
          </a:prstGeom>
          <a:solidFill>
            <a:srgbClr val="F5F8FB"/>
          </a:solidFill>
          <a:ln w="12700">
            <a:solidFill>
              <a:srgbClr val="DDE7F0"/>
            </a:solidFill>
            <a:prstDash val="solid"/>
          </a:ln>
        </p:spPr>
      </p:sp>
      <p:sp>
        <p:nvSpPr>
          <p:cNvPr id="16" name="Text 14"/>
          <p:cNvSpPr/>
          <p:nvPr/>
        </p:nvSpPr>
        <p:spPr>
          <a:xfrm>
            <a:off x="7635240" y="2011680"/>
            <a:ext cx="3840480"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Simplified flow</a:t>
            </a:r>
            <a:endParaRPr lang="en-US" sz="1300" dirty="0"/>
          </a:p>
        </p:txBody>
      </p:sp>
      <p:sp>
        <p:nvSpPr>
          <p:cNvPr id="17" name="Shape 15"/>
          <p:cNvSpPr/>
          <p:nvPr/>
        </p:nvSpPr>
        <p:spPr>
          <a:xfrm>
            <a:off x="7635240" y="2514600"/>
            <a:ext cx="3566160" cy="658368"/>
          </a:xfrm>
          <a:prstGeom prst="roundRect">
            <a:avLst>
              <a:gd name="adj" fmla="val 11111"/>
            </a:avLst>
          </a:prstGeom>
          <a:solidFill>
            <a:srgbClr val="FFFFFF"/>
          </a:solidFill>
          <a:ln w="12700">
            <a:solidFill>
              <a:srgbClr val="DDE7F0"/>
            </a:solidFill>
            <a:prstDash val="solid"/>
          </a:ln>
        </p:spPr>
      </p:sp>
      <p:sp>
        <p:nvSpPr>
          <p:cNvPr id="18" name="Shape 16"/>
          <p:cNvSpPr/>
          <p:nvPr/>
        </p:nvSpPr>
        <p:spPr>
          <a:xfrm>
            <a:off x="7790688" y="2670048"/>
            <a:ext cx="347472" cy="347472"/>
          </a:xfrm>
          <a:prstGeom prst="ellipse">
            <a:avLst/>
          </a:prstGeom>
          <a:solidFill>
            <a:srgbClr val="CADCFC"/>
          </a:solidFill>
          <a:ln/>
        </p:spPr>
      </p:sp>
      <p:sp>
        <p:nvSpPr>
          <p:cNvPr id="19" name="Text 17"/>
          <p:cNvSpPr/>
          <p:nvPr/>
        </p:nvSpPr>
        <p:spPr>
          <a:xfrm>
            <a:off x="7790688" y="2670048"/>
            <a:ext cx="347472" cy="347472"/>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1</a:t>
            </a:r>
            <a:endParaRPr lang="en-US" sz="1200" dirty="0"/>
          </a:p>
        </p:txBody>
      </p:sp>
      <p:sp>
        <p:nvSpPr>
          <p:cNvPr id="20" name="Text 18"/>
          <p:cNvSpPr/>
          <p:nvPr/>
        </p:nvSpPr>
        <p:spPr>
          <a:xfrm>
            <a:off x="8275320" y="2514600"/>
            <a:ext cx="2834640" cy="658368"/>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Windows 10 diagnostics</a:t>
            </a:r>
            <a:endParaRPr lang="en-US" sz="1250" dirty="0"/>
          </a:p>
        </p:txBody>
      </p:sp>
      <p:sp>
        <p:nvSpPr>
          <p:cNvPr id="21" name="Shape 19"/>
          <p:cNvSpPr/>
          <p:nvPr/>
        </p:nvSpPr>
        <p:spPr>
          <a:xfrm>
            <a:off x="7964424" y="3172968"/>
            <a:ext cx="0" cy="146304"/>
          </a:xfrm>
          <a:prstGeom prst="line">
            <a:avLst/>
          </a:prstGeom>
          <a:noFill/>
          <a:ln w="19050">
            <a:solidFill>
              <a:srgbClr val="DDE7F0"/>
            </a:solidFill>
            <a:prstDash val="solid"/>
          </a:ln>
        </p:spPr>
      </p:sp>
      <p:sp>
        <p:nvSpPr>
          <p:cNvPr id="22" name="Shape 20"/>
          <p:cNvSpPr/>
          <p:nvPr/>
        </p:nvSpPr>
        <p:spPr>
          <a:xfrm>
            <a:off x="7635240" y="3319272"/>
            <a:ext cx="3566160" cy="658368"/>
          </a:xfrm>
          <a:prstGeom prst="roundRect">
            <a:avLst>
              <a:gd name="adj" fmla="val 11111"/>
            </a:avLst>
          </a:prstGeom>
          <a:solidFill>
            <a:srgbClr val="FFFFFF"/>
          </a:solidFill>
          <a:ln w="12700">
            <a:solidFill>
              <a:srgbClr val="DDE7F0"/>
            </a:solidFill>
            <a:prstDash val="solid"/>
          </a:ln>
        </p:spPr>
      </p:sp>
      <p:sp>
        <p:nvSpPr>
          <p:cNvPr id="23" name="Shape 21"/>
          <p:cNvSpPr/>
          <p:nvPr/>
        </p:nvSpPr>
        <p:spPr>
          <a:xfrm>
            <a:off x="7790688" y="3474720"/>
            <a:ext cx="347472" cy="347472"/>
          </a:xfrm>
          <a:prstGeom prst="ellipse">
            <a:avLst/>
          </a:prstGeom>
          <a:solidFill>
            <a:srgbClr val="CADCFC"/>
          </a:solidFill>
          <a:ln/>
        </p:spPr>
      </p:sp>
      <p:sp>
        <p:nvSpPr>
          <p:cNvPr id="24" name="Text 22"/>
          <p:cNvSpPr/>
          <p:nvPr/>
        </p:nvSpPr>
        <p:spPr>
          <a:xfrm>
            <a:off x="7790688" y="3474720"/>
            <a:ext cx="347472" cy="347472"/>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2</a:t>
            </a:r>
            <a:endParaRPr lang="en-US" sz="1200" dirty="0"/>
          </a:p>
        </p:txBody>
      </p:sp>
      <p:sp>
        <p:nvSpPr>
          <p:cNvPr id="25" name="Text 23"/>
          <p:cNvSpPr/>
          <p:nvPr/>
        </p:nvSpPr>
        <p:spPr>
          <a:xfrm>
            <a:off x="8275320" y="3319272"/>
            <a:ext cx="2834640" cy="658368"/>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Blocker analysis</a:t>
            </a:r>
            <a:endParaRPr lang="en-US" sz="1250" dirty="0"/>
          </a:p>
        </p:txBody>
      </p:sp>
      <p:sp>
        <p:nvSpPr>
          <p:cNvPr id="26" name="Shape 24"/>
          <p:cNvSpPr/>
          <p:nvPr/>
        </p:nvSpPr>
        <p:spPr>
          <a:xfrm>
            <a:off x="7964424" y="3977640"/>
            <a:ext cx="0" cy="146304"/>
          </a:xfrm>
          <a:prstGeom prst="line">
            <a:avLst/>
          </a:prstGeom>
          <a:noFill/>
          <a:ln w="19050">
            <a:solidFill>
              <a:srgbClr val="DDE7F0"/>
            </a:solidFill>
            <a:prstDash val="solid"/>
          </a:ln>
        </p:spPr>
      </p:sp>
      <p:sp>
        <p:nvSpPr>
          <p:cNvPr id="27" name="Shape 25"/>
          <p:cNvSpPr/>
          <p:nvPr/>
        </p:nvSpPr>
        <p:spPr>
          <a:xfrm>
            <a:off x="7635240" y="4123944"/>
            <a:ext cx="3566160" cy="658368"/>
          </a:xfrm>
          <a:prstGeom prst="roundRect">
            <a:avLst>
              <a:gd name="adj" fmla="val 11111"/>
            </a:avLst>
          </a:prstGeom>
          <a:solidFill>
            <a:srgbClr val="FFFFFF"/>
          </a:solidFill>
          <a:ln w="12700">
            <a:solidFill>
              <a:srgbClr val="DDE7F0"/>
            </a:solidFill>
            <a:prstDash val="solid"/>
          </a:ln>
        </p:spPr>
      </p:sp>
      <p:sp>
        <p:nvSpPr>
          <p:cNvPr id="28" name="Shape 26"/>
          <p:cNvSpPr/>
          <p:nvPr/>
        </p:nvSpPr>
        <p:spPr>
          <a:xfrm>
            <a:off x="7790688" y="4279392"/>
            <a:ext cx="347472" cy="347472"/>
          </a:xfrm>
          <a:prstGeom prst="ellipse">
            <a:avLst/>
          </a:prstGeom>
          <a:solidFill>
            <a:srgbClr val="CADCFC"/>
          </a:solidFill>
          <a:ln/>
        </p:spPr>
      </p:sp>
      <p:sp>
        <p:nvSpPr>
          <p:cNvPr id="29" name="Text 27"/>
          <p:cNvSpPr/>
          <p:nvPr/>
        </p:nvSpPr>
        <p:spPr>
          <a:xfrm>
            <a:off x="7790688" y="4279392"/>
            <a:ext cx="347472" cy="347472"/>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3</a:t>
            </a:r>
            <a:endParaRPr lang="en-US" sz="1200" dirty="0"/>
          </a:p>
        </p:txBody>
      </p:sp>
      <p:sp>
        <p:nvSpPr>
          <p:cNvPr id="30" name="Text 28"/>
          <p:cNvSpPr/>
          <p:nvPr/>
        </p:nvSpPr>
        <p:spPr>
          <a:xfrm>
            <a:off x="8275320" y="4123944"/>
            <a:ext cx="2834640" cy="658368"/>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Guarded actions</a:t>
            </a:r>
            <a:endParaRPr lang="en-US" sz="1250" dirty="0"/>
          </a:p>
        </p:txBody>
      </p:sp>
      <p:sp>
        <p:nvSpPr>
          <p:cNvPr id="31" name="Shape 29"/>
          <p:cNvSpPr/>
          <p:nvPr/>
        </p:nvSpPr>
        <p:spPr>
          <a:xfrm>
            <a:off x="7964424" y="4782312"/>
            <a:ext cx="0" cy="146304"/>
          </a:xfrm>
          <a:prstGeom prst="line">
            <a:avLst/>
          </a:prstGeom>
          <a:noFill/>
          <a:ln w="19050">
            <a:solidFill>
              <a:srgbClr val="DDE7F0"/>
            </a:solidFill>
            <a:prstDash val="solid"/>
          </a:ln>
        </p:spPr>
      </p:sp>
      <p:sp>
        <p:nvSpPr>
          <p:cNvPr id="32" name="Shape 30"/>
          <p:cNvSpPr/>
          <p:nvPr/>
        </p:nvSpPr>
        <p:spPr>
          <a:xfrm>
            <a:off x="7635240" y="4928616"/>
            <a:ext cx="3566160" cy="658368"/>
          </a:xfrm>
          <a:prstGeom prst="roundRect">
            <a:avLst>
              <a:gd name="adj" fmla="val 11111"/>
            </a:avLst>
          </a:prstGeom>
          <a:solidFill>
            <a:srgbClr val="FFFFFF"/>
          </a:solidFill>
          <a:ln w="12700">
            <a:solidFill>
              <a:srgbClr val="DDE7F0"/>
            </a:solidFill>
            <a:prstDash val="solid"/>
          </a:ln>
        </p:spPr>
      </p:sp>
      <p:sp>
        <p:nvSpPr>
          <p:cNvPr id="33" name="Shape 31"/>
          <p:cNvSpPr/>
          <p:nvPr/>
        </p:nvSpPr>
        <p:spPr>
          <a:xfrm>
            <a:off x="7790688" y="5084064"/>
            <a:ext cx="347472" cy="347472"/>
          </a:xfrm>
          <a:prstGeom prst="ellipse">
            <a:avLst/>
          </a:prstGeom>
          <a:solidFill>
            <a:srgbClr val="0078D4"/>
          </a:solidFill>
          <a:ln/>
        </p:spPr>
      </p:sp>
      <p:sp>
        <p:nvSpPr>
          <p:cNvPr id="34" name="Text 32"/>
          <p:cNvSpPr/>
          <p:nvPr/>
        </p:nvSpPr>
        <p:spPr>
          <a:xfrm>
            <a:off x="7790688" y="50840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5" name="Text 33"/>
          <p:cNvSpPr/>
          <p:nvPr/>
        </p:nvSpPr>
        <p:spPr>
          <a:xfrm>
            <a:off x="8275320" y="4928616"/>
            <a:ext cx="2834640" cy="658368"/>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Windows 11 upgrade</a:t>
            </a:r>
            <a:endParaRPr lang="en-US" sz="1250" dirty="0"/>
          </a:p>
        </p:txBody>
      </p:sp>
      <p:sp>
        <p:nvSpPr>
          <p:cNvPr id="36" name="Text 34"/>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SmartM365 Devices — Windows 11 Upgrade Toolkit</a:t>
            </a:r>
            <a:endParaRPr lang="en-US" sz="900" dirty="0"/>
          </a:p>
        </p:txBody>
      </p:sp>
      <p:sp>
        <p:nvSpPr>
          <p:cNvPr id="37" name="Text 3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2834640" cy="347472"/>
          </a:xfrm>
          <a:prstGeom prst="roundRect">
            <a:avLst>
              <a:gd name="adj" fmla="val 50000"/>
            </a:avLst>
          </a:prstGeom>
          <a:solidFill>
            <a:srgbClr val="E6F4FF"/>
          </a:solidFill>
          <a:ln/>
        </p:spPr>
      </p:sp>
      <p:sp>
        <p:nvSpPr>
          <p:cNvPr id="3" name="Text 1"/>
          <p:cNvSpPr/>
          <p:nvPr/>
        </p:nvSpPr>
        <p:spPr>
          <a:xfrm>
            <a:off x="502920" y="457200"/>
            <a:ext cx="2834640" cy="347472"/>
          </a:xfrm>
          <a:prstGeom prst="rect">
            <a:avLst/>
          </a:prstGeom>
          <a:noFill/>
          <a:ln/>
        </p:spPr>
        <p:txBody>
          <a:bodyPr wrap="square" lIns="0" tIns="0" rIns="0" bIns="0" rtlCol="0" anchor="ctr"/>
          <a:lstStyle/>
          <a:p>
            <a:pPr algn="ctr" indent="0" marL="0">
              <a:buNone/>
            </a:pPr>
            <a:r>
              <a:rPr lang="en-US" sz="1100" b="1" spc="100" kern="0" dirty="0">
                <a:solidFill>
                  <a:srgbClr val="0078D4"/>
                </a:solidFill>
                <a:latin typeface="Calibri" pitchFamily="34" charset="0"/>
                <a:ea typeface="Calibri" pitchFamily="34" charset="-122"/>
                <a:cs typeface="Calibri" pitchFamily="34" charset="-120"/>
              </a:rPr>
              <a:t>POSITIONING</a:t>
            </a:r>
            <a:endParaRPr lang="en-US" sz="1100" dirty="0"/>
          </a:p>
        </p:txBody>
      </p:sp>
      <p:sp>
        <p:nvSpPr>
          <p:cNvPr id="4" name="Text 2"/>
          <p:cNvSpPr/>
          <p:nvPr/>
        </p:nvSpPr>
        <p:spPr>
          <a:xfrm>
            <a:off x="502920" y="896112"/>
            <a:ext cx="11185855"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When to use this toolkit</a:t>
            </a:r>
            <a:endParaRPr lang="en-US" sz="3200" dirty="0"/>
          </a:p>
        </p:txBody>
      </p:sp>
      <p:sp>
        <p:nvSpPr>
          <p:cNvPr id="5" name="Text 3"/>
          <p:cNvSpPr/>
          <p:nvPr/>
        </p:nvSpPr>
        <p:spPr>
          <a:xfrm>
            <a:off x="502920" y="1783080"/>
            <a:ext cx="11155680" cy="36576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This toolkit is the right fit when the following conditions apply:</a:t>
            </a:r>
            <a:endParaRPr lang="en-US" sz="1350" dirty="0"/>
          </a:p>
        </p:txBody>
      </p:sp>
      <p:sp>
        <p:nvSpPr>
          <p:cNvPr id="6" name="Shape 4"/>
          <p:cNvSpPr/>
          <p:nvPr/>
        </p:nvSpPr>
        <p:spPr>
          <a:xfrm>
            <a:off x="502920" y="2331720"/>
            <a:ext cx="11201400" cy="713232"/>
          </a:xfrm>
          <a:prstGeom prst="roundRect">
            <a:avLst>
              <a:gd name="adj" fmla="val 10256"/>
            </a:avLst>
          </a:prstGeom>
          <a:solidFill>
            <a:srgbClr val="F5F8FB"/>
          </a:solidFill>
          <a:ln w="12700">
            <a:solidFill>
              <a:srgbClr val="DDE7F0"/>
            </a:solidFill>
            <a:prstDash val="solid"/>
          </a:ln>
        </p:spPr>
      </p:sp>
      <p:sp>
        <p:nvSpPr>
          <p:cNvPr id="7" name="Shape 5"/>
          <p:cNvSpPr/>
          <p:nvPr/>
        </p:nvSpPr>
        <p:spPr>
          <a:xfrm>
            <a:off x="694944" y="2487168"/>
            <a:ext cx="384048" cy="384048"/>
          </a:xfrm>
          <a:prstGeom prst="ellipse">
            <a:avLst/>
          </a:prstGeom>
          <a:solidFill>
            <a:srgbClr val="0078D4"/>
          </a:solidFill>
          <a:ln/>
        </p:spPr>
      </p:sp>
      <p:sp>
        <p:nvSpPr>
          <p:cNvPr id="8" name="Text 6"/>
          <p:cNvSpPr/>
          <p:nvPr/>
        </p:nvSpPr>
        <p:spPr>
          <a:xfrm>
            <a:off x="694944" y="2487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298448" y="2404872"/>
            <a:ext cx="4114800" cy="566928"/>
          </a:xfrm>
          <a:prstGeom prst="rect">
            <a:avLst/>
          </a:prstGeom>
          <a:noFill/>
          <a:ln/>
        </p:spPr>
        <p:txBody>
          <a:bodyPr wrap="square" lIns="0" tIns="0" rIns="0" bIns="0" rtlCol="0" anchor="ctr"/>
          <a:lstStyle/>
          <a:p>
            <a:pPr indent="0" marL="0">
              <a:lnSpc>
                <a:spcPct val="102000"/>
              </a:lnSpc>
              <a:buNone/>
            </a:pPr>
            <a:r>
              <a:rPr lang="en-US" sz="1200" b="1" dirty="0">
                <a:solidFill>
                  <a:srgbClr val="1E2761"/>
                </a:solidFill>
                <a:latin typeface="Calibri" pitchFamily="34" charset="0"/>
                <a:ea typeface="Calibri" pitchFamily="34" charset="-122"/>
                <a:cs typeface="Calibri" pitchFamily="34" charset="-120"/>
              </a:rPr>
              <a:t>Intune / Autopatch / WUfB devices</a:t>
            </a:r>
            <a:endParaRPr lang="en-US" sz="1200" dirty="0"/>
          </a:p>
        </p:txBody>
      </p:sp>
      <p:sp>
        <p:nvSpPr>
          <p:cNvPr id="10" name="Text 8"/>
          <p:cNvSpPr/>
          <p:nvPr/>
        </p:nvSpPr>
        <p:spPr>
          <a:xfrm>
            <a:off x="5577840" y="2404872"/>
            <a:ext cx="5989320" cy="566928"/>
          </a:xfrm>
          <a:prstGeom prst="rect">
            <a:avLst/>
          </a:prstGeom>
          <a:noFill/>
          <a:ln/>
        </p:spPr>
        <p:txBody>
          <a:bodyPr wrap="square" lIns="0" tIns="0" rIns="0" bIns="0" rtlCol="0" anchor="ctr"/>
          <a:lstStyle/>
          <a:p>
            <a:pPr indent="0" marL="0">
              <a:lnSpc>
                <a:spcPct val="108000"/>
              </a:lnSpc>
              <a:buNone/>
            </a:pPr>
            <a:r>
              <a:rPr lang="en-US" sz="1030" dirty="0">
                <a:solidFill>
                  <a:srgbClr val="5F6B7A"/>
                </a:solidFill>
                <a:latin typeface="Calibri" pitchFamily="34" charset="0"/>
                <a:ea typeface="Calibri" pitchFamily="34" charset="-122"/>
                <a:cs typeface="Calibri" pitchFamily="34" charset="-120"/>
              </a:rPr>
              <a:t>Devices enrolled in Intune, Windows Autopatch, or Windows Update for Business, where the Windows 11 migration must be explained and then unblocked.</a:t>
            </a:r>
            <a:endParaRPr lang="en-US" sz="1030" dirty="0"/>
          </a:p>
        </p:txBody>
      </p:sp>
      <p:sp>
        <p:nvSpPr>
          <p:cNvPr id="11" name="Shape 9"/>
          <p:cNvSpPr/>
          <p:nvPr/>
        </p:nvSpPr>
        <p:spPr>
          <a:xfrm>
            <a:off x="502920" y="3154680"/>
            <a:ext cx="11201400" cy="713232"/>
          </a:xfrm>
          <a:prstGeom prst="roundRect">
            <a:avLst>
              <a:gd name="adj" fmla="val 10256"/>
            </a:avLst>
          </a:prstGeom>
          <a:solidFill>
            <a:srgbClr val="F5F8FB"/>
          </a:solidFill>
          <a:ln w="12700">
            <a:solidFill>
              <a:srgbClr val="DDE7F0"/>
            </a:solidFill>
            <a:prstDash val="solid"/>
          </a:ln>
        </p:spPr>
      </p:sp>
      <p:sp>
        <p:nvSpPr>
          <p:cNvPr id="12" name="Shape 10"/>
          <p:cNvSpPr/>
          <p:nvPr/>
        </p:nvSpPr>
        <p:spPr>
          <a:xfrm>
            <a:off x="694944" y="3310128"/>
            <a:ext cx="384048" cy="384048"/>
          </a:xfrm>
          <a:prstGeom prst="ellipse">
            <a:avLst/>
          </a:prstGeom>
          <a:solidFill>
            <a:srgbClr val="0078D4"/>
          </a:solidFill>
          <a:ln/>
        </p:spPr>
      </p:sp>
      <p:sp>
        <p:nvSpPr>
          <p:cNvPr id="13" name="Text 11"/>
          <p:cNvSpPr/>
          <p:nvPr/>
        </p:nvSpPr>
        <p:spPr>
          <a:xfrm>
            <a:off x="694944" y="3310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1298448" y="3227832"/>
            <a:ext cx="4114800" cy="566928"/>
          </a:xfrm>
          <a:prstGeom prst="rect">
            <a:avLst/>
          </a:prstGeom>
          <a:noFill/>
          <a:ln/>
        </p:spPr>
        <p:txBody>
          <a:bodyPr wrap="square" lIns="0" tIns="0" rIns="0" bIns="0" rtlCol="0" anchor="ctr"/>
          <a:lstStyle/>
          <a:p>
            <a:pPr indent="0" marL="0">
              <a:lnSpc>
                <a:spcPct val="102000"/>
              </a:lnSpc>
              <a:buNone/>
            </a:pPr>
            <a:r>
              <a:rPr lang="en-US" sz="1200" b="1" dirty="0">
                <a:solidFill>
                  <a:srgbClr val="1E2761"/>
                </a:solidFill>
                <a:latin typeface="Calibri" pitchFamily="34" charset="0"/>
                <a:ea typeface="Calibri" pitchFamily="34" charset="-122"/>
                <a:cs typeface="Calibri" pitchFamily="34" charset="-120"/>
              </a:rPr>
              <a:t>Batch processing from an operator workstation</a:t>
            </a:r>
            <a:endParaRPr lang="en-US" sz="1200" dirty="0"/>
          </a:p>
        </p:txBody>
      </p:sp>
      <p:sp>
        <p:nvSpPr>
          <p:cNvPr id="15" name="Text 13"/>
          <p:cNvSpPr/>
          <p:nvPr/>
        </p:nvSpPr>
        <p:spPr>
          <a:xfrm>
            <a:off x="5577840" y="3227832"/>
            <a:ext cx="5989320" cy="566928"/>
          </a:xfrm>
          <a:prstGeom prst="rect">
            <a:avLst/>
          </a:prstGeom>
          <a:noFill/>
          <a:ln/>
        </p:spPr>
        <p:txBody>
          <a:bodyPr wrap="square" lIns="0" tIns="0" rIns="0" bIns="0" rtlCol="0" anchor="ctr"/>
          <a:lstStyle/>
          <a:p>
            <a:pPr indent="0" marL="0">
              <a:lnSpc>
                <a:spcPct val="108000"/>
              </a:lnSpc>
              <a:buNone/>
            </a:pPr>
            <a:r>
              <a:rPr lang="en-US" sz="1030" dirty="0">
                <a:solidFill>
                  <a:srgbClr val="5F6B7A"/>
                </a:solidFill>
                <a:latin typeface="Calibri" pitchFamily="34" charset="0"/>
                <a:ea typeface="Calibri" pitchFamily="34" charset="-122"/>
                <a:cs typeface="Calibri" pitchFamily="34" charset="-120"/>
              </a:rPr>
              <a:t>Campaigns of several hundred devices driven from a single GUI window or a single CLI launch.</a:t>
            </a:r>
            <a:endParaRPr lang="en-US" sz="1030" dirty="0"/>
          </a:p>
        </p:txBody>
      </p:sp>
      <p:sp>
        <p:nvSpPr>
          <p:cNvPr id="16" name="Shape 14"/>
          <p:cNvSpPr/>
          <p:nvPr/>
        </p:nvSpPr>
        <p:spPr>
          <a:xfrm>
            <a:off x="502920" y="3977640"/>
            <a:ext cx="11201400" cy="713232"/>
          </a:xfrm>
          <a:prstGeom prst="roundRect">
            <a:avLst>
              <a:gd name="adj" fmla="val 10256"/>
            </a:avLst>
          </a:prstGeom>
          <a:solidFill>
            <a:srgbClr val="F5F8FB"/>
          </a:solidFill>
          <a:ln w="12700">
            <a:solidFill>
              <a:srgbClr val="DDE7F0"/>
            </a:solidFill>
            <a:prstDash val="solid"/>
          </a:ln>
        </p:spPr>
      </p:sp>
      <p:sp>
        <p:nvSpPr>
          <p:cNvPr id="17" name="Shape 15"/>
          <p:cNvSpPr/>
          <p:nvPr/>
        </p:nvSpPr>
        <p:spPr>
          <a:xfrm>
            <a:off x="694944" y="4133088"/>
            <a:ext cx="384048" cy="384048"/>
          </a:xfrm>
          <a:prstGeom prst="ellipse">
            <a:avLst/>
          </a:prstGeom>
          <a:solidFill>
            <a:srgbClr val="0078D4"/>
          </a:solidFill>
          <a:ln/>
        </p:spPr>
      </p:sp>
      <p:sp>
        <p:nvSpPr>
          <p:cNvPr id="18" name="Text 16"/>
          <p:cNvSpPr/>
          <p:nvPr/>
        </p:nvSpPr>
        <p:spPr>
          <a:xfrm>
            <a:off x="694944" y="41330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1298448" y="4050792"/>
            <a:ext cx="4114800" cy="566928"/>
          </a:xfrm>
          <a:prstGeom prst="rect">
            <a:avLst/>
          </a:prstGeom>
          <a:noFill/>
          <a:ln/>
        </p:spPr>
        <p:txBody>
          <a:bodyPr wrap="square" lIns="0" tIns="0" rIns="0" bIns="0" rtlCol="0" anchor="ctr"/>
          <a:lstStyle/>
          <a:p>
            <a:pPr indent="0" marL="0">
              <a:lnSpc>
                <a:spcPct val="102000"/>
              </a:lnSpc>
              <a:buNone/>
            </a:pPr>
            <a:r>
              <a:rPr lang="en-US" sz="1200" b="1" dirty="0">
                <a:solidFill>
                  <a:srgbClr val="1E2761"/>
                </a:solidFill>
                <a:latin typeface="Calibri" pitchFamily="34" charset="0"/>
                <a:ea typeface="Calibri" pitchFamily="34" charset="-122"/>
                <a:cs typeface="Calibri" pitchFamily="34" charset="-120"/>
              </a:rPr>
              <a:t>Local evidence of the Windows 11 blocker needed</a:t>
            </a:r>
            <a:endParaRPr lang="en-US" sz="1200" dirty="0"/>
          </a:p>
        </p:txBody>
      </p:sp>
      <p:sp>
        <p:nvSpPr>
          <p:cNvPr id="20" name="Text 18"/>
          <p:cNvSpPr/>
          <p:nvPr/>
        </p:nvSpPr>
        <p:spPr>
          <a:xfrm>
            <a:off x="5577840" y="4050792"/>
            <a:ext cx="5989320" cy="566928"/>
          </a:xfrm>
          <a:prstGeom prst="rect">
            <a:avLst/>
          </a:prstGeom>
          <a:noFill/>
          <a:ln/>
        </p:spPr>
        <p:txBody>
          <a:bodyPr wrap="square" lIns="0" tIns="0" rIns="0" bIns="0" rtlCol="0" anchor="ctr"/>
          <a:lstStyle/>
          <a:p>
            <a:pPr indent="0" marL="0">
              <a:lnSpc>
                <a:spcPct val="108000"/>
              </a:lnSpc>
              <a:buNone/>
            </a:pPr>
            <a:r>
              <a:rPr lang="en-US" sz="1030" dirty="0">
                <a:solidFill>
                  <a:srgbClr val="5F6B7A"/>
                </a:solidFill>
                <a:latin typeface="Calibri" pitchFamily="34" charset="0"/>
                <a:ea typeface="Calibri" pitchFamily="34" charset="-122"/>
                <a:cs typeface="Calibri" pitchFamily="34" charset="-120"/>
              </a:rPr>
              <a:t>Detailed device-side diagnostics: compatibility, policy blockers, disk space, pending reboot status.</a:t>
            </a:r>
            <a:endParaRPr lang="en-US" sz="1030" dirty="0"/>
          </a:p>
        </p:txBody>
      </p:sp>
      <p:sp>
        <p:nvSpPr>
          <p:cNvPr id="21" name="Shape 19"/>
          <p:cNvSpPr/>
          <p:nvPr/>
        </p:nvSpPr>
        <p:spPr>
          <a:xfrm>
            <a:off x="502920" y="4800600"/>
            <a:ext cx="11201400" cy="713232"/>
          </a:xfrm>
          <a:prstGeom prst="roundRect">
            <a:avLst>
              <a:gd name="adj" fmla="val 10256"/>
            </a:avLst>
          </a:prstGeom>
          <a:solidFill>
            <a:srgbClr val="F5F8FB"/>
          </a:solidFill>
          <a:ln w="12700">
            <a:solidFill>
              <a:srgbClr val="DDE7F0"/>
            </a:solidFill>
            <a:prstDash val="solid"/>
          </a:ln>
        </p:spPr>
      </p:sp>
      <p:sp>
        <p:nvSpPr>
          <p:cNvPr id="22" name="Shape 20"/>
          <p:cNvSpPr/>
          <p:nvPr/>
        </p:nvSpPr>
        <p:spPr>
          <a:xfrm>
            <a:off x="694944" y="4956048"/>
            <a:ext cx="384048" cy="384048"/>
          </a:xfrm>
          <a:prstGeom prst="ellipse">
            <a:avLst/>
          </a:prstGeom>
          <a:solidFill>
            <a:srgbClr val="0078D4"/>
          </a:solidFill>
          <a:ln/>
        </p:spPr>
      </p:sp>
      <p:sp>
        <p:nvSpPr>
          <p:cNvPr id="23" name="Text 21"/>
          <p:cNvSpPr/>
          <p:nvPr/>
        </p:nvSpPr>
        <p:spPr>
          <a:xfrm>
            <a:off x="694944" y="4956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p:nvPr/>
        </p:nvSpPr>
        <p:spPr>
          <a:xfrm>
            <a:off x="1298448" y="4873752"/>
            <a:ext cx="4114800" cy="566928"/>
          </a:xfrm>
          <a:prstGeom prst="rect">
            <a:avLst/>
          </a:prstGeom>
          <a:noFill/>
          <a:ln/>
        </p:spPr>
        <p:txBody>
          <a:bodyPr wrap="square" lIns="0" tIns="0" rIns="0" bIns="0" rtlCol="0" anchor="ctr"/>
          <a:lstStyle/>
          <a:p>
            <a:pPr indent="0" marL="0">
              <a:lnSpc>
                <a:spcPct val="102000"/>
              </a:lnSpc>
              <a:buNone/>
            </a:pPr>
            <a:r>
              <a:rPr lang="en-US" sz="1200" b="1" dirty="0">
                <a:solidFill>
                  <a:srgbClr val="1E2761"/>
                </a:solidFill>
                <a:latin typeface="Calibri" pitchFamily="34" charset="0"/>
                <a:ea typeface="Calibri" pitchFamily="34" charset="-122"/>
                <a:cs typeface="Calibri" pitchFamily="34" charset="-120"/>
              </a:rPr>
              <a:t>SYSTEM execution required via PsExec</a:t>
            </a:r>
            <a:endParaRPr lang="en-US" sz="1200" dirty="0"/>
          </a:p>
        </p:txBody>
      </p:sp>
      <p:sp>
        <p:nvSpPr>
          <p:cNvPr id="25" name="Text 23"/>
          <p:cNvSpPr/>
          <p:nvPr/>
        </p:nvSpPr>
        <p:spPr>
          <a:xfrm>
            <a:off x="5577840" y="4873752"/>
            <a:ext cx="5989320" cy="566928"/>
          </a:xfrm>
          <a:prstGeom prst="rect">
            <a:avLst/>
          </a:prstGeom>
          <a:noFill/>
          <a:ln/>
        </p:spPr>
        <p:txBody>
          <a:bodyPr wrap="square" lIns="0" tIns="0" rIns="0" bIns="0" rtlCol="0" anchor="ctr"/>
          <a:lstStyle/>
          <a:p>
            <a:pPr indent="0" marL="0">
              <a:lnSpc>
                <a:spcPct val="108000"/>
              </a:lnSpc>
              <a:buNone/>
            </a:pPr>
            <a:r>
              <a:rPr lang="en-US" sz="1030" dirty="0">
                <a:solidFill>
                  <a:srgbClr val="5F6B7A"/>
                </a:solidFill>
                <a:latin typeface="Calibri" pitchFamily="34" charset="0"/>
                <a:ea typeface="Calibri" pitchFamily="34" charset="-122"/>
                <a:cs typeface="Calibri" pitchFamily="34" charset="-120"/>
              </a:rPr>
              <a:t>Actions that require a SYSTEM context on the target, without deploying an extra agent.</a:t>
            </a:r>
            <a:endParaRPr lang="en-US" sz="1030" dirty="0"/>
          </a:p>
        </p:txBody>
      </p:sp>
      <p:sp>
        <p:nvSpPr>
          <p:cNvPr id="26" name="Shape 24"/>
          <p:cNvSpPr/>
          <p:nvPr/>
        </p:nvSpPr>
        <p:spPr>
          <a:xfrm>
            <a:off x="502920" y="5623560"/>
            <a:ext cx="11201400" cy="713232"/>
          </a:xfrm>
          <a:prstGeom prst="roundRect">
            <a:avLst>
              <a:gd name="adj" fmla="val 10256"/>
            </a:avLst>
          </a:prstGeom>
          <a:solidFill>
            <a:srgbClr val="F5F8FB"/>
          </a:solidFill>
          <a:ln w="12700">
            <a:solidFill>
              <a:srgbClr val="DDE7F0"/>
            </a:solidFill>
            <a:prstDash val="solid"/>
          </a:ln>
        </p:spPr>
      </p:sp>
      <p:sp>
        <p:nvSpPr>
          <p:cNvPr id="27" name="Shape 25"/>
          <p:cNvSpPr/>
          <p:nvPr/>
        </p:nvSpPr>
        <p:spPr>
          <a:xfrm>
            <a:off x="694944" y="5779008"/>
            <a:ext cx="384048" cy="384048"/>
          </a:xfrm>
          <a:prstGeom prst="ellipse">
            <a:avLst/>
          </a:prstGeom>
          <a:solidFill>
            <a:srgbClr val="0078D4"/>
          </a:solidFill>
          <a:ln/>
        </p:spPr>
      </p:sp>
      <p:sp>
        <p:nvSpPr>
          <p:cNvPr id="28" name="Text 26"/>
          <p:cNvSpPr/>
          <p:nvPr/>
        </p:nvSpPr>
        <p:spPr>
          <a:xfrm>
            <a:off x="694944" y="57790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7"/>
          <p:cNvSpPr/>
          <p:nvPr/>
        </p:nvSpPr>
        <p:spPr>
          <a:xfrm>
            <a:off x="1298448" y="5696712"/>
            <a:ext cx="4114800" cy="566928"/>
          </a:xfrm>
          <a:prstGeom prst="rect">
            <a:avLst/>
          </a:prstGeom>
          <a:noFill/>
          <a:ln/>
        </p:spPr>
        <p:txBody>
          <a:bodyPr wrap="square" lIns="0" tIns="0" rIns="0" bIns="0" rtlCol="0" anchor="ctr"/>
          <a:lstStyle/>
          <a:p>
            <a:pPr indent="0" marL="0">
              <a:lnSpc>
                <a:spcPct val="102000"/>
              </a:lnSpc>
              <a:buNone/>
            </a:pPr>
            <a:r>
              <a:rPr lang="en-US" sz="1200" b="1" dirty="0">
                <a:solidFill>
                  <a:srgbClr val="1E2761"/>
                </a:solidFill>
                <a:latin typeface="Calibri" pitchFamily="34" charset="0"/>
                <a:ea typeface="Calibri" pitchFamily="34" charset="-122"/>
                <a:cs typeface="Calibri" pitchFamily="34" charset="-120"/>
              </a:rPr>
              <a:t>Guided upgrade via -AllowSetupUpgrade</a:t>
            </a:r>
            <a:endParaRPr lang="en-US" sz="1200" dirty="0"/>
          </a:p>
        </p:txBody>
      </p:sp>
      <p:sp>
        <p:nvSpPr>
          <p:cNvPr id="30" name="Text 28"/>
          <p:cNvSpPr/>
          <p:nvPr/>
        </p:nvSpPr>
        <p:spPr>
          <a:xfrm>
            <a:off x="5577840" y="5696712"/>
            <a:ext cx="5989320" cy="566928"/>
          </a:xfrm>
          <a:prstGeom prst="rect">
            <a:avLst/>
          </a:prstGeom>
          <a:noFill/>
          <a:ln/>
        </p:spPr>
        <p:txBody>
          <a:bodyPr wrap="square" lIns="0" tIns="0" rIns="0" bIns="0" rtlCol="0" anchor="ctr"/>
          <a:lstStyle/>
          <a:p>
            <a:pPr indent="0" marL="0">
              <a:lnSpc>
                <a:spcPct val="108000"/>
              </a:lnSpc>
              <a:buNone/>
            </a:pPr>
            <a:r>
              <a:rPr lang="en-US" sz="1030" dirty="0">
                <a:solidFill>
                  <a:srgbClr val="5F6B7A"/>
                </a:solidFill>
                <a:latin typeface="Calibri" pitchFamily="34" charset="0"/>
                <a:ea typeface="Calibri" pitchFamily="34" charset="-122"/>
                <a:cs typeface="Calibri" pitchFamily="34" charset="-120"/>
              </a:rPr>
              <a:t>Controlled trigger of Windows Setup with validated media, once blockers are cleared.</a:t>
            </a:r>
            <a:endParaRPr lang="en-US" sz="1030" dirty="0"/>
          </a:p>
        </p:txBody>
      </p:sp>
      <p:sp>
        <p:nvSpPr>
          <p:cNvPr id="31" name="Text 29"/>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SmartM365 Devices — Windows 11 Upgrade Toolkit</a:t>
            </a:r>
            <a:endParaRPr lang="en-US" sz="900" dirty="0"/>
          </a:p>
        </p:txBody>
      </p:sp>
      <p:sp>
        <p:nvSpPr>
          <p:cNvPr id="32" name="Text 30"/>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2834640" cy="347472"/>
          </a:xfrm>
          <a:prstGeom prst="roundRect">
            <a:avLst>
              <a:gd name="adj" fmla="val 50000"/>
            </a:avLst>
          </a:prstGeom>
          <a:solidFill>
            <a:srgbClr val="E6F4FF"/>
          </a:solidFill>
          <a:ln/>
        </p:spPr>
      </p:sp>
      <p:sp>
        <p:nvSpPr>
          <p:cNvPr id="3" name="Text 1"/>
          <p:cNvSpPr/>
          <p:nvPr/>
        </p:nvSpPr>
        <p:spPr>
          <a:xfrm>
            <a:off x="502920" y="457200"/>
            <a:ext cx="2834640" cy="347472"/>
          </a:xfrm>
          <a:prstGeom prst="rect">
            <a:avLst/>
          </a:prstGeom>
          <a:noFill/>
          <a:ln/>
        </p:spPr>
        <p:txBody>
          <a:bodyPr wrap="square" lIns="0" tIns="0" rIns="0" bIns="0" rtlCol="0" anchor="ctr"/>
          <a:lstStyle/>
          <a:p>
            <a:pPr algn="ctr" indent="0" marL="0">
              <a:buNone/>
            </a:pPr>
            <a:r>
              <a:rPr lang="en-US" sz="1100" b="1" spc="100" kern="0" dirty="0">
                <a:solidFill>
                  <a:srgbClr val="0078D4"/>
                </a:solidFill>
                <a:latin typeface="Calibri" pitchFamily="34" charset="0"/>
                <a:ea typeface="Calibri" pitchFamily="34" charset="-122"/>
                <a:cs typeface="Calibri" pitchFamily="34" charset="-120"/>
              </a:rPr>
              <a:t>BEFORE YOU START</a:t>
            </a:r>
            <a:endParaRPr lang="en-US" sz="1100" dirty="0"/>
          </a:p>
        </p:txBody>
      </p:sp>
      <p:sp>
        <p:nvSpPr>
          <p:cNvPr id="4" name="Text 2"/>
          <p:cNvSpPr/>
          <p:nvPr/>
        </p:nvSpPr>
        <p:spPr>
          <a:xfrm>
            <a:off x="502920" y="896112"/>
            <a:ext cx="11185855"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Prerequisites</a:t>
            </a:r>
            <a:endParaRPr lang="en-US" sz="3200" dirty="0"/>
          </a:p>
        </p:txBody>
      </p:sp>
      <p:sp>
        <p:nvSpPr>
          <p:cNvPr id="5" name="Shape 3"/>
          <p:cNvSpPr/>
          <p:nvPr/>
        </p:nvSpPr>
        <p:spPr>
          <a:xfrm>
            <a:off x="502920" y="1737360"/>
            <a:ext cx="5394960" cy="1005840"/>
          </a:xfrm>
          <a:prstGeom prst="roundRect">
            <a:avLst>
              <a:gd name="adj" fmla="val 7273"/>
            </a:avLst>
          </a:prstGeom>
          <a:solidFill>
            <a:srgbClr val="F5F8FB"/>
          </a:solidFill>
          <a:ln w="12700">
            <a:solidFill>
              <a:srgbClr val="DDE7F0"/>
            </a:solidFill>
            <a:prstDash val="solid"/>
          </a:ln>
        </p:spPr>
      </p:sp>
      <p:sp>
        <p:nvSpPr>
          <p:cNvPr id="6" name="Shape 4"/>
          <p:cNvSpPr/>
          <p:nvPr/>
        </p:nvSpPr>
        <p:spPr>
          <a:xfrm>
            <a:off x="685800" y="1883664"/>
            <a:ext cx="347472" cy="347472"/>
          </a:xfrm>
          <a:prstGeom prst="roundRect">
            <a:avLst>
              <a:gd name="adj" fmla="val 21053"/>
            </a:avLst>
          </a:prstGeom>
          <a:solidFill>
            <a:srgbClr val="CADCFC"/>
          </a:solidFill>
          <a:ln/>
        </p:spPr>
      </p:sp>
      <p:sp>
        <p:nvSpPr>
          <p:cNvPr id="7" name="Text 5"/>
          <p:cNvSpPr/>
          <p:nvPr/>
        </p:nvSpPr>
        <p:spPr>
          <a:xfrm>
            <a:off x="685800" y="1883664"/>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161288" y="1847088"/>
            <a:ext cx="4535424" cy="29260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Verified operator ZIP</a:t>
            </a:r>
            <a:endParaRPr lang="en-US" sz="1250" dirty="0"/>
          </a:p>
        </p:txBody>
      </p:sp>
      <p:sp>
        <p:nvSpPr>
          <p:cNvPr id="9" name="Text 7"/>
          <p:cNvSpPr/>
          <p:nvPr/>
        </p:nvSpPr>
        <p:spPr>
          <a:xfrm>
            <a:off x="1161288" y="2148840"/>
            <a:ext cx="4535424" cy="548640"/>
          </a:xfrm>
          <a:prstGeom prst="rect">
            <a:avLst/>
          </a:prstGeom>
          <a:noFill/>
          <a:ln/>
        </p:spPr>
        <p:txBody>
          <a:bodyPr wrap="square" lIns="0" tIns="0" rIns="0" bIns="0" rtlCol="0" anchor="ctr"/>
          <a:lstStyle/>
          <a:p>
            <a:pPr indent="0" marL="0">
              <a:lnSpc>
                <a:spcPct val="110000"/>
              </a:lnSpc>
              <a:buNone/>
            </a:pPr>
            <a:r>
              <a:rPr lang="en-US" sz="1000" dirty="0">
                <a:solidFill>
                  <a:srgbClr val="5F6B7A"/>
                </a:solidFill>
                <a:latin typeface="Calibri" pitchFamily="34" charset="0"/>
                <a:ea typeface="Calibri" pitchFamily="34" charset="-122"/>
                <a:cs typeface="Calibri" pitchFamily="34" charset="-120"/>
              </a:rPr>
              <a:t>Download release 0.1.72, verify its SHA-256 using the README, then extract the complete ZIP to a new local folder. GitHub Desktop is optional.</a:t>
            </a:r>
            <a:endParaRPr lang="en-US" sz="1000" dirty="0"/>
          </a:p>
        </p:txBody>
      </p:sp>
      <p:sp>
        <p:nvSpPr>
          <p:cNvPr id="10" name="Shape 8"/>
          <p:cNvSpPr/>
          <p:nvPr/>
        </p:nvSpPr>
        <p:spPr>
          <a:xfrm>
            <a:off x="6217920" y="1737360"/>
            <a:ext cx="5394960" cy="1005840"/>
          </a:xfrm>
          <a:prstGeom prst="roundRect">
            <a:avLst>
              <a:gd name="adj" fmla="val 7273"/>
            </a:avLst>
          </a:prstGeom>
          <a:solidFill>
            <a:srgbClr val="F5F8FB"/>
          </a:solidFill>
          <a:ln w="12700">
            <a:solidFill>
              <a:srgbClr val="DDE7F0"/>
            </a:solidFill>
            <a:prstDash val="solid"/>
          </a:ln>
        </p:spPr>
      </p:sp>
      <p:sp>
        <p:nvSpPr>
          <p:cNvPr id="11" name="Shape 9"/>
          <p:cNvSpPr/>
          <p:nvPr/>
        </p:nvSpPr>
        <p:spPr>
          <a:xfrm>
            <a:off x="6400800" y="1883664"/>
            <a:ext cx="347472" cy="347472"/>
          </a:xfrm>
          <a:prstGeom prst="roundRect">
            <a:avLst>
              <a:gd name="adj" fmla="val 21053"/>
            </a:avLst>
          </a:prstGeom>
          <a:solidFill>
            <a:srgbClr val="CADCFC"/>
          </a:solidFill>
          <a:ln/>
        </p:spPr>
      </p:sp>
      <p:sp>
        <p:nvSpPr>
          <p:cNvPr id="12" name="Text 10"/>
          <p:cNvSpPr/>
          <p:nvPr/>
        </p:nvSpPr>
        <p:spPr>
          <a:xfrm>
            <a:off x="6400800" y="1883664"/>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6876288" y="1847088"/>
            <a:ext cx="4535424" cy="29260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Operator workstation</a:t>
            </a:r>
            <a:endParaRPr lang="en-US" sz="1250" dirty="0"/>
          </a:p>
        </p:txBody>
      </p:sp>
      <p:sp>
        <p:nvSpPr>
          <p:cNvPr id="14" name="Text 12"/>
          <p:cNvSpPr/>
          <p:nvPr/>
        </p:nvSpPr>
        <p:spPr>
          <a:xfrm>
            <a:off x="6876288" y="2148840"/>
            <a:ext cx="4535424" cy="548640"/>
          </a:xfrm>
          <a:prstGeom prst="rect">
            <a:avLst/>
          </a:prstGeom>
          <a:noFill/>
          <a:ln/>
        </p:spPr>
        <p:txBody>
          <a:bodyPr wrap="square" lIns="0" tIns="0" rIns="0" bIns="0" rtlCol="0" anchor="ctr"/>
          <a:lstStyle/>
          <a:p>
            <a:pPr indent="0" marL="0">
              <a:lnSpc>
                <a:spcPct val="110000"/>
              </a:lnSpc>
              <a:buNone/>
            </a:pPr>
            <a:r>
              <a:rPr lang="en-US" sz="1000" dirty="0">
                <a:solidFill>
                  <a:srgbClr val="5F6B7A"/>
                </a:solidFill>
                <a:latin typeface="Calibri" pitchFamily="34" charset="0"/>
                <a:ea typeface="Calibri" pitchFamily="34" charset="-122"/>
                <a:cs typeface="Calibri" pitchFamily="34" charset="-120"/>
              </a:rPr>
              <a:t>WPF GUI: Windows PowerShell 5.1 / STA. LOT wrappers: PowerShell 7 preferred, with 5.1 fallback.</a:t>
            </a:r>
            <a:endParaRPr lang="en-US" sz="1000" dirty="0"/>
          </a:p>
        </p:txBody>
      </p:sp>
      <p:sp>
        <p:nvSpPr>
          <p:cNvPr id="15" name="Shape 13"/>
          <p:cNvSpPr/>
          <p:nvPr/>
        </p:nvSpPr>
        <p:spPr>
          <a:xfrm>
            <a:off x="502920" y="2889504"/>
            <a:ext cx="5394960" cy="1005840"/>
          </a:xfrm>
          <a:prstGeom prst="roundRect">
            <a:avLst>
              <a:gd name="adj" fmla="val 7273"/>
            </a:avLst>
          </a:prstGeom>
          <a:solidFill>
            <a:srgbClr val="F5F8FB"/>
          </a:solidFill>
          <a:ln w="12700">
            <a:solidFill>
              <a:srgbClr val="DDE7F0"/>
            </a:solidFill>
            <a:prstDash val="solid"/>
          </a:ln>
        </p:spPr>
      </p:sp>
      <p:sp>
        <p:nvSpPr>
          <p:cNvPr id="16" name="Shape 14"/>
          <p:cNvSpPr/>
          <p:nvPr/>
        </p:nvSpPr>
        <p:spPr>
          <a:xfrm>
            <a:off x="685800" y="3035808"/>
            <a:ext cx="347472" cy="347472"/>
          </a:xfrm>
          <a:prstGeom prst="roundRect">
            <a:avLst>
              <a:gd name="adj" fmla="val 21053"/>
            </a:avLst>
          </a:prstGeom>
          <a:solidFill>
            <a:srgbClr val="CADCFC"/>
          </a:solidFill>
          <a:ln/>
        </p:spPr>
      </p:sp>
      <p:sp>
        <p:nvSpPr>
          <p:cNvPr id="17" name="Text 15"/>
          <p:cNvSpPr/>
          <p:nvPr/>
        </p:nvSpPr>
        <p:spPr>
          <a:xfrm>
            <a:off x="685800" y="3035808"/>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1161288" y="2999232"/>
            <a:ext cx="4535424" cy="29260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PsExec</a:t>
            </a:r>
            <a:endParaRPr lang="en-US" sz="1250" dirty="0"/>
          </a:p>
        </p:txBody>
      </p:sp>
      <p:sp>
        <p:nvSpPr>
          <p:cNvPr id="19" name="Text 17"/>
          <p:cNvSpPr/>
          <p:nvPr/>
        </p:nvSpPr>
        <p:spPr>
          <a:xfrm>
            <a:off x="1161288" y="3300984"/>
            <a:ext cx="4535424" cy="548640"/>
          </a:xfrm>
          <a:prstGeom prst="rect">
            <a:avLst/>
          </a:prstGeom>
          <a:noFill/>
          <a:ln/>
        </p:spPr>
        <p:txBody>
          <a:bodyPr wrap="square" lIns="0" tIns="0" rIns="0" bIns="0" rtlCol="0" anchor="ctr"/>
          <a:lstStyle/>
          <a:p>
            <a:pPr indent="0" marL="0">
              <a:lnSpc>
                <a:spcPct val="110000"/>
              </a:lnSpc>
              <a:buNone/>
            </a:pPr>
            <a:r>
              <a:rPr lang="en-US" sz="1000" dirty="0">
                <a:solidFill>
                  <a:srgbClr val="5F6B7A"/>
                </a:solidFill>
                <a:latin typeface="Calibri" pitchFamily="34" charset="0"/>
                <a:ea typeface="Calibri" pitchFamily="34" charset="-122"/>
                <a:cs typeface="Calibri" pitchFamily="34" charset="-120"/>
              </a:rPr>
              <a:t>Obtain PsExec.exe from Microsoft Sysinternals; place it in Scripts or on PATH for SYSTEM execution on targets.</a:t>
            </a:r>
            <a:endParaRPr lang="en-US" sz="1000" dirty="0"/>
          </a:p>
        </p:txBody>
      </p:sp>
      <p:sp>
        <p:nvSpPr>
          <p:cNvPr id="20" name="Shape 18"/>
          <p:cNvSpPr/>
          <p:nvPr/>
        </p:nvSpPr>
        <p:spPr>
          <a:xfrm>
            <a:off x="6217920" y="2889504"/>
            <a:ext cx="5394960" cy="1005840"/>
          </a:xfrm>
          <a:prstGeom prst="roundRect">
            <a:avLst>
              <a:gd name="adj" fmla="val 7273"/>
            </a:avLst>
          </a:prstGeom>
          <a:solidFill>
            <a:srgbClr val="F5F8FB"/>
          </a:solidFill>
          <a:ln w="12700">
            <a:solidFill>
              <a:srgbClr val="DDE7F0"/>
            </a:solidFill>
            <a:prstDash val="solid"/>
          </a:ln>
        </p:spPr>
      </p:sp>
      <p:sp>
        <p:nvSpPr>
          <p:cNvPr id="21" name="Shape 19"/>
          <p:cNvSpPr/>
          <p:nvPr/>
        </p:nvSpPr>
        <p:spPr>
          <a:xfrm>
            <a:off x="6400800" y="3035808"/>
            <a:ext cx="347472" cy="347472"/>
          </a:xfrm>
          <a:prstGeom prst="roundRect">
            <a:avLst>
              <a:gd name="adj" fmla="val 21053"/>
            </a:avLst>
          </a:prstGeom>
          <a:solidFill>
            <a:srgbClr val="CADCFC"/>
          </a:solidFill>
          <a:ln/>
        </p:spPr>
      </p:sp>
      <p:sp>
        <p:nvSpPr>
          <p:cNvPr id="22" name="Text 20"/>
          <p:cNvSpPr/>
          <p:nvPr/>
        </p:nvSpPr>
        <p:spPr>
          <a:xfrm>
            <a:off x="6400800" y="3035808"/>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6876288" y="2999232"/>
            <a:ext cx="4535424" cy="29260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Administrative rights</a:t>
            </a:r>
            <a:endParaRPr lang="en-US" sz="1250" dirty="0"/>
          </a:p>
        </p:txBody>
      </p:sp>
      <p:sp>
        <p:nvSpPr>
          <p:cNvPr id="24" name="Text 22"/>
          <p:cNvSpPr/>
          <p:nvPr/>
        </p:nvSpPr>
        <p:spPr>
          <a:xfrm>
            <a:off x="6876288" y="3300984"/>
            <a:ext cx="4535424" cy="548640"/>
          </a:xfrm>
          <a:prstGeom prst="rect">
            <a:avLst/>
          </a:prstGeom>
          <a:noFill/>
          <a:ln/>
        </p:spPr>
        <p:txBody>
          <a:bodyPr wrap="square" lIns="0" tIns="0" rIns="0" bIns="0" rtlCol="0" anchor="ctr"/>
          <a:lstStyle/>
          <a:p>
            <a:pPr indent="0" marL="0">
              <a:lnSpc>
                <a:spcPct val="110000"/>
              </a:lnSpc>
              <a:buNone/>
            </a:pPr>
            <a:r>
              <a:rPr lang="en-US" sz="1000" dirty="0">
                <a:solidFill>
                  <a:srgbClr val="5F6B7A"/>
                </a:solidFill>
                <a:latin typeface="Calibri" pitchFamily="34" charset="0"/>
                <a:ea typeface="Calibri" pitchFamily="34" charset="-122"/>
                <a:cs typeface="Calibri" pitchFamily="34" charset="-120"/>
              </a:rPr>
              <a:t>Account with local admin rights on target devices (admin share C$ reachable).</a:t>
            </a:r>
            <a:endParaRPr lang="en-US" sz="1000" dirty="0"/>
          </a:p>
        </p:txBody>
      </p:sp>
      <p:sp>
        <p:nvSpPr>
          <p:cNvPr id="25" name="Shape 23"/>
          <p:cNvSpPr/>
          <p:nvPr/>
        </p:nvSpPr>
        <p:spPr>
          <a:xfrm>
            <a:off x="502920" y="4041648"/>
            <a:ext cx="5394960" cy="1005840"/>
          </a:xfrm>
          <a:prstGeom prst="roundRect">
            <a:avLst>
              <a:gd name="adj" fmla="val 7273"/>
            </a:avLst>
          </a:prstGeom>
          <a:solidFill>
            <a:srgbClr val="F5F8FB"/>
          </a:solidFill>
          <a:ln w="12700">
            <a:solidFill>
              <a:srgbClr val="DDE7F0"/>
            </a:solidFill>
            <a:prstDash val="solid"/>
          </a:ln>
        </p:spPr>
      </p:sp>
      <p:sp>
        <p:nvSpPr>
          <p:cNvPr id="26" name="Shape 24"/>
          <p:cNvSpPr/>
          <p:nvPr/>
        </p:nvSpPr>
        <p:spPr>
          <a:xfrm>
            <a:off x="685800" y="4187952"/>
            <a:ext cx="347472" cy="347472"/>
          </a:xfrm>
          <a:prstGeom prst="roundRect">
            <a:avLst>
              <a:gd name="adj" fmla="val 21053"/>
            </a:avLst>
          </a:prstGeom>
          <a:solidFill>
            <a:srgbClr val="CADCFC"/>
          </a:solidFill>
          <a:ln/>
        </p:spPr>
      </p:sp>
      <p:sp>
        <p:nvSpPr>
          <p:cNvPr id="27" name="Text 25"/>
          <p:cNvSpPr/>
          <p:nvPr/>
        </p:nvSpPr>
        <p:spPr>
          <a:xfrm>
            <a:off x="685800" y="4187952"/>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1161288" y="4151376"/>
            <a:ext cx="4535424" cy="29260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Network access to targets</a:t>
            </a:r>
            <a:endParaRPr lang="en-US" sz="1250" dirty="0"/>
          </a:p>
        </p:txBody>
      </p:sp>
      <p:sp>
        <p:nvSpPr>
          <p:cNvPr id="29" name="Text 27"/>
          <p:cNvSpPr/>
          <p:nvPr/>
        </p:nvSpPr>
        <p:spPr>
          <a:xfrm>
            <a:off x="1161288" y="4453128"/>
            <a:ext cx="4535424" cy="548640"/>
          </a:xfrm>
          <a:prstGeom prst="rect">
            <a:avLst/>
          </a:prstGeom>
          <a:noFill/>
          <a:ln/>
        </p:spPr>
        <p:txBody>
          <a:bodyPr wrap="square" lIns="0" tIns="0" rIns="0" bIns="0" rtlCol="0" anchor="ctr"/>
          <a:lstStyle/>
          <a:p>
            <a:pPr indent="0" marL="0">
              <a:lnSpc>
                <a:spcPct val="110000"/>
              </a:lnSpc>
              <a:buNone/>
            </a:pPr>
            <a:r>
              <a:rPr lang="en-US" sz="1000" dirty="0">
                <a:solidFill>
                  <a:srgbClr val="5F6B7A"/>
                </a:solidFill>
                <a:latin typeface="Calibri" pitchFamily="34" charset="0"/>
                <a:ea typeface="Calibri" pitchFamily="34" charset="-122"/>
                <a:cs typeface="Calibri" pitchFamily="34" charset="-120"/>
              </a:rPr>
              <a:t>DNS resolution and SMB/RPC connectivity to the Windows 10 devices in the LOT.</a:t>
            </a:r>
            <a:endParaRPr lang="en-US" sz="1000" dirty="0"/>
          </a:p>
        </p:txBody>
      </p:sp>
      <p:sp>
        <p:nvSpPr>
          <p:cNvPr id="30" name="Shape 28"/>
          <p:cNvSpPr/>
          <p:nvPr/>
        </p:nvSpPr>
        <p:spPr>
          <a:xfrm>
            <a:off x="6217920" y="4041648"/>
            <a:ext cx="5394960" cy="1005840"/>
          </a:xfrm>
          <a:prstGeom prst="roundRect">
            <a:avLst>
              <a:gd name="adj" fmla="val 7273"/>
            </a:avLst>
          </a:prstGeom>
          <a:solidFill>
            <a:srgbClr val="F5F8FB"/>
          </a:solidFill>
          <a:ln w="12700">
            <a:solidFill>
              <a:srgbClr val="DDE7F0"/>
            </a:solidFill>
            <a:prstDash val="solid"/>
          </a:ln>
        </p:spPr>
      </p:sp>
      <p:sp>
        <p:nvSpPr>
          <p:cNvPr id="31" name="Shape 29"/>
          <p:cNvSpPr/>
          <p:nvPr/>
        </p:nvSpPr>
        <p:spPr>
          <a:xfrm>
            <a:off x="6400800" y="4187952"/>
            <a:ext cx="347472" cy="347472"/>
          </a:xfrm>
          <a:prstGeom prst="roundRect">
            <a:avLst>
              <a:gd name="adj" fmla="val 21053"/>
            </a:avLst>
          </a:prstGeom>
          <a:solidFill>
            <a:srgbClr val="CADCFC"/>
          </a:solidFill>
          <a:ln/>
        </p:spPr>
      </p:sp>
      <p:sp>
        <p:nvSpPr>
          <p:cNvPr id="32" name="Text 30"/>
          <p:cNvSpPr/>
          <p:nvPr/>
        </p:nvSpPr>
        <p:spPr>
          <a:xfrm>
            <a:off x="6400800" y="4187952"/>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6</a:t>
            </a:r>
            <a:endParaRPr lang="en-US" sz="1300" dirty="0"/>
          </a:p>
        </p:txBody>
      </p:sp>
      <p:sp>
        <p:nvSpPr>
          <p:cNvPr id="33" name="Text 31"/>
          <p:cNvSpPr/>
          <p:nvPr/>
        </p:nvSpPr>
        <p:spPr>
          <a:xfrm>
            <a:off x="6876288" y="4151376"/>
            <a:ext cx="4535424" cy="29260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Windows 11 media (optional)</a:t>
            </a:r>
            <a:endParaRPr lang="en-US" sz="1250" dirty="0"/>
          </a:p>
        </p:txBody>
      </p:sp>
      <p:sp>
        <p:nvSpPr>
          <p:cNvPr id="34" name="Text 32"/>
          <p:cNvSpPr/>
          <p:nvPr/>
        </p:nvSpPr>
        <p:spPr>
          <a:xfrm>
            <a:off x="6876288" y="4453128"/>
            <a:ext cx="4535424" cy="548640"/>
          </a:xfrm>
          <a:prstGeom prst="rect">
            <a:avLst/>
          </a:prstGeom>
          <a:noFill/>
          <a:ln/>
        </p:spPr>
        <p:txBody>
          <a:bodyPr wrap="square" lIns="0" tIns="0" rIns="0" bIns="0" rtlCol="0" anchor="ctr"/>
          <a:lstStyle/>
          <a:p>
            <a:pPr indent="0" marL="0">
              <a:lnSpc>
                <a:spcPct val="110000"/>
              </a:lnSpc>
              <a:buNone/>
            </a:pPr>
            <a:r>
              <a:rPr lang="en-US" sz="1000" dirty="0">
                <a:solidFill>
                  <a:srgbClr val="5F6B7A"/>
                </a:solidFill>
                <a:latin typeface="Calibri" pitchFamily="34" charset="0"/>
                <a:ea typeface="Calibri" pitchFamily="34" charset="-122"/>
                <a:cs typeface="Calibri" pitchFamily="34" charset="-120"/>
              </a:rPr>
              <a:t>Required only if -AllowSetupUpgrade is enabled: valid setup.exe + sources\install.wim or .esd.</a:t>
            </a:r>
            <a:endParaRPr lang="en-US" sz="1000" dirty="0"/>
          </a:p>
        </p:txBody>
      </p:sp>
      <p:sp>
        <p:nvSpPr>
          <p:cNvPr id="35" name="Shape 33"/>
          <p:cNvSpPr/>
          <p:nvPr/>
        </p:nvSpPr>
        <p:spPr>
          <a:xfrm>
            <a:off x="502920" y="5193792"/>
            <a:ext cx="5394960" cy="1005840"/>
          </a:xfrm>
          <a:prstGeom prst="roundRect">
            <a:avLst>
              <a:gd name="adj" fmla="val 7273"/>
            </a:avLst>
          </a:prstGeom>
          <a:solidFill>
            <a:srgbClr val="F5F8FB"/>
          </a:solidFill>
          <a:ln w="12700">
            <a:solidFill>
              <a:srgbClr val="DDE7F0"/>
            </a:solidFill>
            <a:prstDash val="solid"/>
          </a:ln>
        </p:spPr>
      </p:sp>
      <p:sp>
        <p:nvSpPr>
          <p:cNvPr id="36" name="Shape 34"/>
          <p:cNvSpPr/>
          <p:nvPr/>
        </p:nvSpPr>
        <p:spPr>
          <a:xfrm>
            <a:off x="685800" y="5340096"/>
            <a:ext cx="347472" cy="347472"/>
          </a:xfrm>
          <a:prstGeom prst="roundRect">
            <a:avLst>
              <a:gd name="adj" fmla="val 21053"/>
            </a:avLst>
          </a:prstGeom>
          <a:solidFill>
            <a:srgbClr val="CADCFC"/>
          </a:solidFill>
          <a:ln/>
        </p:spPr>
      </p:sp>
      <p:sp>
        <p:nvSpPr>
          <p:cNvPr id="37" name="Text 35"/>
          <p:cNvSpPr/>
          <p:nvPr/>
        </p:nvSpPr>
        <p:spPr>
          <a:xfrm>
            <a:off x="685800" y="5340096"/>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7</a:t>
            </a:r>
            <a:endParaRPr lang="en-US" sz="1300" dirty="0"/>
          </a:p>
        </p:txBody>
      </p:sp>
      <p:sp>
        <p:nvSpPr>
          <p:cNvPr id="38" name="Text 36"/>
          <p:cNvSpPr/>
          <p:nvPr/>
        </p:nvSpPr>
        <p:spPr>
          <a:xfrm>
            <a:off x="1161288" y="5303520"/>
            <a:ext cx="4535424" cy="29260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Intune / AD access (optional)</a:t>
            </a:r>
            <a:endParaRPr lang="en-US" sz="1250" dirty="0"/>
          </a:p>
        </p:txBody>
      </p:sp>
      <p:sp>
        <p:nvSpPr>
          <p:cNvPr id="39" name="Text 37"/>
          <p:cNvSpPr/>
          <p:nvPr/>
        </p:nvSpPr>
        <p:spPr>
          <a:xfrm>
            <a:off x="1161288" y="5605272"/>
            <a:ext cx="4535424" cy="548640"/>
          </a:xfrm>
          <a:prstGeom prst="rect">
            <a:avLst/>
          </a:prstGeom>
          <a:noFill/>
          <a:ln/>
        </p:spPr>
        <p:txBody>
          <a:bodyPr wrap="square" lIns="0" tIns="0" rIns="0" bIns="0" rtlCol="0" anchor="ctr"/>
          <a:lstStyle/>
          <a:p>
            <a:pPr indent="0" marL="0">
              <a:lnSpc>
                <a:spcPct val="110000"/>
              </a:lnSpc>
              <a:buNone/>
            </a:pPr>
            <a:r>
              <a:rPr lang="en-US" sz="1000" dirty="0">
                <a:solidFill>
                  <a:srgbClr val="5F6B7A"/>
                </a:solidFill>
                <a:latin typeface="Calibri" pitchFamily="34" charset="0"/>
                <a:ea typeface="Calibri" pitchFamily="34" charset="-122"/>
                <a:cs typeface="Calibri" pitchFamily="34" charset="-120"/>
              </a:rPr>
              <a:t>For the 'already Windows 11' precheck via Graph and/or Active Directory.</a:t>
            </a:r>
            <a:endParaRPr lang="en-US" sz="1000" dirty="0"/>
          </a:p>
        </p:txBody>
      </p:sp>
      <p:sp>
        <p:nvSpPr>
          <p:cNvPr id="40" name="Text 38"/>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SmartM365 Devices — Windows 11 Upgrade Toolkit</a:t>
            </a:r>
            <a:endParaRPr lang="en-US" sz="900" dirty="0"/>
          </a:p>
        </p:txBody>
      </p:sp>
      <p:sp>
        <p:nvSpPr>
          <p:cNvPr id="41" name="Text 3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2834640" cy="347472"/>
          </a:xfrm>
          <a:prstGeom prst="roundRect">
            <a:avLst>
              <a:gd name="adj" fmla="val 50000"/>
            </a:avLst>
          </a:prstGeom>
          <a:solidFill>
            <a:srgbClr val="E6F4FF"/>
          </a:solidFill>
          <a:ln/>
        </p:spPr>
      </p:sp>
      <p:sp>
        <p:nvSpPr>
          <p:cNvPr id="3" name="Text 1"/>
          <p:cNvSpPr/>
          <p:nvPr/>
        </p:nvSpPr>
        <p:spPr>
          <a:xfrm>
            <a:off x="502920" y="457200"/>
            <a:ext cx="2834640" cy="347472"/>
          </a:xfrm>
          <a:prstGeom prst="rect">
            <a:avLst/>
          </a:prstGeom>
          <a:noFill/>
          <a:ln/>
        </p:spPr>
        <p:txBody>
          <a:bodyPr wrap="square" lIns="0" tIns="0" rIns="0" bIns="0" rtlCol="0" anchor="ctr"/>
          <a:lstStyle/>
          <a:p>
            <a:pPr algn="ctr" indent="0" marL="0">
              <a:buNone/>
            </a:pPr>
            <a:r>
              <a:rPr lang="en-US" sz="1100" b="1" spc="100" kern="0" dirty="0">
                <a:solidFill>
                  <a:srgbClr val="0078D4"/>
                </a:solidFill>
                <a:latin typeface="Calibri" pitchFamily="34" charset="0"/>
                <a:ea typeface="Calibri" pitchFamily="34" charset="-122"/>
                <a:cs typeface="Calibri" pitchFamily="34" charset="-120"/>
              </a:rPr>
              <a:t>ORGANIZATION</a:t>
            </a:r>
            <a:endParaRPr lang="en-US" sz="1100" dirty="0"/>
          </a:p>
        </p:txBody>
      </p:sp>
      <p:sp>
        <p:nvSpPr>
          <p:cNvPr id="4" name="Text 2"/>
          <p:cNvSpPr/>
          <p:nvPr/>
        </p:nvSpPr>
        <p:spPr>
          <a:xfrm>
            <a:off x="502920" y="896112"/>
            <a:ext cx="11185855"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Toolkit folder structure</a:t>
            </a:r>
            <a:endParaRPr lang="en-US" sz="3200" dirty="0"/>
          </a:p>
        </p:txBody>
      </p:sp>
      <p:sp>
        <p:nvSpPr>
          <p:cNvPr id="5" name="Shape 3"/>
          <p:cNvSpPr/>
          <p:nvPr/>
        </p:nvSpPr>
        <p:spPr>
          <a:xfrm>
            <a:off x="502920" y="1783080"/>
            <a:ext cx="5577840" cy="4297680"/>
          </a:xfrm>
          <a:prstGeom prst="roundRect">
            <a:avLst>
              <a:gd name="adj" fmla="val 2128"/>
            </a:avLst>
          </a:prstGeom>
          <a:solidFill>
            <a:srgbClr val="1E2761"/>
          </a:solidFill>
          <a:ln/>
        </p:spPr>
      </p:sp>
      <p:sp>
        <p:nvSpPr>
          <p:cNvPr id="6" name="Text 4"/>
          <p:cNvSpPr/>
          <p:nvPr/>
        </p:nvSpPr>
        <p:spPr>
          <a:xfrm>
            <a:off x="777240" y="1965960"/>
            <a:ext cx="5120640" cy="365760"/>
          </a:xfrm>
          <a:prstGeom prst="rect">
            <a:avLst/>
          </a:prstGeom>
          <a:noFill/>
          <a:ln/>
        </p:spPr>
        <p:txBody>
          <a:bodyPr wrap="square" lIns="0" tIns="0" rIns="0" bIns="0" rtlCol="0" anchor="ctr"/>
          <a:lstStyle/>
          <a:p>
            <a:pPr indent="0" marL="0">
              <a:buNone/>
            </a:pPr>
            <a:r>
              <a:rPr lang="en-US" sz="1300" b="1" dirty="0">
                <a:solidFill>
                  <a:srgbClr val="CADCFC"/>
                </a:solidFill>
                <a:latin typeface="Consolas" pitchFamily="34" charset="0"/>
                <a:ea typeface="Consolas" pitchFamily="34" charset="-122"/>
                <a:cs typeface="Consolas" pitchFamily="34" charset="-120"/>
              </a:rPr>
              <a:t>Windows11UpgradeToolkit\</a:t>
            </a:r>
            <a:endParaRPr lang="en-US" sz="1300" dirty="0"/>
          </a:p>
        </p:txBody>
      </p:sp>
      <p:sp>
        <p:nvSpPr>
          <p:cNvPr id="7" name="Text 5"/>
          <p:cNvSpPr/>
          <p:nvPr/>
        </p:nvSpPr>
        <p:spPr>
          <a:xfrm>
            <a:off x="777240" y="2359152"/>
            <a:ext cx="4754880" cy="219456"/>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Start-...-LotLauncher-GUI.cmd</a:t>
            </a:r>
            <a:endParaRPr lang="en-US" sz="1000" dirty="0"/>
          </a:p>
        </p:txBody>
      </p:sp>
      <p:sp>
        <p:nvSpPr>
          <p:cNvPr id="8" name="Text 6"/>
          <p:cNvSpPr/>
          <p:nvPr/>
        </p:nvSpPr>
        <p:spPr>
          <a:xfrm>
            <a:off x="777240" y="2592324"/>
            <a:ext cx="4754880" cy="219456"/>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Update-LotCmdWrappers.cmd</a:t>
            </a:r>
            <a:endParaRPr lang="en-US" sz="1000" dirty="0"/>
          </a:p>
        </p:txBody>
      </p:sp>
      <p:sp>
        <p:nvSpPr>
          <p:cNvPr id="9" name="Text 7"/>
          <p:cNvSpPr/>
          <p:nvPr/>
        </p:nvSpPr>
        <p:spPr>
          <a:xfrm>
            <a:off x="777240" y="2825496"/>
            <a:ext cx="4754880" cy="219456"/>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Export-IntuneDevicesCsv.cmd</a:t>
            </a:r>
            <a:endParaRPr lang="en-US" sz="1000" dirty="0"/>
          </a:p>
        </p:txBody>
      </p:sp>
      <p:sp>
        <p:nvSpPr>
          <p:cNvPr id="10" name="Text 8"/>
          <p:cNvSpPr/>
          <p:nvPr/>
        </p:nvSpPr>
        <p:spPr>
          <a:xfrm>
            <a:off x="777240" y="3058668"/>
            <a:ext cx="4754880" cy="219456"/>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Export-ADDevicesCsv.cmd</a:t>
            </a:r>
            <a:endParaRPr lang="en-US" sz="1000" dirty="0"/>
          </a:p>
        </p:txBody>
      </p:sp>
      <p:sp>
        <p:nvSpPr>
          <p:cNvPr id="11" name="Text 9"/>
          <p:cNvSpPr/>
          <p:nvPr/>
        </p:nvSpPr>
        <p:spPr>
          <a:xfrm>
            <a:off x="777240" y="3291840"/>
            <a:ext cx="4754880" cy="219456"/>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New-SetupMediaManifest.cmd</a:t>
            </a:r>
            <a:endParaRPr lang="en-US" sz="1000" dirty="0"/>
          </a:p>
        </p:txBody>
      </p:sp>
      <p:sp>
        <p:nvSpPr>
          <p:cNvPr id="12" name="Text 10"/>
          <p:cNvSpPr/>
          <p:nvPr/>
        </p:nvSpPr>
        <p:spPr>
          <a:xfrm>
            <a:off x="777240" y="3525012"/>
            <a:ext cx="4754880" cy="219456"/>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Windows11UpgradeToolkit.config.template</a:t>
            </a:r>
            <a:endParaRPr lang="en-US" sz="1000" dirty="0"/>
          </a:p>
        </p:txBody>
      </p:sp>
      <p:sp>
        <p:nvSpPr>
          <p:cNvPr id="13" name="Text 11"/>
          <p:cNvSpPr/>
          <p:nvPr/>
        </p:nvSpPr>
        <p:spPr>
          <a:xfrm>
            <a:off x="777240" y="3758184"/>
            <a:ext cx="4754880" cy="219456"/>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Scripts\</a:t>
            </a:r>
            <a:endParaRPr lang="en-US" sz="1000" dirty="0"/>
          </a:p>
        </p:txBody>
      </p:sp>
      <p:sp>
        <p:nvSpPr>
          <p:cNvPr id="14" name="Text 12"/>
          <p:cNvSpPr/>
          <p:nvPr/>
        </p:nvSpPr>
        <p:spPr>
          <a:xfrm>
            <a:off x="1143000" y="3991356"/>
            <a:ext cx="4754880" cy="219456"/>
          </a:xfrm>
          <a:prstGeom prst="rect">
            <a:avLst/>
          </a:prstGeom>
          <a:noFill/>
          <a:ln/>
        </p:spPr>
        <p:txBody>
          <a:bodyPr wrap="square" lIns="0" tIns="0" rIns="0" bIns="0" rtlCol="0" anchor="ctr"/>
          <a:lstStyle/>
          <a:p>
            <a:pPr indent="0" marL="0">
              <a:buNone/>
            </a:pPr>
            <a:r>
              <a:rPr lang="en-US" sz="1000" dirty="0">
                <a:solidFill>
                  <a:srgbClr val="AEBBEF"/>
                </a:solidFill>
                <a:latin typeface="Consolas" pitchFamily="34" charset="0"/>
                <a:ea typeface="Consolas" pitchFamily="34" charset="-122"/>
                <a:cs typeface="Consolas" pitchFamily="34" charset="-120"/>
              </a:rPr>
              <a:t>SmartM365-Invoke-Windows11UpgradeRepair.ps1</a:t>
            </a:r>
            <a:endParaRPr lang="en-US" sz="1000" dirty="0"/>
          </a:p>
        </p:txBody>
      </p:sp>
      <p:sp>
        <p:nvSpPr>
          <p:cNvPr id="15" name="Text 13"/>
          <p:cNvSpPr/>
          <p:nvPr/>
        </p:nvSpPr>
        <p:spPr>
          <a:xfrm>
            <a:off x="1143000" y="4224528"/>
            <a:ext cx="4754880" cy="219456"/>
          </a:xfrm>
          <a:prstGeom prst="rect">
            <a:avLst/>
          </a:prstGeom>
          <a:noFill/>
          <a:ln/>
        </p:spPr>
        <p:txBody>
          <a:bodyPr wrap="square" lIns="0" tIns="0" rIns="0" bIns="0" rtlCol="0" anchor="ctr"/>
          <a:lstStyle/>
          <a:p>
            <a:pPr indent="0" marL="0">
              <a:buNone/>
            </a:pPr>
            <a:r>
              <a:rPr lang="en-US" sz="1000" dirty="0">
                <a:solidFill>
                  <a:srgbClr val="AEBBEF"/>
                </a:solidFill>
                <a:latin typeface="Consolas" pitchFamily="34" charset="0"/>
                <a:ea typeface="Consolas" pitchFamily="34" charset="-122"/>
                <a:cs typeface="Consolas" pitchFamily="34" charset="-120"/>
              </a:rPr>
              <a:t>...RepairWithPsExec.ps1  (orchestrator)</a:t>
            </a:r>
            <a:endParaRPr lang="en-US" sz="1000" dirty="0"/>
          </a:p>
        </p:txBody>
      </p:sp>
      <p:sp>
        <p:nvSpPr>
          <p:cNvPr id="16" name="Text 14"/>
          <p:cNvSpPr/>
          <p:nvPr/>
        </p:nvSpPr>
        <p:spPr>
          <a:xfrm>
            <a:off x="1143000" y="4457700"/>
            <a:ext cx="4754880" cy="219456"/>
          </a:xfrm>
          <a:prstGeom prst="rect">
            <a:avLst/>
          </a:prstGeom>
          <a:noFill/>
          <a:ln/>
        </p:spPr>
        <p:txBody>
          <a:bodyPr wrap="square" lIns="0" tIns="0" rIns="0" bIns="0" rtlCol="0" anchor="ctr"/>
          <a:lstStyle/>
          <a:p>
            <a:pPr indent="0" marL="0">
              <a:buNone/>
            </a:pPr>
            <a:r>
              <a:rPr lang="en-US" sz="1000" dirty="0">
                <a:solidFill>
                  <a:srgbClr val="AEBBEF"/>
                </a:solidFill>
                <a:latin typeface="Consolas" pitchFamily="34" charset="0"/>
                <a:ea typeface="Consolas" pitchFamily="34" charset="-122"/>
                <a:cs typeface="Consolas" pitchFamily="34" charset="-120"/>
              </a:rPr>
              <a:t>...LotLauncher-GUI.ps1  (WPF GUI)</a:t>
            </a:r>
            <a:endParaRPr lang="en-US" sz="1000" dirty="0"/>
          </a:p>
        </p:txBody>
      </p:sp>
      <p:sp>
        <p:nvSpPr>
          <p:cNvPr id="17" name="Text 15"/>
          <p:cNvSpPr/>
          <p:nvPr/>
        </p:nvSpPr>
        <p:spPr>
          <a:xfrm>
            <a:off x="1143000" y="4690872"/>
            <a:ext cx="4754880" cy="219456"/>
          </a:xfrm>
          <a:prstGeom prst="rect">
            <a:avLst/>
          </a:prstGeom>
          <a:noFill/>
          <a:ln/>
        </p:spPr>
        <p:txBody>
          <a:bodyPr wrap="square" lIns="0" tIns="0" rIns="0" bIns="0" rtlCol="0" anchor="ctr"/>
          <a:lstStyle/>
          <a:p>
            <a:pPr indent="0" marL="0">
              <a:buNone/>
            </a:pPr>
            <a:r>
              <a:rPr lang="en-US" sz="1000" dirty="0">
                <a:solidFill>
                  <a:srgbClr val="AEBBEF"/>
                </a:solidFill>
                <a:latin typeface="Consolas" pitchFamily="34" charset="0"/>
                <a:ea typeface="Consolas" pitchFamily="34" charset="-122"/>
                <a:cs typeface="Consolas" pitchFamily="34" charset="-120"/>
              </a:rPr>
              <a:t>...PsExecWorker.ps1</a:t>
            </a:r>
            <a:endParaRPr lang="en-US" sz="1000" dirty="0"/>
          </a:p>
        </p:txBody>
      </p:sp>
      <p:sp>
        <p:nvSpPr>
          <p:cNvPr id="18" name="Text 16"/>
          <p:cNvSpPr/>
          <p:nvPr/>
        </p:nvSpPr>
        <p:spPr>
          <a:xfrm>
            <a:off x="777240" y="4924044"/>
            <a:ext cx="4754880" cy="219456"/>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Lots\LOT-TEMPLATE\</a:t>
            </a:r>
            <a:endParaRPr lang="en-US" sz="1000" dirty="0"/>
          </a:p>
        </p:txBody>
      </p:sp>
      <p:sp>
        <p:nvSpPr>
          <p:cNvPr id="19" name="Text 17"/>
          <p:cNvSpPr/>
          <p:nvPr/>
        </p:nvSpPr>
        <p:spPr>
          <a:xfrm>
            <a:off x="777240" y="5157216"/>
            <a:ext cx="4754880" cy="219456"/>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Lots\LOT-&lt;name&gt;\  (operational, not committed)</a:t>
            </a:r>
            <a:endParaRPr lang="en-US" sz="1000" dirty="0"/>
          </a:p>
        </p:txBody>
      </p:sp>
      <p:sp>
        <p:nvSpPr>
          <p:cNvPr id="20" name="Text 18"/>
          <p:cNvSpPr/>
          <p:nvPr/>
        </p:nvSpPr>
        <p:spPr>
          <a:xfrm>
            <a:off x="777240" y="5390388"/>
            <a:ext cx="4754880" cy="219456"/>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Runs\&lt;LOT&gt;\&lt;timestamp&gt;\</a:t>
            </a:r>
            <a:endParaRPr lang="en-US" sz="1000" dirty="0"/>
          </a:p>
        </p:txBody>
      </p:sp>
      <p:sp>
        <p:nvSpPr>
          <p:cNvPr id="21" name="Text 19"/>
          <p:cNvSpPr/>
          <p:nvPr/>
        </p:nvSpPr>
        <p:spPr>
          <a:xfrm>
            <a:off x="777240" y="5623560"/>
            <a:ext cx="4754880" cy="219456"/>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SetupSource\  (local media, not committed)</a:t>
            </a:r>
            <a:endParaRPr lang="en-US" sz="1000" dirty="0"/>
          </a:p>
        </p:txBody>
      </p:sp>
      <p:sp>
        <p:nvSpPr>
          <p:cNvPr id="22" name="Shape 20"/>
          <p:cNvSpPr/>
          <p:nvPr/>
        </p:nvSpPr>
        <p:spPr>
          <a:xfrm>
            <a:off x="6355080" y="1783080"/>
            <a:ext cx="5349240" cy="1298448"/>
          </a:xfrm>
          <a:prstGeom prst="roundRect">
            <a:avLst>
              <a:gd name="adj" fmla="val 5634"/>
            </a:avLst>
          </a:prstGeom>
          <a:solidFill>
            <a:srgbClr val="F5F8FB"/>
          </a:solidFill>
          <a:ln w="12700">
            <a:solidFill>
              <a:srgbClr val="DDE7F0"/>
            </a:solidFill>
            <a:prstDash val="solid"/>
          </a:ln>
        </p:spPr>
      </p:sp>
      <p:sp>
        <p:nvSpPr>
          <p:cNvPr id="23" name="Text 21"/>
          <p:cNvSpPr/>
          <p:nvPr/>
        </p:nvSpPr>
        <p:spPr>
          <a:xfrm>
            <a:off x="6583680" y="1947672"/>
            <a:ext cx="4937760" cy="320040"/>
          </a:xfrm>
          <a:prstGeom prst="rect">
            <a:avLst/>
          </a:prstGeom>
          <a:noFill/>
          <a:ln/>
        </p:spPr>
        <p:txBody>
          <a:bodyPr wrap="square" lIns="0" tIns="0" rIns="0" bIns="0" rtlCol="0" anchor="ctr"/>
          <a:lstStyle/>
          <a:p>
            <a:pPr indent="0" marL="0">
              <a:buNone/>
            </a:pPr>
            <a:r>
              <a:rPr lang="en-US" sz="1350" b="1" dirty="0">
                <a:solidFill>
                  <a:srgbClr val="1E2761"/>
                </a:solidFill>
                <a:latin typeface="Consolas" pitchFamily="34" charset="0"/>
                <a:ea typeface="Consolas" pitchFamily="34" charset="-122"/>
                <a:cs typeface="Consolas" pitchFamily="34" charset="-120"/>
              </a:rPr>
              <a:t>Scripts\</a:t>
            </a:r>
            <a:endParaRPr lang="en-US" sz="1350" dirty="0"/>
          </a:p>
        </p:txBody>
      </p:sp>
      <p:sp>
        <p:nvSpPr>
          <p:cNvPr id="24" name="Text 22"/>
          <p:cNvSpPr/>
          <p:nvPr/>
        </p:nvSpPr>
        <p:spPr>
          <a:xfrm>
            <a:off x="6583680" y="2286000"/>
            <a:ext cx="4937760" cy="685800"/>
          </a:xfrm>
          <a:prstGeom prst="rect">
            <a:avLst/>
          </a:prstGeom>
          <a:noFill/>
          <a:ln/>
        </p:spPr>
        <p:txBody>
          <a:bodyPr wrap="square" lIns="0" tIns="0" rIns="0" bIns="0" rtlCol="0" anchor="ctr"/>
          <a:lstStyle/>
          <a:p>
            <a:pPr indent="0" marL="0">
              <a:lnSpc>
                <a:spcPct val="120000"/>
              </a:lnSpc>
              <a:buNone/>
            </a:pPr>
            <a:r>
              <a:rPr lang="en-US" sz="1150" dirty="0">
                <a:solidFill>
                  <a:srgbClr val="5F6B7A"/>
                </a:solidFill>
                <a:latin typeface="Calibri" pitchFamily="34" charset="0"/>
                <a:ea typeface="Calibri" pitchFamily="34" charset="-122"/>
                <a:cs typeface="Calibri" pitchFamily="34" charset="-120"/>
              </a:rPr>
              <a:t>PsExec orchestrator, self-contained endpoint script, worker, LOT launcher GUI.</a:t>
            </a:r>
            <a:endParaRPr lang="en-US" sz="1150" dirty="0"/>
          </a:p>
        </p:txBody>
      </p:sp>
      <p:sp>
        <p:nvSpPr>
          <p:cNvPr id="25" name="Shape 23"/>
          <p:cNvSpPr/>
          <p:nvPr/>
        </p:nvSpPr>
        <p:spPr>
          <a:xfrm>
            <a:off x="6355080" y="3264408"/>
            <a:ext cx="5349240" cy="1298448"/>
          </a:xfrm>
          <a:prstGeom prst="roundRect">
            <a:avLst>
              <a:gd name="adj" fmla="val 5634"/>
            </a:avLst>
          </a:prstGeom>
          <a:solidFill>
            <a:srgbClr val="F5F8FB"/>
          </a:solidFill>
          <a:ln w="12700">
            <a:solidFill>
              <a:srgbClr val="DDE7F0"/>
            </a:solidFill>
            <a:prstDash val="solid"/>
          </a:ln>
        </p:spPr>
      </p:sp>
      <p:sp>
        <p:nvSpPr>
          <p:cNvPr id="26" name="Text 24"/>
          <p:cNvSpPr/>
          <p:nvPr/>
        </p:nvSpPr>
        <p:spPr>
          <a:xfrm>
            <a:off x="6583680" y="3429000"/>
            <a:ext cx="4937760" cy="320040"/>
          </a:xfrm>
          <a:prstGeom prst="rect">
            <a:avLst/>
          </a:prstGeom>
          <a:noFill/>
          <a:ln/>
        </p:spPr>
        <p:txBody>
          <a:bodyPr wrap="square" lIns="0" tIns="0" rIns="0" bIns="0" rtlCol="0" anchor="ctr"/>
          <a:lstStyle/>
          <a:p>
            <a:pPr indent="0" marL="0">
              <a:buNone/>
            </a:pPr>
            <a:r>
              <a:rPr lang="en-US" sz="1350" b="1" dirty="0">
                <a:solidFill>
                  <a:srgbClr val="1E2761"/>
                </a:solidFill>
                <a:latin typeface="Consolas" pitchFamily="34" charset="0"/>
                <a:ea typeface="Consolas" pitchFamily="34" charset="-122"/>
                <a:cs typeface="Consolas" pitchFamily="34" charset="-120"/>
              </a:rPr>
              <a:t>Lots\LOT-*\</a:t>
            </a:r>
            <a:endParaRPr lang="en-US" sz="1350" dirty="0"/>
          </a:p>
        </p:txBody>
      </p:sp>
      <p:sp>
        <p:nvSpPr>
          <p:cNvPr id="27" name="Text 25"/>
          <p:cNvSpPr/>
          <p:nvPr/>
        </p:nvSpPr>
        <p:spPr>
          <a:xfrm>
            <a:off x="6583680" y="3767328"/>
            <a:ext cx="4937760" cy="685800"/>
          </a:xfrm>
          <a:prstGeom prst="rect">
            <a:avLst/>
          </a:prstGeom>
          <a:noFill/>
          <a:ln/>
        </p:spPr>
        <p:txBody>
          <a:bodyPr wrap="square" lIns="0" tIns="0" rIns="0" bIns="0" rtlCol="0" anchor="ctr"/>
          <a:lstStyle/>
          <a:p>
            <a:pPr indent="0" marL="0">
              <a:lnSpc>
                <a:spcPct val="120000"/>
              </a:lnSpc>
              <a:buNone/>
            </a:pPr>
            <a:r>
              <a:rPr lang="en-US" sz="1150" dirty="0">
                <a:solidFill>
                  <a:srgbClr val="5F6B7A"/>
                </a:solidFill>
                <a:latin typeface="Calibri" pitchFamily="34" charset="0"/>
                <a:ea typeface="Calibri" pitchFamily="34" charset="-122"/>
                <a:cs typeface="Calibri" pitchFamily="34" charset="-120"/>
              </a:rPr>
              <a:t>Operational configuration and Computers.txt for each campaign (never committed).</a:t>
            </a:r>
            <a:endParaRPr lang="en-US" sz="1150" dirty="0"/>
          </a:p>
        </p:txBody>
      </p:sp>
      <p:sp>
        <p:nvSpPr>
          <p:cNvPr id="28" name="Shape 26"/>
          <p:cNvSpPr/>
          <p:nvPr/>
        </p:nvSpPr>
        <p:spPr>
          <a:xfrm>
            <a:off x="6355080" y="4745736"/>
            <a:ext cx="5349240" cy="1298448"/>
          </a:xfrm>
          <a:prstGeom prst="roundRect">
            <a:avLst>
              <a:gd name="adj" fmla="val 5634"/>
            </a:avLst>
          </a:prstGeom>
          <a:solidFill>
            <a:srgbClr val="F5F8FB"/>
          </a:solidFill>
          <a:ln w="12700">
            <a:solidFill>
              <a:srgbClr val="DDE7F0"/>
            </a:solidFill>
            <a:prstDash val="solid"/>
          </a:ln>
        </p:spPr>
      </p:sp>
      <p:sp>
        <p:nvSpPr>
          <p:cNvPr id="29" name="Text 27"/>
          <p:cNvSpPr/>
          <p:nvPr/>
        </p:nvSpPr>
        <p:spPr>
          <a:xfrm>
            <a:off x="6583680" y="4910328"/>
            <a:ext cx="4937760" cy="320040"/>
          </a:xfrm>
          <a:prstGeom prst="rect">
            <a:avLst/>
          </a:prstGeom>
          <a:noFill/>
          <a:ln/>
        </p:spPr>
        <p:txBody>
          <a:bodyPr wrap="square" lIns="0" tIns="0" rIns="0" bIns="0" rtlCol="0" anchor="ctr"/>
          <a:lstStyle/>
          <a:p>
            <a:pPr indent="0" marL="0">
              <a:buNone/>
            </a:pPr>
            <a:r>
              <a:rPr lang="en-US" sz="1350" b="1" dirty="0">
                <a:solidFill>
                  <a:srgbClr val="1E2761"/>
                </a:solidFill>
                <a:latin typeface="Consolas" pitchFamily="34" charset="0"/>
                <a:ea typeface="Consolas" pitchFamily="34" charset="-122"/>
                <a:cs typeface="Consolas" pitchFamily="34" charset="-120"/>
              </a:rPr>
              <a:t>Runs\&lt;LOT&gt;\&lt;timestamp&gt;\</a:t>
            </a:r>
            <a:endParaRPr lang="en-US" sz="1350" dirty="0"/>
          </a:p>
        </p:txBody>
      </p:sp>
      <p:sp>
        <p:nvSpPr>
          <p:cNvPr id="30" name="Text 28"/>
          <p:cNvSpPr/>
          <p:nvPr/>
        </p:nvSpPr>
        <p:spPr>
          <a:xfrm>
            <a:off x="6583680" y="5248656"/>
            <a:ext cx="4937760" cy="685800"/>
          </a:xfrm>
          <a:prstGeom prst="rect">
            <a:avLst/>
          </a:prstGeom>
          <a:noFill/>
          <a:ln/>
        </p:spPr>
        <p:txBody>
          <a:bodyPr wrap="square" lIns="0" tIns="0" rIns="0" bIns="0" rtlCol="0" anchor="ctr"/>
          <a:lstStyle/>
          <a:p>
            <a:pPr indent="0" marL="0">
              <a:lnSpc>
                <a:spcPct val="120000"/>
              </a:lnSpc>
              <a:buNone/>
            </a:pPr>
            <a:r>
              <a:rPr lang="en-US" sz="1150" dirty="0">
                <a:solidFill>
                  <a:srgbClr val="5F6B7A"/>
                </a:solidFill>
                <a:latin typeface="Calibri" pitchFamily="34" charset="0"/>
                <a:ea typeface="Calibri" pitchFamily="34" charset="-122"/>
                <a:cs typeface="Calibri" pitchFamily="34" charset="-120"/>
              </a:rPr>
              <a:t>Run data: logs, HTML reports, CentralLogs, inventory CSV files.</a:t>
            </a:r>
            <a:endParaRPr lang="en-US" sz="1150" dirty="0"/>
          </a:p>
        </p:txBody>
      </p:sp>
      <p:sp>
        <p:nvSpPr>
          <p:cNvPr id="31" name="Text 29"/>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SmartM365 Devices — Windows 11 Upgrade Toolkit</a:t>
            </a:r>
            <a:endParaRPr lang="en-US" sz="900" dirty="0"/>
          </a:p>
        </p:txBody>
      </p:sp>
      <p:sp>
        <p:nvSpPr>
          <p:cNvPr id="32" name="Text 30"/>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75488"/>
            <a:ext cx="548640" cy="548640"/>
          </a:xfrm>
          <a:prstGeom prst="ellipse">
            <a:avLst/>
          </a:prstGeom>
          <a:solidFill>
            <a:srgbClr val="0078D4"/>
          </a:solidFill>
          <a:ln/>
        </p:spPr>
      </p:sp>
      <p:sp>
        <p:nvSpPr>
          <p:cNvPr id="3" name="Text 1"/>
          <p:cNvSpPr/>
          <p:nvPr/>
        </p:nvSpPr>
        <p:spPr>
          <a:xfrm>
            <a:off x="502920" y="475488"/>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4" name="Text 2"/>
          <p:cNvSpPr/>
          <p:nvPr/>
        </p:nvSpPr>
        <p:spPr>
          <a:xfrm>
            <a:off x="1188720" y="530352"/>
            <a:ext cx="3657600" cy="457200"/>
          </a:xfrm>
          <a:prstGeom prst="rect">
            <a:avLst/>
          </a:prstGeom>
          <a:noFill/>
          <a:ln/>
        </p:spPr>
        <p:txBody>
          <a:bodyPr wrap="square" lIns="0" tIns="0" rIns="0" bIns="0" rtlCol="0" anchor="ctr"/>
          <a:lstStyle/>
          <a:p>
            <a:pPr indent="0" marL="0">
              <a:buNone/>
            </a:pPr>
            <a:r>
              <a:rPr lang="en-US" sz="1300" b="1" spc="100" kern="0" dirty="0">
                <a:solidFill>
                  <a:srgbClr val="5F6B7A"/>
                </a:solidFill>
                <a:latin typeface="Calibri" pitchFamily="34" charset="0"/>
                <a:ea typeface="Calibri" pitchFamily="34" charset="-122"/>
                <a:cs typeface="Calibri" pitchFamily="34" charset="-120"/>
              </a:rPr>
              <a:t>STEP 1</a:t>
            </a:r>
            <a:endParaRPr lang="en-US" sz="1300" dirty="0"/>
          </a:p>
        </p:txBody>
      </p:sp>
      <p:sp>
        <p:nvSpPr>
          <p:cNvPr id="5" name="Text 3"/>
          <p:cNvSpPr/>
          <p:nvPr/>
        </p:nvSpPr>
        <p:spPr>
          <a:xfrm>
            <a:off x="502920" y="1207008"/>
            <a:ext cx="11185855"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Prepare the Windows 11 media</a:t>
            </a:r>
            <a:endParaRPr lang="en-US" sz="3200" dirty="0"/>
          </a:p>
        </p:txBody>
      </p:sp>
      <p:sp>
        <p:nvSpPr>
          <p:cNvPr id="6" name="Text 4"/>
          <p:cNvSpPr/>
          <p:nvPr/>
        </p:nvSpPr>
        <p:spPr>
          <a:xfrm>
            <a:off x="502920" y="2011680"/>
            <a:ext cx="11155680" cy="36576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Only needed if campaigns must enable the Windows Setup upgrade (-AllowSetupUpgrade).</a:t>
            </a:r>
            <a:endParaRPr lang="en-US" sz="1350" dirty="0"/>
          </a:p>
        </p:txBody>
      </p:sp>
      <p:sp>
        <p:nvSpPr>
          <p:cNvPr id="7" name="Shape 5"/>
          <p:cNvSpPr/>
          <p:nvPr/>
        </p:nvSpPr>
        <p:spPr>
          <a:xfrm>
            <a:off x="502920" y="2450592"/>
            <a:ext cx="11201400" cy="548640"/>
          </a:xfrm>
          <a:prstGeom prst="roundRect">
            <a:avLst>
              <a:gd name="adj" fmla="val 13333"/>
            </a:avLst>
          </a:prstGeom>
          <a:solidFill>
            <a:srgbClr val="F5F8FB"/>
          </a:solidFill>
          <a:ln w="12700">
            <a:solidFill>
              <a:srgbClr val="DDE7F0"/>
            </a:solidFill>
            <a:prstDash val="solid"/>
          </a:ln>
        </p:spPr>
      </p:sp>
      <p:sp>
        <p:nvSpPr>
          <p:cNvPr id="8" name="Shape 6"/>
          <p:cNvSpPr/>
          <p:nvPr/>
        </p:nvSpPr>
        <p:spPr>
          <a:xfrm>
            <a:off x="694944" y="2569464"/>
            <a:ext cx="310896" cy="310896"/>
          </a:xfrm>
          <a:prstGeom prst="ellipse">
            <a:avLst/>
          </a:prstGeom>
          <a:solidFill>
            <a:srgbClr val="0078D4"/>
          </a:solidFill>
          <a:ln/>
        </p:spPr>
      </p:sp>
      <p:sp>
        <p:nvSpPr>
          <p:cNvPr id="9" name="Text 7"/>
          <p:cNvSpPr/>
          <p:nvPr/>
        </p:nvSpPr>
        <p:spPr>
          <a:xfrm>
            <a:off x="694944" y="25694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1225296" y="2514600"/>
            <a:ext cx="1010412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Download the Windows 11 media</a:t>
            </a:r>
            <a:endParaRPr lang="en-US" sz="1200" dirty="0"/>
          </a:p>
        </p:txBody>
      </p:sp>
      <p:sp>
        <p:nvSpPr>
          <p:cNvPr id="11" name="Text 9"/>
          <p:cNvSpPr/>
          <p:nvPr/>
        </p:nvSpPr>
        <p:spPr>
          <a:xfrm>
            <a:off x="1225296" y="2770632"/>
            <a:ext cx="10104120" cy="182880"/>
          </a:xfrm>
          <a:prstGeom prst="rect">
            <a:avLst/>
          </a:prstGeom>
          <a:noFill/>
          <a:ln/>
        </p:spPr>
        <p:txBody>
          <a:bodyPr wrap="square" lIns="0" tIns="0" rIns="0" bIns="0" rtlCol="0" anchor="ctr"/>
          <a:lstStyle/>
          <a:p>
            <a:pPr indent="0" marL="0">
              <a:lnSpc>
                <a:spcPct val="108000"/>
              </a:lnSpc>
              <a:buNone/>
            </a:pPr>
            <a:r>
              <a:rPr lang="en-US" sz="1000" dirty="0">
                <a:solidFill>
                  <a:srgbClr val="5F6B7A"/>
                </a:solidFill>
                <a:latin typeface="Calibri" pitchFamily="34" charset="0"/>
                <a:ea typeface="Calibri" pitchFamily="34" charset="-122"/>
                <a:cs typeface="Calibri" pitchFamily="34" charset="-120"/>
              </a:rPr>
              <a:t>Download the ISO image or the media creation tool from the official Microsoft page: </a:t>
            </a:r>
            <a:pPr indent="0" marL="0">
              <a:lnSpc>
                <a:spcPct val="108000"/>
              </a:lnSpc>
              <a:buNone/>
            </a:pPr>
            <a:r>
              <a:rPr lang="en-US" sz="1000" u="sng" dirty="0">
                <a:solidFill>
                  <a:srgbClr val="0078D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https://www.microsoft.com/software-download/windows11</a:t>
            </a:r>
            <a:pPr indent="0" marL="0">
              <a:lnSpc>
                <a:spcPct val="108000"/>
              </a:lnSpc>
              <a:buNone/>
            </a:pPr>
            <a:r>
              <a:rPr lang="en-US" sz="1000" dirty="0">
                <a:solidFill>
                  <a:srgbClr val="5F6B7A"/>
                </a:solidFill>
                <a:latin typeface="Calibri" pitchFamily="34" charset="0"/>
                <a:ea typeface="Calibri" pitchFamily="34" charset="-122"/>
                <a:cs typeface="Calibri" pitchFamily="34" charset="-120"/>
              </a:rPr>
              <a:t>.</a:t>
            </a:r>
            <a:endParaRPr lang="en-US" sz="1000" dirty="0"/>
          </a:p>
        </p:txBody>
      </p:sp>
      <p:sp>
        <p:nvSpPr>
          <p:cNvPr id="12" name="Shape 10"/>
          <p:cNvSpPr/>
          <p:nvPr/>
        </p:nvSpPr>
        <p:spPr>
          <a:xfrm>
            <a:off x="502920" y="3090672"/>
            <a:ext cx="11201400" cy="548640"/>
          </a:xfrm>
          <a:prstGeom prst="roundRect">
            <a:avLst>
              <a:gd name="adj" fmla="val 13333"/>
            </a:avLst>
          </a:prstGeom>
          <a:solidFill>
            <a:srgbClr val="F5F8FB"/>
          </a:solidFill>
          <a:ln w="12700">
            <a:solidFill>
              <a:srgbClr val="DDE7F0"/>
            </a:solidFill>
            <a:prstDash val="solid"/>
          </a:ln>
        </p:spPr>
      </p:sp>
      <p:sp>
        <p:nvSpPr>
          <p:cNvPr id="13" name="Shape 11"/>
          <p:cNvSpPr/>
          <p:nvPr/>
        </p:nvSpPr>
        <p:spPr>
          <a:xfrm>
            <a:off x="694944" y="3209544"/>
            <a:ext cx="310896" cy="310896"/>
          </a:xfrm>
          <a:prstGeom prst="ellipse">
            <a:avLst/>
          </a:prstGeom>
          <a:solidFill>
            <a:srgbClr val="0078D4"/>
          </a:solidFill>
          <a:ln/>
        </p:spPr>
      </p:sp>
      <p:sp>
        <p:nvSpPr>
          <p:cNvPr id="14" name="Text 12"/>
          <p:cNvSpPr/>
          <p:nvPr/>
        </p:nvSpPr>
        <p:spPr>
          <a:xfrm>
            <a:off x="694944" y="320954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1225296" y="3154680"/>
            <a:ext cx="1010412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Mount the ISO and copy the content</a:t>
            </a:r>
            <a:endParaRPr lang="en-US" sz="1200" dirty="0"/>
          </a:p>
        </p:txBody>
      </p:sp>
      <p:sp>
        <p:nvSpPr>
          <p:cNvPr id="16" name="Text 14"/>
          <p:cNvSpPr/>
          <p:nvPr/>
        </p:nvSpPr>
        <p:spPr>
          <a:xfrm>
            <a:off x="1225296" y="3410712"/>
            <a:ext cx="10104120" cy="182880"/>
          </a:xfrm>
          <a:prstGeom prst="rect">
            <a:avLst/>
          </a:prstGeom>
          <a:noFill/>
          <a:ln/>
        </p:spPr>
        <p:txBody>
          <a:bodyPr wrap="square" lIns="0" tIns="0" rIns="0" bIns="0" rtlCol="0" anchor="ctr"/>
          <a:lstStyle/>
          <a:p>
            <a:pPr indent="0" marL="0">
              <a:lnSpc>
                <a:spcPct val="108000"/>
              </a:lnSpc>
              <a:buNone/>
            </a:pPr>
            <a:r>
              <a:rPr lang="en-US" sz="1000" dirty="0">
                <a:solidFill>
                  <a:srgbClr val="5F6B7A"/>
                </a:solidFill>
                <a:latin typeface="Calibri" pitchFamily="34" charset="0"/>
                <a:ea typeface="Calibri" pitchFamily="34" charset="-122"/>
                <a:cs typeface="Calibri" pitchFamily="34" charset="-120"/>
              </a:rPr>
              <a:t>Mount the downloaded ISO image, then copy its full content into SetupSource\&lt;language&gt; (e.g. SetupSource\en-US or SetupSource\fr-FR) matching the media language.</a:t>
            </a:r>
            <a:endParaRPr lang="en-US" sz="1000" dirty="0"/>
          </a:p>
        </p:txBody>
      </p:sp>
      <p:sp>
        <p:nvSpPr>
          <p:cNvPr id="17" name="Shape 15"/>
          <p:cNvSpPr/>
          <p:nvPr/>
        </p:nvSpPr>
        <p:spPr>
          <a:xfrm>
            <a:off x="502920" y="3730752"/>
            <a:ext cx="11201400" cy="548640"/>
          </a:xfrm>
          <a:prstGeom prst="roundRect">
            <a:avLst>
              <a:gd name="adj" fmla="val 13333"/>
            </a:avLst>
          </a:prstGeom>
          <a:solidFill>
            <a:srgbClr val="F5F8FB"/>
          </a:solidFill>
          <a:ln w="12700">
            <a:solidFill>
              <a:srgbClr val="DDE7F0"/>
            </a:solidFill>
            <a:prstDash val="solid"/>
          </a:ln>
        </p:spPr>
      </p:sp>
      <p:sp>
        <p:nvSpPr>
          <p:cNvPr id="18" name="Shape 16"/>
          <p:cNvSpPr/>
          <p:nvPr/>
        </p:nvSpPr>
        <p:spPr>
          <a:xfrm>
            <a:off x="694944" y="3849624"/>
            <a:ext cx="310896" cy="310896"/>
          </a:xfrm>
          <a:prstGeom prst="ellipse">
            <a:avLst/>
          </a:prstGeom>
          <a:solidFill>
            <a:srgbClr val="0078D4"/>
          </a:solidFill>
          <a:ln/>
        </p:spPr>
      </p:sp>
      <p:sp>
        <p:nvSpPr>
          <p:cNvPr id="19" name="Text 17"/>
          <p:cNvSpPr/>
          <p:nvPr/>
        </p:nvSpPr>
        <p:spPr>
          <a:xfrm>
            <a:off x="694944" y="38496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p:nvPr/>
        </p:nvSpPr>
        <p:spPr>
          <a:xfrm>
            <a:off x="1225296" y="3794760"/>
            <a:ext cx="1010412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Validate the media</a:t>
            </a:r>
            <a:endParaRPr lang="en-US" sz="1200" dirty="0"/>
          </a:p>
        </p:txBody>
      </p:sp>
      <p:sp>
        <p:nvSpPr>
          <p:cNvPr id="21" name="Text 19"/>
          <p:cNvSpPr/>
          <p:nvPr/>
        </p:nvSpPr>
        <p:spPr>
          <a:xfrm>
            <a:off x="1225296" y="4050792"/>
            <a:ext cx="10104120" cy="182880"/>
          </a:xfrm>
          <a:prstGeom prst="rect">
            <a:avLst/>
          </a:prstGeom>
          <a:noFill/>
          <a:ln/>
        </p:spPr>
        <p:txBody>
          <a:bodyPr wrap="square" lIns="0" tIns="0" rIns="0" bIns="0" rtlCol="0" anchor="ctr"/>
          <a:lstStyle/>
          <a:p>
            <a:pPr indent="0" marL="0">
              <a:lnSpc>
                <a:spcPct val="108000"/>
              </a:lnSpc>
              <a:buNone/>
            </a:pPr>
            <a:r>
              <a:rPr lang="en-US" sz="1000" dirty="0">
                <a:solidFill>
                  <a:srgbClr val="5F6B7A"/>
                </a:solidFill>
                <a:latin typeface="Calibri" pitchFamily="34" charset="0"/>
                <a:ea typeface="Calibri" pitchFamily="34" charset="-122"/>
                <a:cs typeface="Calibri" pitchFamily="34" charset="-120"/>
              </a:rPr>
              <a:t>The folder must contain setup.exe and sources\install.wim or install.esd, with a valid Microsoft Authenticode signature.</a:t>
            </a:r>
            <a:endParaRPr lang="en-US" sz="1000" dirty="0"/>
          </a:p>
        </p:txBody>
      </p:sp>
      <p:sp>
        <p:nvSpPr>
          <p:cNvPr id="22" name="Shape 20"/>
          <p:cNvSpPr/>
          <p:nvPr/>
        </p:nvSpPr>
        <p:spPr>
          <a:xfrm>
            <a:off x="502920" y="4370832"/>
            <a:ext cx="11201400" cy="932688"/>
          </a:xfrm>
          <a:prstGeom prst="roundRect">
            <a:avLst>
              <a:gd name="adj" fmla="val 7843"/>
            </a:avLst>
          </a:prstGeom>
          <a:solidFill>
            <a:srgbClr val="F5F8FB"/>
          </a:solidFill>
          <a:ln w="12700">
            <a:solidFill>
              <a:srgbClr val="DDE7F0"/>
            </a:solidFill>
            <a:prstDash val="solid"/>
          </a:ln>
        </p:spPr>
      </p:sp>
      <p:sp>
        <p:nvSpPr>
          <p:cNvPr id="23" name="Shape 21"/>
          <p:cNvSpPr/>
          <p:nvPr/>
        </p:nvSpPr>
        <p:spPr>
          <a:xfrm>
            <a:off x="694944" y="4681728"/>
            <a:ext cx="310896" cy="310896"/>
          </a:xfrm>
          <a:prstGeom prst="ellipse">
            <a:avLst/>
          </a:prstGeom>
          <a:solidFill>
            <a:srgbClr val="0078D4"/>
          </a:solidFill>
          <a:ln/>
        </p:spPr>
      </p:sp>
      <p:sp>
        <p:nvSpPr>
          <p:cNvPr id="24" name="Text 22"/>
          <p:cNvSpPr/>
          <p:nvPr/>
        </p:nvSpPr>
        <p:spPr>
          <a:xfrm>
            <a:off x="694944" y="468172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p:nvPr/>
        </p:nvSpPr>
        <p:spPr>
          <a:xfrm>
            <a:off x="1225296" y="4434840"/>
            <a:ext cx="1010412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Share the network folders</a:t>
            </a:r>
            <a:endParaRPr lang="en-US" sz="1200" dirty="0"/>
          </a:p>
        </p:txBody>
      </p:sp>
      <p:sp>
        <p:nvSpPr>
          <p:cNvPr id="26" name="Text 24"/>
          <p:cNvSpPr/>
          <p:nvPr/>
        </p:nvSpPr>
        <p:spPr>
          <a:xfrm>
            <a:off x="1225296" y="4690872"/>
            <a:ext cx="10104120" cy="566928"/>
          </a:xfrm>
          <a:prstGeom prst="rect">
            <a:avLst/>
          </a:prstGeom>
          <a:noFill/>
          <a:ln/>
        </p:spPr>
        <p:txBody>
          <a:bodyPr wrap="square" lIns="0" tIns="0" rIns="0" bIns="0" rtlCol="0" anchor="ctr"/>
          <a:lstStyle/>
          <a:p>
            <a:pPr indent="0" marL="0">
              <a:lnSpc>
                <a:spcPct val="108000"/>
              </a:lnSpc>
              <a:buNone/>
            </a:pPr>
            <a:r>
              <a:rPr lang="en-US" sz="1000" dirty="0">
                <a:solidFill>
                  <a:srgbClr val="5F6B7A"/>
                </a:solidFill>
                <a:latin typeface="Calibri" pitchFamily="34" charset="0"/>
                <a:ea typeface="Calibri" pitchFamily="34" charset="-122"/>
                <a:cs typeface="Calibri" pitchFamily="34" charset="-120"/>
              </a:rPr>
              <a:t>SetupSource: share as SetupSource$ on the media server (or through a centralized file service), read access for all target devices. SetupSourceGates: share as SetupSourceGates$, write access required for target devices (copy concurrency gate).</a:t>
            </a:r>
            <a:endParaRPr lang="en-US" sz="1000" dirty="0"/>
          </a:p>
        </p:txBody>
      </p:sp>
      <p:sp>
        <p:nvSpPr>
          <p:cNvPr id="27" name="Shape 25"/>
          <p:cNvSpPr/>
          <p:nvPr/>
        </p:nvSpPr>
        <p:spPr>
          <a:xfrm>
            <a:off x="502920" y="5394960"/>
            <a:ext cx="11201400" cy="548640"/>
          </a:xfrm>
          <a:prstGeom prst="roundRect">
            <a:avLst>
              <a:gd name="adj" fmla="val 13333"/>
            </a:avLst>
          </a:prstGeom>
          <a:solidFill>
            <a:srgbClr val="F5F8FB"/>
          </a:solidFill>
          <a:ln w="12700">
            <a:solidFill>
              <a:srgbClr val="DDE7F0"/>
            </a:solidFill>
            <a:prstDash val="solid"/>
          </a:ln>
        </p:spPr>
      </p:sp>
      <p:sp>
        <p:nvSpPr>
          <p:cNvPr id="28" name="Shape 26"/>
          <p:cNvSpPr/>
          <p:nvPr/>
        </p:nvSpPr>
        <p:spPr>
          <a:xfrm>
            <a:off x="694944" y="5513832"/>
            <a:ext cx="310896" cy="310896"/>
          </a:xfrm>
          <a:prstGeom prst="ellipse">
            <a:avLst/>
          </a:prstGeom>
          <a:solidFill>
            <a:srgbClr val="0078D4"/>
          </a:solidFill>
          <a:ln/>
        </p:spPr>
      </p:sp>
      <p:sp>
        <p:nvSpPr>
          <p:cNvPr id="29" name="Text 27"/>
          <p:cNvSpPr/>
          <p:nvPr/>
        </p:nvSpPr>
        <p:spPr>
          <a:xfrm>
            <a:off x="694944" y="55138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0" name="Text 28"/>
          <p:cNvSpPr/>
          <p:nvPr/>
        </p:nvSpPr>
        <p:spPr>
          <a:xfrm>
            <a:off x="1225296" y="5458968"/>
            <a:ext cx="10104120" cy="256032"/>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Generate the SHA256 manifest</a:t>
            </a:r>
            <a:endParaRPr lang="en-US" sz="1200" dirty="0"/>
          </a:p>
        </p:txBody>
      </p:sp>
      <p:sp>
        <p:nvSpPr>
          <p:cNvPr id="31" name="Text 29"/>
          <p:cNvSpPr/>
          <p:nvPr/>
        </p:nvSpPr>
        <p:spPr>
          <a:xfrm>
            <a:off x="1225296" y="5715000"/>
            <a:ext cx="10104120" cy="182880"/>
          </a:xfrm>
          <a:prstGeom prst="rect">
            <a:avLst/>
          </a:prstGeom>
          <a:noFill/>
          <a:ln/>
        </p:spPr>
        <p:txBody>
          <a:bodyPr wrap="square" lIns="0" tIns="0" rIns="0" bIns="0" rtlCol="0" anchor="ctr"/>
          <a:lstStyle/>
          <a:p>
            <a:pPr indent="0" marL="0">
              <a:lnSpc>
                <a:spcPct val="108000"/>
              </a:lnSpc>
              <a:buNone/>
            </a:pPr>
            <a:r>
              <a:rPr lang="en-US" sz="1000" dirty="0">
                <a:solidFill>
                  <a:srgbClr val="5F6B7A"/>
                </a:solidFill>
                <a:latin typeface="Calibri" pitchFamily="34" charset="0"/>
                <a:ea typeface="Calibri" pitchFamily="34" charset="-122"/>
                <a:cs typeface="Calibri" pitchFamily="34" charset="-120"/>
              </a:rPr>
              <a:t>Run New-SetupMediaManifest.cmd (or the script with -MediaRoot / -SetupSourceRoot) to create SmartM365-SetupMediaManifest.sha256.csv at the root of the media.</a:t>
            </a:r>
            <a:endParaRPr lang="en-US" sz="1000" dirty="0"/>
          </a:p>
        </p:txBody>
      </p:sp>
      <p:sp>
        <p:nvSpPr>
          <p:cNvPr id="32" name="Text 30"/>
          <p:cNvSpPr/>
          <p:nvPr/>
        </p:nvSpPr>
        <p:spPr>
          <a:xfrm>
            <a:off x="502920" y="6089904"/>
            <a:ext cx="5486400" cy="219456"/>
          </a:xfrm>
          <a:prstGeom prst="rect">
            <a:avLst/>
          </a:prstGeom>
          <a:noFill/>
          <a:ln/>
        </p:spPr>
        <p:txBody>
          <a:bodyPr wrap="square" lIns="0" tIns="0" rIns="0" bIns="0" rtlCol="0" anchor="ctr"/>
          <a:lstStyle/>
          <a:p>
            <a:pPr indent="0" marL="0">
              <a:buNone/>
            </a:pPr>
            <a:r>
              <a:rPr lang="en-US" sz="950" dirty="0">
                <a:solidFill>
                  <a:srgbClr val="5F6B7A"/>
                </a:solidFill>
                <a:latin typeface="Calibri" pitchFamily="34" charset="0"/>
                <a:ea typeface="Calibri" pitchFamily="34" charset="-122"/>
                <a:cs typeface="Calibri" pitchFamily="34" charset="-120"/>
              </a:rPr>
              <a:t>Full documentation: </a:t>
            </a:r>
            <a:pPr indent="0" marL="0">
              <a:buNone/>
            </a:pPr>
            <a:r>
              <a:rPr lang="en-US" sz="950" u="sng" dirty="0">
                <a:solidFill>
                  <a:srgbClr val="0078D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 README</a:t>
            </a:r>
            <a:endParaRPr lang="en-US" sz="950" dirty="0"/>
          </a:p>
        </p:txBody>
      </p:sp>
      <p:sp>
        <p:nvSpPr>
          <p:cNvPr id="33" name="Text 31"/>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SmartM365 Devices — Windows 11 Upgrade Toolkit</a:t>
            </a:r>
            <a:endParaRPr lang="en-US" sz="900" dirty="0"/>
          </a:p>
        </p:txBody>
      </p:sp>
      <p:sp>
        <p:nvSpPr>
          <p:cNvPr id="34" name="Text 32"/>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75488"/>
            <a:ext cx="548640" cy="548640"/>
          </a:xfrm>
          <a:prstGeom prst="ellipse">
            <a:avLst/>
          </a:prstGeom>
          <a:solidFill>
            <a:srgbClr val="0078D4"/>
          </a:solidFill>
          <a:ln/>
        </p:spPr>
      </p:sp>
      <p:sp>
        <p:nvSpPr>
          <p:cNvPr id="3" name="Text 1"/>
          <p:cNvSpPr/>
          <p:nvPr/>
        </p:nvSpPr>
        <p:spPr>
          <a:xfrm>
            <a:off x="502920" y="475488"/>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4" name="Text 2"/>
          <p:cNvSpPr/>
          <p:nvPr/>
        </p:nvSpPr>
        <p:spPr>
          <a:xfrm>
            <a:off x="1188720" y="530352"/>
            <a:ext cx="3657600" cy="457200"/>
          </a:xfrm>
          <a:prstGeom prst="rect">
            <a:avLst/>
          </a:prstGeom>
          <a:noFill/>
          <a:ln/>
        </p:spPr>
        <p:txBody>
          <a:bodyPr wrap="square" lIns="0" tIns="0" rIns="0" bIns="0" rtlCol="0" anchor="ctr"/>
          <a:lstStyle/>
          <a:p>
            <a:pPr indent="0" marL="0">
              <a:buNone/>
            </a:pPr>
            <a:r>
              <a:rPr lang="en-US" sz="1300" b="1" spc="100" kern="0" dirty="0">
                <a:solidFill>
                  <a:srgbClr val="5F6B7A"/>
                </a:solidFill>
                <a:latin typeface="Calibri" pitchFamily="34" charset="0"/>
                <a:ea typeface="Calibri" pitchFamily="34" charset="-122"/>
                <a:cs typeface="Calibri" pitchFamily="34" charset="-120"/>
              </a:rPr>
              <a:t>STEP 2</a:t>
            </a:r>
            <a:endParaRPr lang="en-US" sz="1300" dirty="0"/>
          </a:p>
        </p:txBody>
      </p:sp>
      <p:sp>
        <p:nvSpPr>
          <p:cNvPr id="5" name="Text 3"/>
          <p:cNvSpPr/>
          <p:nvPr/>
        </p:nvSpPr>
        <p:spPr>
          <a:xfrm>
            <a:off x="502920" y="1207008"/>
            <a:ext cx="11185855"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Configure the toolkit</a:t>
            </a:r>
            <a:endParaRPr lang="en-US" sz="3200" dirty="0"/>
          </a:p>
        </p:txBody>
      </p:sp>
      <p:sp>
        <p:nvSpPr>
          <p:cNvPr id="6" name="Text 4"/>
          <p:cNvSpPr/>
          <p:nvPr/>
        </p:nvSpPr>
        <p:spPr>
          <a:xfrm>
            <a:off x="502920" y="2057400"/>
            <a:ext cx="5349240" cy="960120"/>
          </a:xfrm>
          <a:prstGeom prst="rect">
            <a:avLst/>
          </a:prstGeom>
          <a:noFill/>
          <a:ln/>
        </p:spPr>
        <p:txBody>
          <a:bodyPr wrap="square" lIns="0" tIns="0" rIns="0" bIns="0" rtlCol="0" anchor="ctr"/>
          <a:lstStyle/>
          <a:p>
            <a:pPr indent="0" marL="0">
              <a:lnSpc>
                <a:spcPct val="120000"/>
              </a:lnSpc>
              <a:buNone/>
            </a:pPr>
            <a:r>
              <a:rPr lang="en-US" sz="1250" dirty="0">
                <a:solidFill>
                  <a:srgbClr val="1F2937"/>
                </a:solidFill>
                <a:latin typeface="Calibri" pitchFamily="34" charset="0"/>
                <a:ea typeface="Calibri" pitchFamily="34" charset="-122"/>
                <a:cs typeface="Calibri" pitchFamily="34" charset="-120"/>
              </a:rPr>
              <a:t>Configuration is primarily done through the GUI's Options tab, which pre-fills and overrides Windows11UpgradeToolkit.config. Manual file-based configuration remains available for runs without the GUI and is detailed in the annex.</a:t>
            </a:r>
            <a:endParaRPr lang="en-US" sz="1250" dirty="0"/>
          </a:p>
        </p:txBody>
      </p:sp>
      <p:sp>
        <p:nvSpPr>
          <p:cNvPr id="7" name="Text 5"/>
          <p:cNvSpPr/>
          <p:nvPr/>
        </p:nvSpPr>
        <p:spPr>
          <a:xfrm>
            <a:off x="502920" y="3154680"/>
            <a:ext cx="534924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Key fields in the Options tab</a:t>
            </a:r>
            <a:endParaRPr lang="en-US" sz="1300" dirty="0"/>
          </a:p>
        </p:txBody>
      </p:sp>
      <p:sp>
        <p:nvSpPr>
          <p:cNvPr id="8" name="Shape 6"/>
          <p:cNvSpPr/>
          <p:nvPr/>
        </p:nvSpPr>
        <p:spPr>
          <a:xfrm>
            <a:off x="502920" y="3566160"/>
            <a:ext cx="128016" cy="402336"/>
          </a:xfrm>
          <a:prstGeom prst="roundRect">
            <a:avLst>
              <a:gd name="adj" fmla="val 50000"/>
            </a:avLst>
          </a:prstGeom>
          <a:solidFill>
            <a:srgbClr val="0078D4"/>
          </a:solidFill>
          <a:ln/>
        </p:spPr>
      </p:sp>
      <p:sp>
        <p:nvSpPr>
          <p:cNvPr id="9" name="Text 7"/>
          <p:cNvSpPr/>
          <p:nvPr/>
        </p:nvSpPr>
        <p:spPr>
          <a:xfrm>
            <a:off x="749808" y="3566160"/>
            <a:ext cx="5074920" cy="402336"/>
          </a:xfrm>
          <a:prstGeom prst="rect">
            <a:avLst/>
          </a:prstGeom>
          <a:noFill/>
          <a:ln/>
        </p:spPr>
        <p:txBody>
          <a:bodyPr wrap="square" lIns="0" tIns="0" rIns="0" bIns="0" rtlCol="0" anchor="ctr"/>
          <a:lstStyle/>
          <a:p>
            <a:pPr indent="0" marL="0">
              <a:lnSpc>
                <a:spcPct val="110000"/>
              </a:lnSpc>
              <a:buNone/>
            </a:pPr>
            <a:r>
              <a:rPr lang="en-US" sz="1150" b="1" dirty="0">
                <a:solidFill>
                  <a:srgbClr val="1E2761"/>
                </a:solidFill>
                <a:latin typeface="Calibri" pitchFamily="34" charset="0"/>
                <a:ea typeface="Calibri" pitchFamily="34" charset="-122"/>
                <a:cs typeface="Calibri" pitchFamily="34" charset="-120"/>
              </a:rPr>
              <a:t>Setup source — </a:t>
            </a:r>
            <a:pPr indent="0" marL="0">
              <a:lnSpc>
                <a:spcPct val="110000"/>
              </a:lnSpc>
              <a:buNone/>
            </a:pPr>
            <a:r>
              <a:rPr lang="en-US" sz="1150" dirty="0">
                <a:solidFill>
                  <a:srgbClr val="5F6B7A"/>
                </a:solidFill>
                <a:latin typeface="Calibri" pitchFamily="34" charset="0"/>
                <a:ea typeface="Calibri" pitchFamily="34" charset="-122"/>
                <a:cs typeface="Calibri" pitchFamily="34" charset="-120"/>
              </a:rPr>
              <a:t>UNC path(s) to the media</a:t>
            </a:r>
            <a:endParaRPr lang="en-US" sz="1150" dirty="0"/>
          </a:p>
        </p:txBody>
      </p:sp>
      <p:sp>
        <p:nvSpPr>
          <p:cNvPr id="10" name="Shape 8"/>
          <p:cNvSpPr/>
          <p:nvPr/>
        </p:nvSpPr>
        <p:spPr>
          <a:xfrm>
            <a:off x="502920" y="4023360"/>
            <a:ext cx="128016" cy="402336"/>
          </a:xfrm>
          <a:prstGeom prst="roundRect">
            <a:avLst>
              <a:gd name="adj" fmla="val 50000"/>
            </a:avLst>
          </a:prstGeom>
          <a:solidFill>
            <a:srgbClr val="0078D4"/>
          </a:solidFill>
          <a:ln/>
        </p:spPr>
      </p:sp>
      <p:sp>
        <p:nvSpPr>
          <p:cNvPr id="11" name="Text 9"/>
          <p:cNvSpPr/>
          <p:nvPr/>
        </p:nvSpPr>
        <p:spPr>
          <a:xfrm>
            <a:off x="749808" y="4023360"/>
            <a:ext cx="5074920" cy="402336"/>
          </a:xfrm>
          <a:prstGeom prst="rect">
            <a:avLst/>
          </a:prstGeom>
          <a:noFill/>
          <a:ln/>
        </p:spPr>
        <p:txBody>
          <a:bodyPr wrap="square" lIns="0" tIns="0" rIns="0" bIns="0" rtlCol="0" anchor="ctr"/>
          <a:lstStyle/>
          <a:p>
            <a:pPr indent="0" marL="0">
              <a:lnSpc>
                <a:spcPct val="110000"/>
              </a:lnSpc>
              <a:buNone/>
            </a:pPr>
            <a:r>
              <a:rPr lang="en-US" sz="1150" b="1" dirty="0">
                <a:solidFill>
                  <a:srgbClr val="1E2761"/>
                </a:solidFill>
                <a:latin typeface="Calibri" pitchFamily="34" charset="0"/>
                <a:ea typeface="Calibri" pitchFamily="34" charset="-122"/>
                <a:cs typeface="Calibri" pitchFamily="34" charset="-120"/>
              </a:rPr>
              <a:t>Setup execution mode — </a:t>
            </a:r>
            <a:pPr indent="0" marL="0">
              <a:lnSpc>
                <a:spcPct val="110000"/>
              </a:lnSpc>
              <a:buNone/>
            </a:pPr>
            <a:r>
              <a:rPr lang="en-US" sz="1150" dirty="0">
                <a:solidFill>
                  <a:srgbClr val="5F6B7A"/>
                </a:solidFill>
                <a:latin typeface="Calibri" pitchFamily="34" charset="0"/>
                <a:ea typeface="Calibri" pitchFamily="34" charset="-122"/>
                <a:cs typeface="Calibri" pitchFamily="34" charset="-120"/>
              </a:rPr>
              <a:t>LocalCache (default) / Share / Auto</a:t>
            </a:r>
            <a:endParaRPr lang="en-US" sz="1150" dirty="0"/>
          </a:p>
        </p:txBody>
      </p:sp>
      <p:sp>
        <p:nvSpPr>
          <p:cNvPr id="12" name="Shape 10"/>
          <p:cNvSpPr/>
          <p:nvPr/>
        </p:nvSpPr>
        <p:spPr>
          <a:xfrm>
            <a:off x="502920" y="4480560"/>
            <a:ext cx="128016" cy="402336"/>
          </a:xfrm>
          <a:prstGeom prst="roundRect">
            <a:avLst>
              <a:gd name="adj" fmla="val 50000"/>
            </a:avLst>
          </a:prstGeom>
          <a:solidFill>
            <a:srgbClr val="0078D4"/>
          </a:solidFill>
          <a:ln/>
        </p:spPr>
      </p:sp>
      <p:sp>
        <p:nvSpPr>
          <p:cNvPr id="13" name="Text 11"/>
          <p:cNvSpPr/>
          <p:nvPr/>
        </p:nvSpPr>
        <p:spPr>
          <a:xfrm>
            <a:off x="749808" y="4480560"/>
            <a:ext cx="5074920" cy="402336"/>
          </a:xfrm>
          <a:prstGeom prst="rect">
            <a:avLst/>
          </a:prstGeom>
          <a:noFill/>
          <a:ln/>
        </p:spPr>
        <p:txBody>
          <a:bodyPr wrap="square" lIns="0" tIns="0" rIns="0" bIns="0" rtlCol="0" anchor="ctr"/>
          <a:lstStyle/>
          <a:p>
            <a:pPr indent="0" marL="0">
              <a:lnSpc>
                <a:spcPct val="110000"/>
              </a:lnSpc>
              <a:buNone/>
            </a:pPr>
            <a:r>
              <a:rPr lang="en-US" sz="1150" b="1" dirty="0">
                <a:solidFill>
                  <a:srgbClr val="1E2761"/>
                </a:solidFill>
                <a:latin typeface="Calibri" pitchFamily="34" charset="0"/>
                <a:ea typeface="Calibri" pitchFamily="34" charset="-122"/>
                <a:cs typeface="Calibri" pitchFamily="34" charset="-120"/>
              </a:rPr>
              <a:t>Setup language — </a:t>
            </a:r>
            <a:pPr indent="0" marL="0">
              <a:lnSpc>
                <a:spcPct val="110000"/>
              </a:lnSpc>
              <a:buNone/>
            </a:pPr>
            <a:r>
              <a:rPr lang="en-US" sz="1150" dirty="0">
                <a:solidFill>
                  <a:srgbClr val="5F6B7A"/>
                </a:solidFill>
                <a:latin typeface="Calibri" pitchFamily="34" charset="0"/>
                <a:ea typeface="Calibri" pitchFamily="34" charset="-122"/>
                <a:cs typeface="Calibri" pitchFamily="34" charset="-120"/>
              </a:rPr>
              <a:t>MatchSystem (default) or a specific culture</a:t>
            </a:r>
            <a:endParaRPr lang="en-US" sz="1150" dirty="0"/>
          </a:p>
        </p:txBody>
      </p:sp>
      <p:sp>
        <p:nvSpPr>
          <p:cNvPr id="14" name="Shape 12"/>
          <p:cNvSpPr/>
          <p:nvPr/>
        </p:nvSpPr>
        <p:spPr>
          <a:xfrm>
            <a:off x="502920" y="4937760"/>
            <a:ext cx="128016" cy="402336"/>
          </a:xfrm>
          <a:prstGeom prst="roundRect">
            <a:avLst>
              <a:gd name="adj" fmla="val 50000"/>
            </a:avLst>
          </a:prstGeom>
          <a:solidFill>
            <a:srgbClr val="0078D4"/>
          </a:solidFill>
          <a:ln/>
        </p:spPr>
      </p:sp>
      <p:sp>
        <p:nvSpPr>
          <p:cNvPr id="15" name="Text 13"/>
          <p:cNvSpPr/>
          <p:nvPr/>
        </p:nvSpPr>
        <p:spPr>
          <a:xfrm>
            <a:off x="749808" y="4937760"/>
            <a:ext cx="5074920" cy="402336"/>
          </a:xfrm>
          <a:prstGeom prst="rect">
            <a:avLst/>
          </a:prstGeom>
          <a:noFill/>
          <a:ln/>
        </p:spPr>
        <p:txBody>
          <a:bodyPr wrap="square" lIns="0" tIns="0" rIns="0" bIns="0" rtlCol="0" anchor="ctr"/>
          <a:lstStyle/>
          <a:p>
            <a:pPr indent="0" marL="0">
              <a:lnSpc>
                <a:spcPct val="110000"/>
              </a:lnSpc>
              <a:buNone/>
            </a:pPr>
            <a:r>
              <a:rPr lang="en-US" sz="1150" b="1" dirty="0">
                <a:solidFill>
                  <a:srgbClr val="1E2761"/>
                </a:solidFill>
                <a:latin typeface="Calibri" pitchFamily="34" charset="0"/>
                <a:ea typeface="Calibri" pitchFamily="34" charset="-122"/>
                <a:cs typeface="Calibri" pitchFamily="34" charset="-120"/>
              </a:rPr>
              <a:t>Dynamic update — </a:t>
            </a:r>
            <a:pPr indent="0" marL="0">
              <a:lnSpc>
                <a:spcPct val="110000"/>
              </a:lnSpc>
              <a:buNone/>
            </a:pPr>
            <a:r>
              <a:rPr lang="en-US" sz="1150" dirty="0">
                <a:solidFill>
                  <a:srgbClr val="5F6B7A"/>
                </a:solidFill>
                <a:latin typeface="Calibri" pitchFamily="34" charset="0"/>
                <a:ea typeface="Calibri" pitchFamily="34" charset="-122"/>
                <a:cs typeface="Calibri" pitchFamily="34" charset="-120"/>
              </a:rPr>
              <a:t>Disable (default) / Enable / NoDrivers</a:t>
            </a:r>
            <a:endParaRPr lang="en-US" sz="1150" dirty="0"/>
          </a:p>
        </p:txBody>
      </p:sp>
      <p:sp>
        <p:nvSpPr>
          <p:cNvPr id="16" name="Shape 14"/>
          <p:cNvSpPr/>
          <p:nvPr/>
        </p:nvSpPr>
        <p:spPr>
          <a:xfrm>
            <a:off x="502920" y="5394960"/>
            <a:ext cx="128016" cy="402336"/>
          </a:xfrm>
          <a:prstGeom prst="roundRect">
            <a:avLst>
              <a:gd name="adj" fmla="val 50000"/>
            </a:avLst>
          </a:prstGeom>
          <a:solidFill>
            <a:srgbClr val="0078D4"/>
          </a:solidFill>
          <a:ln/>
        </p:spPr>
      </p:sp>
      <p:sp>
        <p:nvSpPr>
          <p:cNvPr id="17" name="Text 15"/>
          <p:cNvSpPr/>
          <p:nvPr/>
        </p:nvSpPr>
        <p:spPr>
          <a:xfrm>
            <a:off x="749808" y="5394960"/>
            <a:ext cx="5074920" cy="402336"/>
          </a:xfrm>
          <a:prstGeom prst="rect">
            <a:avLst/>
          </a:prstGeom>
          <a:noFill/>
          <a:ln/>
        </p:spPr>
        <p:txBody>
          <a:bodyPr wrap="square" lIns="0" tIns="0" rIns="0" bIns="0" rtlCol="0" anchor="ctr"/>
          <a:lstStyle/>
          <a:p>
            <a:pPr indent="0" marL="0">
              <a:lnSpc>
                <a:spcPct val="110000"/>
              </a:lnSpc>
              <a:buNone/>
            </a:pPr>
            <a:r>
              <a:rPr lang="en-US" sz="1150" b="1" dirty="0">
                <a:solidFill>
                  <a:srgbClr val="1E2761"/>
                </a:solidFill>
                <a:latin typeface="Calibri" pitchFamily="34" charset="0"/>
                <a:ea typeface="Calibri" pitchFamily="34" charset="-122"/>
                <a:cs typeface="Calibri" pitchFamily="34" charset="-120"/>
              </a:rPr>
              <a:t>Timing — </a:t>
            </a:r>
            <a:pPr indent="0" marL="0">
              <a:lnSpc>
                <a:spcPct val="110000"/>
              </a:lnSpc>
              <a:buNone/>
            </a:pPr>
            <a:r>
              <a:rPr lang="en-US" sz="1150" dirty="0">
                <a:solidFill>
                  <a:srgbClr val="5F6B7A"/>
                </a:solidFill>
                <a:latin typeface="Calibri" pitchFamily="34" charset="0"/>
                <a:ea typeface="Calibri" pitchFamily="34" charset="-122"/>
                <a:cs typeface="Calibri" pitchFamily="34" charset="-120"/>
              </a:rPr>
              <a:t>throttle, delay between devices/cycles, PsExec timeout</a:t>
            </a:r>
            <a:endParaRPr lang="en-US" sz="1150" dirty="0"/>
          </a:p>
        </p:txBody>
      </p:sp>
      <p:sp>
        <p:nvSpPr>
          <p:cNvPr id="18" name="Text 16"/>
          <p:cNvSpPr/>
          <p:nvPr/>
        </p:nvSpPr>
        <p:spPr>
          <a:xfrm>
            <a:off x="502920" y="6199632"/>
            <a:ext cx="5486400" cy="219456"/>
          </a:xfrm>
          <a:prstGeom prst="rect">
            <a:avLst/>
          </a:prstGeom>
          <a:noFill/>
          <a:ln/>
        </p:spPr>
        <p:txBody>
          <a:bodyPr wrap="square" lIns="0" tIns="0" rIns="0" bIns="0" rtlCol="0" anchor="ctr"/>
          <a:lstStyle/>
          <a:p>
            <a:pPr indent="0" marL="0">
              <a:buNone/>
            </a:pPr>
            <a:r>
              <a:rPr lang="en-US" sz="950" dirty="0">
                <a:solidFill>
                  <a:srgbClr val="5F6B7A"/>
                </a:solidFill>
                <a:latin typeface="Calibri" pitchFamily="34" charset="0"/>
                <a:ea typeface="Calibri" pitchFamily="34" charset="-122"/>
                <a:cs typeface="Calibri" pitchFamily="34" charset="-120"/>
              </a:rPr>
              <a:t>Full documentation: </a:t>
            </a:r>
            <a:pPr indent="0" marL="0">
              <a:buNone/>
            </a:pPr>
            <a:r>
              <a:rPr lang="en-US" sz="950" u="sng" dirty="0">
                <a:solidFill>
                  <a:srgbClr val="0078D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 README</a:t>
            </a:r>
            <a:endParaRPr lang="en-US" sz="950" dirty="0"/>
          </a:p>
        </p:txBody>
      </p:sp>
      <p:sp>
        <p:nvSpPr>
          <p:cNvPr id="19" name="Shape 17"/>
          <p:cNvSpPr/>
          <p:nvPr/>
        </p:nvSpPr>
        <p:spPr>
          <a:xfrm>
            <a:off x="6126480" y="2057400"/>
            <a:ext cx="5577840" cy="4160520"/>
          </a:xfrm>
          <a:prstGeom prst="roundRect">
            <a:avLst>
              <a:gd name="adj" fmla="val 2198"/>
            </a:avLst>
          </a:prstGeom>
          <a:solidFill>
            <a:srgbClr val="FFFFFF"/>
          </a:solidFill>
          <a:ln w="19050">
            <a:solidFill>
              <a:srgbClr val="DDE7F0"/>
            </a:solidFill>
            <a:prstDash val="solid"/>
          </a:ln>
          <a:effectLst>
            <a:outerShdw sx="100000" sy="100000" kx="0" ky="0" algn="bl" rotWithShape="0" blurRad="101600" dist="38100" dir="5400000">
              <a:srgbClr val="1F2937">
                <a:alpha val="18000"/>
              </a:srgbClr>
            </a:outerShdw>
          </a:effectLst>
        </p:spPr>
      </p:sp>
      <p:sp>
        <p:nvSpPr>
          <p:cNvPr id="20" name="Text 18"/>
          <p:cNvSpPr/>
          <p:nvPr/>
        </p:nvSpPr>
        <p:spPr>
          <a:xfrm>
            <a:off x="6309360" y="2176272"/>
            <a:ext cx="5212080" cy="292608"/>
          </a:xfrm>
          <a:prstGeom prst="rect">
            <a:avLst/>
          </a:prstGeom>
          <a:noFill/>
          <a:ln/>
        </p:spPr>
        <p:txBody>
          <a:bodyPr wrap="square" lIns="0" tIns="0" rIns="0" bIns="0" rtlCol="0" anchor="ctr"/>
          <a:lstStyle/>
          <a:p>
            <a:pPr indent="0" marL="0">
              <a:buNone/>
            </a:pPr>
            <a:r>
              <a:rPr lang="en-US" sz="1050" b="1" dirty="0">
                <a:solidFill>
                  <a:srgbClr val="5F6B7A"/>
                </a:solidFill>
                <a:latin typeface="Calibri" pitchFamily="34" charset="0"/>
                <a:ea typeface="Calibri" pitchFamily="34" charset="-122"/>
                <a:cs typeface="Calibri" pitchFamily="34" charset="-120"/>
              </a:rPr>
              <a:t>GUI — LOT Launcher — 'Options' tab</a:t>
            </a:r>
            <a:endParaRPr lang="en-US" sz="1050" dirty="0"/>
          </a:p>
        </p:txBody>
      </p:sp>
      <p:pic>
        <p:nvPicPr>
          <p:cNvPr id="21" name="Image 0" descr="C:\Users\Khaled\AppData\Local\Temp\claude\C--Users-Khaled-OneDrive-Documents-SmartIntune\c5e67daa-f249-479e-bda8-772632c0f9d4\scratchpad\screens\lot-launcher-options.png">    </p:cNvPr>
          <p:cNvPicPr>
            <a:picLocks noChangeAspect="1"/>
          </p:cNvPicPr>
          <p:nvPr/>
        </p:nvPicPr>
        <p:blipFill>
          <a:blip r:embed="rId2"/>
          <a:stretch>
            <a:fillRect/>
          </a:stretch>
        </p:blipFill>
        <p:spPr>
          <a:xfrm>
            <a:off x="6309360" y="2487168"/>
            <a:ext cx="5212080" cy="3639312"/>
          </a:xfrm>
          <a:prstGeom prst="rect">
            <a:avLst/>
          </a:prstGeom>
        </p:spPr>
      </p:pic>
      <p:sp>
        <p:nvSpPr>
          <p:cNvPr id="22" name="Text 19"/>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SmartM365 Devices — Windows 11 Upgrade Toolkit</a:t>
            </a:r>
            <a:endParaRPr lang="en-US" sz="900" dirty="0"/>
          </a:p>
        </p:txBody>
      </p:sp>
      <p:sp>
        <p:nvSpPr>
          <p:cNvPr id="23" name="Text 20"/>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75488"/>
            <a:ext cx="548640" cy="548640"/>
          </a:xfrm>
          <a:prstGeom prst="ellipse">
            <a:avLst/>
          </a:prstGeom>
          <a:solidFill>
            <a:srgbClr val="0078D4"/>
          </a:solidFill>
          <a:ln/>
        </p:spPr>
      </p:sp>
      <p:sp>
        <p:nvSpPr>
          <p:cNvPr id="3" name="Text 1"/>
          <p:cNvSpPr/>
          <p:nvPr/>
        </p:nvSpPr>
        <p:spPr>
          <a:xfrm>
            <a:off x="502920" y="475488"/>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4" name="Text 2"/>
          <p:cNvSpPr/>
          <p:nvPr/>
        </p:nvSpPr>
        <p:spPr>
          <a:xfrm>
            <a:off x="1188720" y="530352"/>
            <a:ext cx="3657600" cy="457200"/>
          </a:xfrm>
          <a:prstGeom prst="rect">
            <a:avLst/>
          </a:prstGeom>
          <a:noFill/>
          <a:ln/>
        </p:spPr>
        <p:txBody>
          <a:bodyPr wrap="square" lIns="0" tIns="0" rIns="0" bIns="0" rtlCol="0" anchor="ctr"/>
          <a:lstStyle/>
          <a:p>
            <a:pPr indent="0" marL="0">
              <a:buNone/>
            </a:pPr>
            <a:r>
              <a:rPr lang="en-US" sz="1300" b="1" spc="100" kern="0" dirty="0">
                <a:solidFill>
                  <a:srgbClr val="5F6B7A"/>
                </a:solidFill>
                <a:latin typeface="Calibri" pitchFamily="34" charset="0"/>
                <a:ea typeface="Calibri" pitchFamily="34" charset="-122"/>
                <a:cs typeface="Calibri" pitchFamily="34" charset="-120"/>
              </a:rPr>
              <a:t>STEP 3</a:t>
            </a:r>
            <a:endParaRPr lang="en-US" sz="1300" dirty="0"/>
          </a:p>
        </p:txBody>
      </p:sp>
      <p:sp>
        <p:nvSpPr>
          <p:cNvPr id="5" name="Text 3"/>
          <p:cNvSpPr/>
          <p:nvPr/>
        </p:nvSpPr>
        <p:spPr>
          <a:xfrm>
            <a:off x="502920" y="1207008"/>
            <a:ext cx="11185855"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Create a LOT</a:t>
            </a:r>
            <a:endParaRPr lang="en-US" sz="3200" dirty="0"/>
          </a:p>
        </p:txBody>
      </p:sp>
      <p:sp>
        <p:nvSpPr>
          <p:cNvPr id="6" name="Text 4"/>
          <p:cNvSpPr/>
          <p:nvPr/>
        </p:nvSpPr>
        <p:spPr>
          <a:xfrm>
            <a:off x="502920" y="2057400"/>
            <a:ext cx="5349240" cy="777240"/>
          </a:xfrm>
          <a:prstGeom prst="rect">
            <a:avLst/>
          </a:prstGeom>
          <a:noFill/>
          <a:ln/>
        </p:spPr>
        <p:txBody>
          <a:bodyPr wrap="square" lIns="0" tIns="0" rIns="0" bIns="0" rtlCol="0" anchor="ctr"/>
          <a:lstStyle/>
          <a:p>
            <a:pPr indent="0" marL="0">
              <a:lnSpc>
                <a:spcPct val="120000"/>
              </a:lnSpc>
              <a:buNone/>
            </a:pPr>
            <a:r>
              <a:rPr lang="en-US" sz="1300" dirty="0">
                <a:solidFill>
                  <a:srgbClr val="1F2937"/>
                </a:solidFill>
                <a:latin typeface="Calibri" pitchFamily="34" charset="0"/>
                <a:ea typeface="Calibri" pitchFamily="34" charset="-122"/>
                <a:cs typeface="Calibri" pitchFamily="34" charset="-120"/>
              </a:rPr>
              <a:t>A LOT groups the configuration and device list for one campaign. Create it via the GUI (New LOT tab) or manually from Lots\LOT-TEMPLATE.</a:t>
            </a:r>
            <a:endParaRPr lang="en-US" sz="1300" dirty="0"/>
          </a:p>
        </p:txBody>
      </p:sp>
      <p:sp>
        <p:nvSpPr>
          <p:cNvPr id="7" name="Text 5"/>
          <p:cNvSpPr/>
          <p:nvPr/>
        </p:nvSpPr>
        <p:spPr>
          <a:xfrm>
            <a:off x="502920" y="3017520"/>
            <a:ext cx="5349240" cy="457200"/>
          </a:xfrm>
          <a:prstGeom prst="rect">
            <a:avLst/>
          </a:prstGeom>
          <a:noFill/>
          <a:ln/>
        </p:spPr>
        <p:txBody>
          <a:bodyPr wrap="square" lIns="0" tIns="0" rIns="0" bIns="0" rtlCol="0" anchor="ctr"/>
          <a:lstStyle/>
          <a:p>
            <a:pPr marL="342900" indent="-342900">
              <a:lnSpc>
                <a:spcPct val="120000"/>
              </a:lnSpc>
              <a:buSzPct val="100000"/>
              <a:buChar char="•"/>
            </a:pPr>
            <a:r>
              <a:rPr lang="en-US" sz="1250" dirty="0">
                <a:solidFill>
                  <a:srgbClr val="1F2937"/>
                </a:solidFill>
                <a:latin typeface="Calibri" pitchFamily="34" charset="0"/>
                <a:ea typeface="Calibri" pitchFamily="34" charset="-122"/>
                <a:cs typeface="Calibri" pitchFamily="34" charset="-120"/>
              </a:rPr>
              <a:t>'New LOT' tab: enter the LOT name, then 'Create LOT'</a:t>
            </a:r>
            <a:endParaRPr lang="en-US" sz="1250" dirty="0"/>
          </a:p>
        </p:txBody>
      </p:sp>
      <p:sp>
        <p:nvSpPr>
          <p:cNvPr id="8" name="Text 6"/>
          <p:cNvSpPr/>
          <p:nvPr/>
        </p:nvSpPr>
        <p:spPr>
          <a:xfrm>
            <a:off x="502920" y="3520440"/>
            <a:ext cx="5349240" cy="457200"/>
          </a:xfrm>
          <a:prstGeom prst="rect">
            <a:avLst/>
          </a:prstGeom>
          <a:noFill/>
          <a:ln/>
        </p:spPr>
        <p:txBody>
          <a:bodyPr wrap="square" lIns="0" tIns="0" rIns="0" bIns="0" rtlCol="0" anchor="ctr"/>
          <a:lstStyle/>
          <a:p>
            <a:pPr marL="342900" indent="-342900">
              <a:lnSpc>
                <a:spcPct val="120000"/>
              </a:lnSpc>
              <a:buSzPct val="100000"/>
              <a:buChar char="•"/>
            </a:pPr>
            <a:r>
              <a:rPr lang="en-US" sz="1250" dirty="0">
                <a:solidFill>
                  <a:srgbClr val="1F2937"/>
                </a:solidFill>
                <a:latin typeface="Calibri" pitchFamily="34" charset="0"/>
                <a:ea typeface="Calibri" pitchFamily="34" charset="-122"/>
                <a:cs typeface="Calibri" pitchFamily="34" charset="-120"/>
              </a:rPr>
              <a:t>Open Computers.txt and list the target devices (one per line)</a:t>
            </a:r>
            <a:endParaRPr lang="en-US" sz="1250" dirty="0"/>
          </a:p>
        </p:txBody>
      </p:sp>
      <p:sp>
        <p:nvSpPr>
          <p:cNvPr id="9" name="Text 7"/>
          <p:cNvSpPr/>
          <p:nvPr/>
        </p:nvSpPr>
        <p:spPr>
          <a:xfrm>
            <a:off x="502920" y="4023360"/>
            <a:ext cx="5349240" cy="457200"/>
          </a:xfrm>
          <a:prstGeom prst="rect">
            <a:avLst/>
          </a:prstGeom>
          <a:noFill/>
          <a:ln/>
        </p:spPr>
        <p:txBody>
          <a:bodyPr wrap="square" lIns="0" tIns="0" rIns="0" bIns="0" rtlCol="0" anchor="ctr"/>
          <a:lstStyle/>
          <a:p>
            <a:pPr marL="342900" indent="-342900">
              <a:lnSpc>
                <a:spcPct val="120000"/>
              </a:lnSpc>
              <a:buSzPct val="100000"/>
              <a:buChar char="•"/>
            </a:pPr>
            <a:r>
              <a:rPr lang="en-US" sz="1250" dirty="0">
                <a:solidFill>
                  <a:srgbClr val="1F2937"/>
                </a:solidFill>
                <a:latin typeface="Calibri" pitchFamily="34" charset="0"/>
                <a:ea typeface="Calibri" pitchFamily="34" charset="-122"/>
                <a:cs typeface="Calibri" pitchFamily="34" charset="-120"/>
              </a:rPr>
              <a:t>Optional: add AdDomain.txt to restrict the AD export</a:t>
            </a:r>
            <a:endParaRPr lang="en-US" sz="1250" dirty="0"/>
          </a:p>
        </p:txBody>
      </p:sp>
      <p:sp>
        <p:nvSpPr>
          <p:cNvPr id="10" name="Text 8"/>
          <p:cNvSpPr/>
          <p:nvPr/>
        </p:nvSpPr>
        <p:spPr>
          <a:xfrm>
            <a:off x="502920" y="4526280"/>
            <a:ext cx="5349240" cy="457200"/>
          </a:xfrm>
          <a:prstGeom prst="rect">
            <a:avLst/>
          </a:prstGeom>
          <a:noFill/>
          <a:ln/>
        </p:spPr>
        <p:txBody>
          <a:bodyPr wrap="square" lIns="0" tIns="0" rIns="0" bIns="0" rtlCol="0" anchor="ctr"/>
          <a:lstStyle/>
          <a:p>
            <a:pPr marL="342900" indent="-342900">
              <a:lnSpc>
                <a:spcPct val="120000"/>
              </a:lnSpc>
              <a:buSzPct val="100000"/>
              <a:buChar char="•"/>
            </a:pPr>
            <a:r>
              <a:rPr lang="en-US" sz="1250" dirty="0">
                <a:solidFill>
                  <a:srgbClr val="1F2937"/>
                </a:solidFill>
                <a:latin typeface="Calibri" pitchFamily="34" charset="0"/>
                <a:ea typeface="Calibri" pitchFamily="34" charset="-122"/>
                <a:cs typeface="Calibri" pitchFamily="34" charset="-120"/>
              </a:rPr>
              <a:t>Optional: a LOT-local Windows11UpgradeToolkit.config</a:t>
            </a:r>
            <a:endParaRPr lang="en-US" sz="1250" dirty="0"/>
          </a:p>
        </p:txBody>
      </p:sp>
      <p:sp>
        <p:nvSpPr>
          <p:cNvPr id="11" name="Text 9"/>
          <p:cNvSpPr/>
          <p:nvPr/>
        </p:nvSpPr>
        <p:spPr>
          <a:xfrm>
            <a:off x="502920" y="5029200"/>
            <a:ext cx="5349240" cy="457200"/>
          </a:xfrm>
          <a:prstGeom prst="rect">
            <a:avLst/>
          </a:prstGeom>
          <a:noFill/>
          <a:ln/>
        </p:spPr>
        <p:txBody>
          <a:bodyPr wrap="square" lIns="0" tIns="0" rIns="0" bIns="0" rtlCol="0" anchor="ctr"/>
          <a:lstStyle/>
          <a:p>
            <a:pPr marL="342900" indent="-342900">
              <a:lnSpc>
                <a:spcPct val="120000"/>
              </a:lnSpc>
              <a:buSzPct val="100000"/>
              <a:buChar char="•"/>
            </a:pPr>
            <a:r>
              <a:rPr lang="en-US" sz="1250" dirty="0">
                <a:solidFill>
                  <a:srgbClr val="1F2937"/>
                </a:solidFill>
                <a:latin typeface="Calibri" pitchFamily="34" charset="0"/>
                <a:ea typeface="Calibri" pitchFamily="34" charset="-122"/>
                <a:cs typeface="Calibri" pitchFamily="34" charset="-120"/>
              </a:rPr>
              <a:t>'Refresh wrappers' / Update-LotCmdWrappers.cmd if the LOT already existed</a:t>
            </a:r>
            <a:endParaRPr lang="en-US" sz="1250" dirty="0"/>
          </a:p>
        </p:txBody>
      </p:sp>
      <p:sp>
        <p:nvSpPr>
          <p:cNvPr id="12" name="Text 10"/>
          <p:cNvSpPr/>
          <p:nvPr/>
        </p:nvSpPr>
        <p:spPr>
          <a:xfrm>
            <a:off x="502920" y="6199632"/>
            <a:ext cx="5486400" cy="219456"/>
          </a:xfrm>
          <a:prstGeom prst="rect">
            <a:avLst/>
          </a:prstGeom>
          <a:noFill/>
          <a:ln/>
        </p:spPr>
        <p:txBody>
          <a:bodyPr wrap="square" lIns="0" tIns="0" rIns="0" bIns="0" rtlCol="0" anchor="ctr"/>
          <a:lstStyle/>
          <a:p>
            <a:pPr indent="0" marL="0">
              <a:buNone/>
            </a:pPr>
            <a:r>
              <a:rPr lang="en-US" sz="950" dirty="0">
                <a:solidFill>
                  <a:srgbClr val="5F6B7A"/>
                </a:solidFill>
                <a:latin typeface="Calibri" pitchFamily="34" charset="0"/>
                <a:ea typeface="Calibri" pitchFamily="34" charset="-122"/>
                <a:cs typeface="Calibri" pitchFamily="34" charset="-120"/>
              </a:rPr>
              <a:t>Full documentation: </a:t>
            </a:r>
            <a:pPr indent="0" marL="0">
              <a:buNone/>
            </a:pPr>
            <a:r>
              <a:rPr lang="en-US" sz="950" u="sng" dirty="0">
                <a:solidFill>
                  <a:srgbClr val="0078D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 README</a:t>
            </a:r>
            <a:endParaRPr lang="en-US" sz="950" dirty="0"/>
          </a:p>
        </p:txBody>
      </p:sp>
      <p:sp>
        <p:nvSpPr>
          <p:cNvPr id="13" name="Shape 11"/>
          <p:cNvSpPr/>
          <p:nvPr/>
        </p:nvSpPr>
        <p:spPr>
          <a:xfrm>
            <a:off x="6126480" y="2057400"/>
            <a:ext cx="5577840" cy="4160520"/>
          </a:xfrm>
          <a:prstGeom prst="roundRect">
            <a:avLst>
              <a:gd name="adj" fmla="val 2198"/>
            </a:avLst>
          </a:prstGeom>
          <a:solidFill>
            <a:srgbClr val="FFFFFF"/>
          </a:solidFill>
          <a:ln w="19050">
            <a:solidFill>
              <a:srgbClr val="DDE7F0"/>
            </a:solidFill>
            <a:prstDash val="solid"/>
          </a:ln>
          <a:effectLst>
            <a:outerShdw sx="100000" sy="100000" kx="0" ky="0" algn="bl" rotWithShape="0" blurRad="101600" dist="38100" dir="5400000">
              <a:srgbClr val="1F2937">
                <a:alpha val="18000"/>
              </a:srgbClr>
            </a:outerShdw>
          </a:effectLst>
        </p:spPr>
      </p:sp>
      <p:sp>
        <p:nvSpPr>
          <p:cNvPr id="14" name="Text 12"/>
          <p:cNvSpPr/>
          <p:nvPr/>
        </p:nvSpPr>
        <p:spPr>
          <a:xfrm>
            <a:off x="6309360" y="2176272"/>
            <a:ext cx="5212080" cy="292608"/>
          </a:xfrm>
          <a:prstGeom prst="rect">
            <a:avLst/>
          </a:prstGeom>
          <a:noFill/>
          <a:ln/>
        </p:spPr>
        <p:txBody>
          <a:bodyPr wrap="square" lIns="0" tIns="0" rIns="0" bIns="0" rtlCol="0" anchor="ctr"/>
          <a:lstStyle/>
          <a:p>
            <a:pPr indent="0" marL="0">
              <a:buNone/>
            </a:pPr>
            <a:r>
              <a:rPr lang="en-US" sz="1050" b="1" dirty="0">
                <a:solidFill>
                  <a:srgbClr val="5F6B7A"/>
                </a:solidFill>
                <a:latin typeface="Calibri" pitchFamily="34" charset="0"/>
                <a:ea typeface="Calibri" pitchFamily="34" charset="-122"/>
                <a:cs typeface="Calibri" pitchFamily="34" charset="-120"/>
              </a:rPr>
              <a:t>GUI — LOT Launcher — 'New LOT' tab</a:t>
            </a:r>
            <a:endParaRPr lang="en-US" sz="1050" dirty="0"/>
          </a:p>
        </p:txBody>
      </p:sp>
      <p:pic>
        <p:nvPicPr>
          <p:cNvPr id="15" name="Image 0" descr="C:\Users\Khaled\AppData\Local\Temp\claude\C--Users-Khaled-OneDrive-Documents-SmartIntune\c5e67daa-f249-479e-bda8-772632c0f9d4\scratchpad\screens\lot-launcher-newlot-filled.png">    </p:cNvPr>
          <p:cNvPicPr>
            <a:picLocks noChangeAspect="1"/>
          </p:cNvPicPr>
          <p:nvPr/>
        </p:nvPicPr>
        <p:blipFill>
          <a:blip r:embed="rId2"/>
          <a:stretch>
            <a:fillRect/>
          </a:stretch>
        </p:blipFill>
        <p:spPr>
          <a:xfrm>
            <a:off x="6309360" y="2487168"/>
            <a:ext cx="5212080" cy="3639312"/>
          </a:xfrm>
          <a:prstGeom prst="rect">
            <a:avLst/>
          </a:prstGeom>
        </p:spPr>
      </p:pic>
      <p:sp>
        <p:nvSpPr>
          <p:cNvPr id="16" name="Text 13"/>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SmartM365 Devices — Windows 11 Upgrade Toolkit</a:t>
            </a:r>
            <a:endParaRPr lang="en-US" sz="900" dirty="0"/>
          </a:p>
        </p:txBody>
      </p:sp>
      <p:sp>
        <p:nvSpPr>
          <p:cNvPr id="17" name="Text 14"/>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75488"/>
            <a:ext cx="548640" cy="548640"/>
          </a:xfrm>
          <a:prstGeom prst="ellipse">
            <a:avLst/>
          </a:prstGeom>
          <a:solidFill>
            <a:srgbClr val="0078D4"/>
          </a:solidFill>
          <a:ln/>
        </p:spPr>
      </p:sp>
      <p:sp>
        <p:nvSpPr>
          <p:cNvPr id="3" name="Text 1"/>
          <p:cNvSpPr/>
          <p:nvPr/>
        </p:nvSpPr>
        <p:spPr>
          <a:xfrm>
            <a:off x="502920" y="475488"/>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4" name="Text 2"/>
          <p:cNvSpPr/>
          <p:nvPr/>
        </p:nvSpPr>
        <p:spPr>
          <a:xfrm>
            <a:off x="1188720" y="530352"/>
            <a:ext cx="3657600" cy="457200"/>
          </a:xfrm>
          <a:prstGeom prst="rect">
            <a:avLst/>
          </a:prstGeom>
          <a:noFill/>
          <a:ln/>
        </p:spPr>
        <p:txBody>
          <a:bodyPr wrap="square" lIns="0" tIns="0" rIns="0" bIns="0" rtlCol="0" anchor="ctr"/>
          <a:lstStyle/>
          <a:p>
            <a:pPr indent="0" marL="0">
              <a:buNone/>
            </a:pPr>
            <a:r>
              <a:rPr lang="en-US" sz="1300" b="1" spc="100" kern="0" dirty="0">
                <a:solidFill>
                  <a:srgbClr val="5F6B7A"/>
                </a:solidFill>
                <a:latin typeface="Calibri" pitchFamily="34" charset="0"/>
                <a:ea typeface="Calibri" pitchFamily="34" charset="-122"/>
                <a:cs typeface="Calibri" pitchFamily="34" charset="-120"/>
              </a:rPr>
              <a:t>STEP 4</a:t>
            </a:r>
            <a:endParaRPr lang="en-US" sz="1300" dirty="0"/>
          </a:p>
        </p:txBody>
      </p:sp>
      <p:sp>
        <p:nvSpPr>
          <p:cNvPr id="5" name="Text 3"/>
          <p:cNvSpPr/>
          <p:nvPr/>
        </p:nvSpPr>
        <p:spPr>
          <a:xfrm>
            <a:off x="502920" y="1207008"/>
            <a:ext cx="11185855"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Options and guardrails</a:t>
            </a:r>
            <a:endParaRPr lang="en-US" sz="3200" dirty="0"/>
          </a:p>
        </p:txBody>
      </p:sp>
      <p:sp>
        <p:nvSpPr>
          <p:cNvPr id="6" name="Text 4"/>
          <p:cNvSpPr/>
          <p:nvPr/>
        </p:nvSpPr>
        <p:spPr>
          <a:xfrm>
            <a:off x="502920" y="2057400"/>
            <a:ext cx="11155680" cy="502920"/>
          </a:xfrm>
          <a:prstGeom prst="rect">
            <a:avLst/>
          </a:prstGeom>
          <a:noFill/>
          <a:ln/>
        </p:spPr>
        <p:txBody>
          <a:bodyPr wrap="square" lIns="0" tIns="0" rIns="0" bIns="0" rtlCol="0" anchor="ctr"/>
          <a:lstStyle/>
          <a:p>
            <a:pPr indent="0" marL="0">
              <a:lnSpc>
                <a:spcPct val="115000"/>
              </a:lnSpc>
              <a:buNone/>
            </a:pPr>
            <a:r>
              <a:rPr lang="en-US" sz="1250" dirty="0">
                <a:solidFill>
                  <a:srgbClr val="1F2937"/>
                </a:solidFill>
                <a:latin typeface="Calibri" pitchFamily="34" charset="0"/>
                <a:ea typeface="Calibri" pitchFamily="34" charset="-122"/>
                <a:cs typeface="Calibri" pitchFamily="34" charset="-120"/>
              </a:rPr>
              <a:t>The endpoint script is diagnostic-only unless -Allow* switches are explicitly enabled. LOT wrappers are action-ready by default; direct PowerShell calls stay disabled by default.</a:t>
            </a:r>
            <a:endParaRPr lang="en-US" sz="1250" dirty="0"/>
          </a:p>
        </p:txBody>
      </p:sp>
      <p:sp>
        <p:nvSpPr>
          <p:cNvPr id="7" name="Shape 5"/>
          <p:cNvSpPr/>
          <p:nvPr/>
        </p:nvSpPr>
        <p:spPr>
          <a:xfrm>
            <a:off x="502920" y="2651760"/>
            <a:ext cx="5532120" cy="576072"/>
          </a:xfrm>
          <a:prstGeom prst="roundRect">
            <a:avLst>
              <a:gd name="adj" fmla="val 9524"/>
            </a:avLst>
          </a:prstGeom>
          <a:solidFill>
            <a:srgbClr val="F5F8FB"/>
          </a:solidFill>
          <a:ln w="12700">
            <a:solidFill>
              <a:srgbClr val="DDE7F0"/>
            </a:solidFill>
            <a:prstDash val="solid"/>
          </a:ln>
        </p:spPr>
      </p:sp>
      <p:sp>
        <p:nvSpPr>
          <p:cNvPr id="8" name="Text 6"/>
          <p:cNvSpPr/>
          <p:nvPr/>
        </p:nvSpPr>
        <p:spPr>
          <a:xfrm>
            <a:off x="667512" y="2706624"/>
            <a:ext cx="5202936" cy="256032"/>
          </a:xfrm>
          <a:prstGeom prst="rect">
            <a:avLst/>
          </a:prstGeom>
          <a:noFill/>
          <a:ln/>
        </p:spPr>
        <p:txBody>
          <a:bodyPr wrap="square" lIns="0" tIns="0" rIns="0" bIns="0" rtlCol="0" anchor="ctr"/>
          <a:lstStyle/>
          <a:p>
            <a:pPr indent="0" marL="0">
              <a:buNone/>
            </a:pPr>
            <a:r>
              <a:rPr lang="en-US" sz="1150" b="1" dirty="0">
                <a:solidFill>
                  <a:srgbClr val="0078D4"/>
                </a:solidFill>
                <a:latin typeface="Consolas" pitchFamily="34" charset="0"/>
                <a:ea typeface="Consolas" pitchFamily="34" charset="-122"/>
                <a:cs typeface="Consolas" pitchFamily="34" charset="-120"/>
              </a:rPr>
              <a:t>-AllowPolicyRepair</a:t>
            </a:r>
            <a:endParaRPr lang="en-US" sz="1150" dirty="0"/>
          </a:p>
        </p:txBody>
      </p:sp>
      <p:sp>
        <p:nvSpPr>
          <p:cNvPr id="9" name="Text 7"/>
          <p:cNvSpPr/>
          <p:nvPr/>
        </p:nvSpPr>
        <p:spPr>
          <a:xfrm>
            <a:off x="667512" y="2944368"/>
            <a:ext cx="5202936" cy="256032"/>
          </a:xfrm>
          <a:prstGeom prst="rect">
            <a:avLst/>
          </a:prstGeom>
          <a:noFill/>
          <a:ln/>
        </p:spPr>
        <p:txBody>
          <a:bodyPr wrap="square" lIns="0" tIns="0" rIns="0" bIns="0" rtlCol="0" anchor="ctr"/>
          <a:lstStyle/>
          <a:p>
            <a:pPr indent="0" marL="0">
              <a:buNone/>
            </a:pPr>
            <a:r>
              <a:rPr lang="en-US" sz="980" dirty="0">
                <a:solidFill>
                  <a:srgbClr val="5F6B7A"/>
                </a:solidFill>
                <a:latin typeface="Calibri" pitchFamily="34" charset="0"/>
                <a:ea typeface="Calibri" pitchFamily="34" charset="-122"/>
                <a:cs typeface="Calibri" pitchFamily="34" charset="-120"/>
              </a:rPr>
              <a:t>Removes known legacy WU blockers (WSUS, UseWUServer, NoAutoUpdate, TargetReleaseVersion).</a:t>
            </a:r>
            <a:endParaRPr lang="en-US" sz="980" dirty="0"/>
          </a:p>
        </p:txBody>
      </p:sp>
      <p:sp>
        <p:nvSpPr>
          <p:cNvPr id="10" name="Shape 8"/>
          <p:cNvSpPr/>
          <p:nvPr/>
        </p:nvSpPr>
        <p:spPr>
          <a:xfrm>
            <a:off x="6172200" y="2651760"/>
            <a:ext cx="5532120" cy="576072"/>
          </a:xfrm>
          <a:prstGeom prst="roundRect">
            <a:avLst>
              <a:gd name="adj" fmla="val 9524"/>
            </a:avLst>
          </a:prstGeom>
          <a:solidFill>
            <a:srgbClr val="F5F8FB"/>
          </a:solidFill>
          <a:ln w="12700">
            <a:solidFill>
              <a:srgbClr val="DDE7F0"/>
            </a:solidFill>
            <a:prstDash val="solid"/>
          </a:ln>
        </p:spPr>
      </p:sp>
      <p:sp>
        <p:nvSpPr>
          <p:cNvPr id="11" name="Text 9"/>
          <p:cNvSpPr/>
          <p:nvPr/>
        </p:nvSpPr>
        <p:spPr>
          <a:xfrm>
            <a:off x="6336792" y="2706624"/>
            <a:ext cx="5202936" cy="256032"/>
          </a:xfrm>
          <a:prstGeom prst="rect">
            <a:avLst/>
          </a:prstGeom>
          <a:noFill/>
          <a:ln/>
        </p:spPr>
        <p:txBody>
          <a:bodyPr wrap="square" lIns="0" tIns="0" rIns="0" bIns="0" rtlCol="0" anchor="ctr"/>
          <a:lstStyle/>
          <a:p>
            <a:pPr indent="0" marL="0">
              <a:buNone/>
            </a:pPr>
            <a:r>
              <a:rPr lang="en-US" sz="1150" b="1" dirty="0">
                <a:solidFill>
                  <a:srgbClr val="0078D4"/>
                </a:solidFill>
                <a:latin typeface="Consolas" pitchFamily="34" charset="0"/>
                <a:ea typeface="Consolas" pitchFamily="34" charset="-122"/>
                <a:cs typeface="Consolas" pitchFamily="34" charset="-120"/>
              </a:rPr>
              <a:t>-AllowWUReset</a:t>
            </a:r>
            <a:endParaRPr lang="en-US" sz="1150" dirty="0"/>
          </a:p>
        </p:txBody>
      </p:sp>
      <p:sp>
        <p:nvSpPr>
          <p:cNvPr id="12" name="Text 10"/>
          <p:cNvSpPr/>
          <p:nvPr/>
        </p:nvSpPr>
        <p:spPr>
          <a:xfrm>
            <a:off x="6336792" y="2944368"/>
            <a:ext cx="5202936" cy="256032"/>
          </a:xfrm>
          <a:prstGeom prst="rect">
            <a:avLst/>
          </a:prstGeom>
          <a:noFill/>
          <a:ln/>
        </p:spPr>
        <p:txBody>
          <a:bodyPr wrap="square" lIns="0" tIns="0" rIns="0" bIns="0" rtlCol="0" anchor="ctr"/>
          <a:lstStyle/>
          <a:p>
            <a:pPr indent="0" marL="0">
              <a:buNone/>
            </a:pPr>
            <a:r>
              <a:rPr lang="en-US" sz="980" dirty="0">
                <a:solidFill>
                  <a:srgbClr val="5F6B7A"/>
                </a:solidFill>
                <a:latin typeface="Calibri" pitchFamily="34" charset="0"/>
                <a:ea typeface="Calibri" pitchFamily="34" charset="-122"/>
                <a:cs typeface="Calibri" pitchFamily="34" charset="-120"/>
              </a:rPr>
              <a:t>Resets the Windows Update cache and services.</a:t>
            </a:r>
            <a:endParaRPr lang="en-US" sz="980" dirty="0"/>
          </a:p>
        </p:txBody>
      </p:sp>
      <p:sp>
        <p:nvSpPr>
          <p:cNvPr id="13" name="Shape 11"/>
          <p:cNvSpPr/>
          <p:nvPr/>
        </p:nvSpPr>
        <p:spPr>
          <a:xfrm>
            <a:off x="502920" y="3319272"/>
            <a:ext cx="5532120" cy="576072"/>
          </a:xfrm>
          <a:prstGeom prst="roundRect">
            <a:avLst>
              <a:gd name="adj" fmla="val 9524"/>
            </a:avLst>
          </a:prstGeom>
          <a:solidFill>
            <a:srgbClr val="F5F8FB"/>
          </a:solidFill>
          <a:ln w="12700">
            <a:solidFill>
              <a:srgbClr val="DDE7F0"/>
            </a:solidFill>
            <a:prstDash val="solid"/>
          </a:ln>
        </p:spPr>
      </p:sp>
      <p:sp>
        <p:nvSpPr>
          <p:cNvPr id="14" name="Text 12"/>
          <p:cNvSpPr/>
          <p:nvPr/>
        </p:nvSpPr>
        <p:spPr>
          <a:xfrm>
            <a:off x="667512" y="3374136"/>
            <a:ext cx="5202936" cy="256032"/>
          </a:xfrm>
          <a:prstGeom prst="rect">
            <a:avLst/>
          </a:prstGeom>
          <a:noFill/>
          <a:ln/>
        </p:spPr>
        <p:txBody>
          <a:bodyPr wrap="square" lIns="0" tIns="0" rIns="0" bIns="0" rtlCol="0" anchor="ctr"/>
          <a:lstStyle/>
          <a:p>
            <a:pPr indent="0" marL="0">
              <a:buNone/>
            </a:pPr>
            <a:r>
              <a:rPr lang="en-US" sz="1150" b="1" dirty="0">
                <a:solidFill>
                  <a:srgbClr val="0078D4"/>
                </a:solidFill>
                <a:latin typeface="Consolas" pitchFamily="34" charset="0"/>
                <a:ea typeface="Consolas" pitchFamily="34" charset="-122"/>
                <a:cs typeface="Consolas" pitchFamily="34" charset="-120"/>
              </a:rPr>
              <a:t>-AllowForceUpgrade</a:t>
            </a:r>
            <a:endParaRPr lang="en-US" sz="1150" dirty="0"/>
          </a:p>
        </p:txBody>
      </p:sp>
      <p:sp>
        <p:nvSpPr>
          <p:cNvPr id="15" name="Text 13"/>
          <p:cNvSpPr/>
          <p:nvPr/>
        </p:nvSpPr>
        <p:spPr>
          <a:xfrm>
            <a:off x="667512" y="3611880"/>
            <a:ext cx="5202936" cy="256032"/>
          </a:xfrm>
          <a:prstGeom prst="rect">
            <a:avLst/>
          </a:prstGeom>
          <a:noFill/>
          <a:ln/>
        </p:spPr>
        <p:txBody>
          <a:bodyPr wrap="square" lIns="0" tIns="0" rIns="0" bIns="0" rtlCol="0" anchor="ctr"/>
          <a:lstStyle/>
          <a:p>
            <a:pPr indent="0" marL="0">
              <a:buNone/>
            </a:pPr>
            <a:r>
              <a:rPr lang="en-US" sz="980" dirty="0">
                <a:solidFill>
                  <a:srgbClr val="5F6B7A"/>
                </a:solidFill>
                <a:latin typeface="Calibri" pitchFamily="34" charset="0"/>
                <a:ea typeface="Calibri" pitchFamily="34" charset="-122"/>
                <a:cs typeface="Calibri" pitchFamily="34" charset="-120"/>
              </a:rPr>
              <a:t>Triggers scan/download/install through the Windows Update APIs and UsoClient.</a:t>
            </a:r>
            <a:endParaRPr lang="en-US" sz="980" dirty="0"/>
          </a:p>
        </p:txBody>
      </p:sp>
      <p:sp>
        <p:nvSpPr>
          <p:cNvPr id="16" name="Shape 14"/>
          <p:cNvSpPr/>
          <p:nvPr/>
        </p:nvSpPr>
        <p:spPr>
          <a:xfrm>
            <a:off x="6172200" y="3319272"/>
            <a:ext cx="5532120" cy="576072"/>
          </a:xfrm>
          <a:prstGeom prst="roundRect">
            <a:avLst>
              <a:gd name="adj" fmla="val 9524"/>
            </a:avLst>
          </a:prstGeom>
          <a:solidFill>
            <a:srgbClr val="F5F8FB"/>
          </a:solidFill>
          <a:ln w="12700">
            <a:solidFill>
              <a:srgbClr val="DDE7F0"/>
            </a:solidFill>
            <a:prstDash val="solid"/>
          </a:ln>
        </p:spPr>
      </p:sp>
      <p:sp>
        <p:nvSpPr>
          <p:cNvPr id="17" name="Text 15"/>
          <p:cNvSpPr/>
          <p:nvPr/>
        </p:nvSpPr>
        <p:spPr>
          <a:xfrm>
            <a:off x="6336792" y="3374136"/>
            <a:ext cx="5202936" cy="256032"/>
          </a:xfrm>
          <a:prstGeom prst="rect">
            <a:avLst/>
          </a:prstGeom>
          <a:noFill/>
          <a:ln/>
        </p:spPr>
        <p:txBody>
          <a:bodyPr wrap="square" lIns="0" tIns="0" rIns="0" bIns="0" rtlCol="0" anchor="ctr"/>
          <a:lstStyle/>
          <a:p>
            <a:pPr indent="0" marL="0">
              <a:buNone/>
            </a:pPr>
            <a:r>
              <a:rPr lang="en-US" sz="1150" b="1" dirty="0">
                <a:solidFill>
                  <a:srgbClr val="0078D4"/>
                </a:solidFill>
                <a:latin typeface="Consolas" pitchFamily="34" charset="0"/>
                <a:ea typeface="Consolas" pitchFamily="34" charset="-122"/>
                <a:cs typeface="Consolas" pitchFamily="34" charset="-120"/>
              </a:rPr>
              <a:t>-AllowSetupUpgrade</a:t>
            </a:r>
            <a:endParaRPr lang="en-US" sz="1150" dirty="0"/>
          </a:p>
        </p:txBody>
      </p:sp>
      <p:sp>
        <p:nvSpPr>
          <p:cNvPr id="18" name="Text 16"/>
          <p:cNvSpPr/>
          <p:nvPr/>
        </p:nvSpPr>
        <p:spPr>
          <a:xfrm>
            <a:off x="6336792" y="3611880"/>
            <a:ext cx="5202936" cy="256032"/>
          </a:xfrm>
          <a:prstGeom prst="rect">
            <a:avLst/>
          </a:prstGeom>
          <a:noFill/>
          <a:ln/>
        </p:spPr>
        <p:txBody>
          <a:bodyPr wrap="square" lIns="0" tIns="0" rIns="0" bIns="0" rtlCol="0" anchor="ctr"/>
          <a:lstStyle/>
          <a:p>
            <a:pPr indent="0" marL="0">
              <a:buNone/>
            </a:pPr>
            <a:r>
              <a:rPr lang="en-US" sz="980" dirty="0">
                <a:solidFill>
                  <a:srgbClr val="5F6B7A"/>
                </a:solidFill>
                <a:latin typeface="Calibri" pitchFamily="34" charset="0"/>
                <a:ea typeface="Calibri" pitchFamily="34" charset="-122"/>
                <a:cs typeface="Calibri" pitchFamily="34" charset="-120"/>
              </a:rPr>
              <a:t>Starts the Windows Setup upgrade after media and readiness checks pass.</a:t>
            </a:r>
            <a:endParaRPr lang="en-US" sz="980" dirty="0"/>
          </a:p>
        </p:txBody>
      </p:sp>
      <p:sp>
        <p:nvSpPr>
          <p:cNvPr id="19" name="Shape 17"/>
          <p:cNvSpPr/>
          <p:nvPr/>
        </p:nvSpPr>
        <p:spPr>
          <a:xfrm>
            <a:off x="502920" y="3986784"/>
            <a:ext cx="5532120" cy="576072"/>
          </a:xfrm>
          <a:prstGeom prst="roundRect">
            <a:avLst>
              <a:gd name="adj" fmla="val 9524"/>
            </a:avLst>
          </a:prstGeom>
          <a:solidFill>
            <a:srgbClr val="F5F8FB"/>
          </a:solidFill>
          <a:ln w="12700">
            <a:solidFill>
              <a:srgbClr val="DDE7F0"/>
            </a:solidFill>
            <a:prstDash val="solid"/>
          </a:ln>
        </p:spPr>
      </p:sp>
      <p:sp>
        <p:nvSpPr>
          <p:cNvPr id="20" name="Text 18"/>
          <p:cNvSpPr/>
          <p:nvPr/>
        </p:nvSpPr>
        <p:spPr>
          <a:xfrm>
            <a:off x="667512" y="4041648"/>
            <a:ext cx="5202936" cy="256032"/>
          </a:xfrm>
          <a:prstGeom prst="rect">
            <a:avLst/>
          </a:prstGeom>
          <a:noFill/>
          <a:ln/>
        </p:spPr>
        <p:txBody>
          <a:bodyPr wrap="square" lIns="0" tIns="0" rIns="0" bIns="0" rtlCol="0" anchor="ctr"/>
          <a:lstStyle/>
          <a:p>
            <a:pPr indent="0" marL="0">
              <a:buNone/>
            </a:pPr>
            <a:r>
              <a:rPr lang="en-US" sz="1150" b="1" dirty="0">
                <a:solidFill>
                  <a:srgbClr val="0078D4"/>
                </a:solidFill>
                <a:latin typeface="Consolas" pitchFamily="34" charset="0"/>
                <a:ea typeface="Consolas" pitchFamily="34" charset="-122"/>
                <a:cs typeface="Consolas" pitchFamily="34" charset="-120"/>
              </a:rPr>
              <a:t>-AllowReboot</a:t>
            </a:r>
            <a:endParaRPr lang="en-US" sz="1150" dirty="0"/>
          </a:p>
        </p:txBody>
      </p:sp>
      <p:sp>
        <p:nvSpPr>
          <p:cNvPr id="21" name="Text 19"/>
          <p:cNvSpPr/>
          <p:nvPr/>
        </p:nvSpPr>
        <p:spPr>
          <a:xfrm>
            <a:off x="667512" y="4279392"/>
            <a:ext cx="5202936" cy="256032"/>
          </a:xfrm>
          <a:prstGeom prst="rect">
            <a:avLst/>
          </a:prstGeom>
          <a:noFill/>
          <a:ln/>
        </p:spPr>
        <p:txBody>
          <a:bodyPr wrap="square" lIns="0" tIns="0" rIns="0" bIns="0" rtlCol="0" anchor="ctr"/>
          <a:lstStyle/>
          <a:p>
            <a:pPr indent="0" marL="0">
              <a:buNone/>
            </a:pPr>
            <a:r>
              <a:rPr lang="en-US" sz="980" dirty="0">
                <a:solidFill>
                  <a:srgbClr val="5F6B7A"/>
                </a:solidFill>
                <a:latin typeface="Calibri" pitchFamily="34" charset="0"/>
                <a:ea typeface="Calibri" pitchFamily="34" charset="-122"/>
                <a:cs typeface="Calibri" pitchFamily="34" charset="-120"/>
              </a:rPr>
              <a:t>Permits a controlled reboot when a pending reboot blocks progress.</a:t>
            </a:r>
            <a:endParaRPr lang="en-US" sz="980" dirty="0"/>
          </a:p>
        </p:txBody>
      </p:sp>
      <p:sp>
        <p:nvSpPr>
          <p:cNvPr id="22" name="Shape 20"/>
          <p:cNvSpPr/>
          <p:nvPr/>
        </p:nvSpPr>
        <p:spPr>
          <a:xfrm>
            <a:off x="6172200" y="3986784"/>
            <a:ext cx="5532120" cy="576072"/>
          </a:xfrm>
          <a:prstGeom prst="roundRect">
            <a:avLst>
              <a:gd name="adj" fmla="val 9524"/>
            </a:avLst>
          </a:prstGeom>
          <a:solidFill>
            <a:srgbClr val="F5F8FB"/>
          </a:solidFill>
          <a:ln w="12700">
            <a:solidFill>
              <a:srgbClr val="DDE7F0"/>
            </a:solidFill>
            <a:prstDash val="solid"/>
          </a:ln>
        </p:spPr>
      </p:sp>
      <p:sp>
        <p:nvSpPr>
          <p:cNvPr id="23" name="Text 21"/>
          <p:cNvSpPr/>
          <p:nvPr/>
        </p:nvSpPr>
        <p:spPr>
          <a:xfrm>
            <a:off x="6336792" y="4041648"/>
            <a:ext cx="5202936" cy="256032"/>
          </a:xfrm>
          <a:prstGeom prst="rect">
            <a:avLst/>
          </a:prstGeom>
          <a:noFill/>
          <a:ln/>
        </p:spPr>
        <p:txBody>
          <a:bodyPr wrap="square" lIns="0" tIns="0" rIns="0" bIns="0" rtlCol="0" anchor="ctr"/>
          <a:lstStyle/>
          <a:p>
            <a:pPr indent="0" marL="0">
              <a:buNone/>
            </a:pPr>
            <a:r>
              <a:rPr lang="en-US" sz="1150" b="1" dirty="0">
                <a:solidFill>
                  <a:srgbClr val="0078D4"/>
                </a:solidFill>
                <a:latin typeface="Consolas" pitchFamily="34" charset="0"/>
                <a:ea typeface="Consolas" pitchFamily="34" charset="-122"/>
                <a:cs typeface="Consolas" pitchFamily="34" charset="-120"/>
              </a:rPr>
              <a:t>-AllowDiskCleanup</a:t>
            </a:r>
            <a:endParaRPr lang="en-US" sz="1150" dirty="0"/>
          </a:p>
        </p:txBody>
      </p:sp>
      <p:sp>
        <p:nvSpPr>
          <p:cNvPr id="24" name="Text 22"/>
          <p:cNvSpPr/>
          <p:nvPr/>
        </p:nvSpPr>
        <p:spPr>
          <a:xfrm>
            <a:off x="6336792" y="4279392"/>
            <a:ext cx="5202936" cy="256032"/>
          </a:xfrm>
          <a:prstGeom prst="rect">
            <a:avLst/>
          </a:prstGeom>
          <a:noFill/>
          <a:ln/>
        </p:spPr>
        <p:txBody>
          <a:bodyPr wrap="square" lIns="0" tIns="0" rIns="0" bIns="0" rtlCol="0" anchor="ctr"/>
          <a:lstStyle/>
          <a:p>
            <a:pPr indent="0" marL="0">
              <a:buNone/>
            </a:pPr>
            <a:r>
              <a:rPr lang="en-US" sz="980" dirty="0">
                <a:solidFill>
                  <a:srgbClr val="5F6B7A"/>
                </a:solidFill>
                <a:latin typeface="Calibri" pitchFamily="34" charset="0"/>
                <a:ea typeface="Calibri" pitchFamily="34" charset="-122"/>
                <a:cs typeface="Calibri" pitchFamily="34" charset="-120"/>
              </a:rPr>
              <a:t>Safe cleanup (rebuildable caches, old logs) when free disk space is insufficient.</a:t>
            </a:r>
            <a:endParaRPr lang="en-US" sz="980" dirty="0"/>
          </a:p>
        </p:txBody>
      </p:sp>
      <p:sp>
        <p:nvSpPr>
          <p:cNvPr id="25" name="Shape 23"/>
          <p:cNvSpPr/>
          <p:nvPr/>
        </p:nvSpPr>
        <p:spPr>
          <a:xfrm>
            <a:off x="502920" y="4654296"/>
            <a:ext cx="5532120" cy="576072"/>
          </a:xfrm>
          <a:prstGeom prst="roundRect">
            <a:avLst>
              <a:gd name="adj" fmla="val 9524"/>
            </a:avLst>
          </a:prstGeom>
          <a:solidFill>
            <a:srgbClr val="F5F8FB"/>
          </a:solidFill>
          <a:ln w="12700">
            <a:solidFill>
              <a:srgbClr val="DDE7F0"/>
            </a:solidFill>
            <a:prstDash val="solid"/>
          </a:ln>
        </p:spPr>
      </p:sp>
      <p:sp>
        <p:nvSpPr>
          <p:cNvPr id="26" name="Text 24"/>
          <p:cNvSpPr/>
          <p:nvPr/>
        </p:nvSpPr>
        <p:spPr>
          <a:xfrm>
            <a:off x="667512" y="4709160"/>
            <a:ext cx="5202936" cy="256032"/>
          </a:xfrm>
          <a:prstGeom prst="rect">
            <a:avLst/>
          </a:prstGeom>
          <a:noFill/>
          <a:ln/>
        </p:spPr>
        <p:txBody>
          <a:bodyPr wrap="square" lIns="0" tIns="0" rIns="0" bIns="0" rtlCol="0" anchor="ctr"/>
          <a:lstStyle/>
          <a:p>
            <a:pPr indent="0" marL="0">
              <a:buNone/>
            </a:pPr>
            <a:r>
              <a:rPr lang="en-US" sz="1150" b="1" dirty="0">
                <a:solidFill>
                  <a:srgbClr val="0078D4"/>
                </a:solidFill>
                <a:latin typeface="Consolas" pitchFamily="34" charset="0"/>
                <a:ea typeface="Consolas" pitchFamily="34" charset="-122"/>
                <a:cs typeface="Consolas" pitchFamily="34" charset="-120"/>
              </a:rPr>
              <a:t>-AuditOnly</a:t>
            </a:r>
            <a:endParaRPr lang="en-US" sz="1150" dirty="0"/>
          </a:p>
        </p:txBody>
      </p:sp>
      <p:sp>
        <p:nvSpPr>
          <p:cNvPr id="27" name="Text 25"/>
          <p:cNvSpPr/>
          <p:nvPr/>
        </p:nvSpPr>
        <p:spPr>
          <a:xfrm>
            <a:off x="667512" y="4946904"/>
            <a:ext cx="5202936" cy="256032"/>
          </a:xfrm>
          <a:prstGeom prst="rect">
            <a:avLst/>
          </a:prstGeom>
          <a:noFill/>
          <a:ln/>
        </p:spPr>
        <p:txBody>
          <a:bodyPr wrap="square" lIns="0" tIns="0" rIns="0" bIns="0" rtlCol="0" anchor="ctr"/>
          <a:lstStyle/>
          <a:p>
            <a:pPr indent="0" marL="0">
              <a:buNone/>
            </a:pPr>
            <a:r>
              <a:rPr lang="en-US" sz="980" dirty="0">
                <a:solidFill>
                  <a:srgbClr val="5F6B7A"/>
                </a:solidFill>
                <a:latin typeface="Calibri" pitchFamily="34" charset="0"/>
                <a:ea typeface="Calibri" pitchFamily="34" charset="-122"/>
                <a:cs typeface="Calibri" pitchFamily="34" charset="-120"/>
              </a:rPr>
              <a:t>Reports what would be done, without running repair or upgrade actions.</a:t>
            </a:r>
            <a:endParaRPr lang="en-US" sz="980" dirty="0"/>
          </a:p>
        </p:txBody>
      </p:sp>
      <p:sp>
        <p:nvSpPr>
          <p:cNvPr id="28" name="Text 26"/>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SmartM365 Devices — Windows 11 Upgrade Toolkit</a:t>
            </a:r>
            <a:endParaRPr lang="en-US" sz="900" dirty="0"/>
          </a:p>
        </p:txBody>
      </p:sp>
      <p:sp>
        <p:nvSpPr>
          <p:cNvPr id="29" name="Text 2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75488"/>
            <a:ext cx="548640" cy="548640"/>
          </a:xfrm>
          <a:prstGeom prst="ellipse">
            <a:avLst/>
          </a:prstGeom>
          <a:solidFill>
            <a:srgbClr val="0078D4"/>
          </a:solidFill>
          <a:ln/>
        </p:spPr>
      </p:sp>
      <p:sp>
        <p:nvSpPr>
          <p:cNvPr id="3" name="Text 1"/>
          <p:cNvSpPr/>
          <p:nvPr/>
        </p:nvSpPr>
        <p:spPr>
          <a:xfrm>
            <a:off x="502920" y="475488"/>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4" name="Text 2"/>
          <p:cNvSpPr/>
          <p:nvPr/>
        </p:nvSpPr>
        <p:spPr>
          <a:xfrm>
            <a:off x="1188720" y="530352"/>
            <a:ext cx="3657600" cy="457200"/>
          </a:xfrm>
          <a:prstGeom prst="rect">
            <a:avLst/>
          </a:prstGeom>
          <a:noFill/>
          <a:ln/>
        </p:spPr>
        <p:txBody>
          <a:bodyPr wrap="square" lIns="0" tIns="0" rIns="0" bIns="0" rtlCol="0" anchor="ctr"/>
          <a:lstStyle/>
          <a:p>
            <a:pPr indent="0" marL="0">
              <a:buNone/>
            </a:pPr>
            <a:r>
              <a:rPr lang="en-US" sz="1300" b="1" spc="100" kern="0" dirty="0">
                <a:solidFill>
                  <a:srgbClr val="5F6B7A"/>
                </a:solidFill>
                <a:latin typeface="Calibri" pitchFamily="34" charset="0"/>
                <a:ea typeface="Calibri" pitchFamily="34" charset="-122"/>
                <a:cs typeface="Calibri" pitchFamily="34" charset="-120"/>
              </a:rPr>
              <a:t>STEP 5</a:t>
            </a:r>
            <a:endParaRPr lang="en-US" sz="1300" dirty="0"/>
          </a:p>
        </p:txBody>
      </p:sp>
      <p:sp>
        <p:nvSpPr>
          <p:cNvPr id="5" name="Text 3"/>
          <p:cNvSpPr/>
          <p:nvPr/>
        </p:nvSpPr>
        <p:spPr>
          <a:xfrm>
            <a:off x="502920" y="1207008"/>
            <a:ext cx="11185855"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Launch a run</a:t>
            </a:r>
            <a:endParaRPr lang="en-US" sz="3200" dirty="0"/>
          </a:p>
        </p:txBody>
      </p:sp>
      <p:sp>
        <p:nvSpPr>
          <p:cNvPr id="6" name="Shape 4"/>
          <p:cNvSpPr/>
          <p:nvPr/>
        </p:nvSpPr>
        <p:spPr>
          <a:xfrm>
            <a:off x="502920" y="2103120"/>
            <a:ext cx="5349240" cy="1417320"/>
          </a:xfrm>
          <a:prstGeom prst="roundRect">
            <a:avLst>
              <a:gd name="adj" fmla="val 5161"/>
            </a:avLst>
          </a:prstGeom>
          <a:solidFill>
            <a:srgbClr val="0B1030"/>
          </a:solidFill>
          <a:ln/>
        </p:spPr>
      </p:sp>
      <p:sp>
        <p:nvSpPr>
          <p:cNvPr id="7" name="Text 5"/>
          <p:cNvSpPr/>
          <p:nvPr/>
        </p:nvSpPr>
        <p:spPr>
          <a:xfrm>
            <a:off x="731520" y="2240280"/>
            <a:ext cx="4892040" cy="1188720"/>
          </a:xfrm>
          <a:prstGeom prst="rect">
            <a:avLst/>
          </a:prstGeom>
          <a:noFill/>
          <a:ln/>
        </p:spPr>
        <p:txBody>
          <a:bodyPr wrap="square" lIns="0" tIns="0" rIns="0" bIns="0" rtlCol="0" anchor="ctr"/>
          <a:lstStyle/>
          <a:p>
            <a:pPr indent="0" marL="0">
              <a:lnSpc>
                <a:spcPct val="115000"/>
              </a:lnSpc>
              <a:buNone/>
            </a:pPr>
            <a:r>
              <a:rPr lang="en-US" sz="1000" i="1" dirty="0">
                <a:solidFill>
                  <a:srgbClr val="6C7BB8"/>
                </a:solidFill>
                <a:latin typeface="Consolas" pitchFamily="34" charset="0"/>
                <a:ea typeface="Consolas" pitchFamily="34" charset="-122"/>
                <a:cs typeface="Consolas" pitchFamily="34" charset="-120"/>
              </a:rPr>
              <a:t>REM Open the GUI
</a:t>
            </a:r>
            <a:pPr indent="0" marL="0">
              <a:lnSpc>
                <a:spcPct val="115000"/>
              </a:lnSpc>
              <a:buNone/>
            </a:pPr>
            <a:r>
              <a:rPr lang="en-US" sz="1000" dirty="0">
                <a:solidFill>
                  <a:srgbClr val="9EE6B8"/>
                </a:solidFill>
                <a:latin typeface="Consolas" pitchFamily="34" charset="0"/>
                <a:ea typeface="Consolas" pitchFamily="34" charset="-122"/>
                <a:cs typeface="Consolas" pitchFamily="34" charset="-120"/>
              </a:rPr>
              <a:t>Start-Windows11UpgradeRepair-LotLauncher-GUI.cmd
</a:t>
            </a:r>
            <a:pPr indent="0" marL="0">
              <a:lnSpc>
                <a:spcPct val="115000"/>
              </a:lnSpc>
              <a:buNone/>
            </a:pPr>
            <a:r>
              <a:rPr lang="en-US" sz="1000" i="1" dirty="0">
                <a:solidFill>
                  <a:srgbClr val="6C7BB8"/>
                </a:solidFill>
                <a:latin typeface="Consolas" pitchFamily="34" charset="0"/>
                <a:ea typeface="Consolas" pitchFamily="34" charset="-122"/>
                <a:cs typeface="Consolas" pitchFamily="34" charset="-120"/>
              </a:rPr>
              <a:t>REM Run one LOT once (CMD)
</a:t>
            </a:r>
            <a:pPr indent="0" marL="0">
              <a:lnSpc>
                <a:spcPct val="115000"/>
              </a:lnSpc>
              <a:buNone/>
            </a:pPr>
            <a:r>
              <a:rPr lang="en-US" sz="1000" dirty="0">
                <a:solidFill>
                  <a:srgbClr val="9EE6B8"/>
                </a:solidFill>
                <a:latin typeface="Consolas" pitchFamily="34" charset="0"/>
                <a:ea typeface="Consolas" pitchFamily="34" charset="-122"/>
                <a:cs typeface="Consolas" pitchFamily="34" charset="-120"/>
              </a:rPr>
              <a:t>Lots\LOT-A\Run-...-PsExec-Once.cmd</a:t>
            </a:r>
            <a:endParaRPr lang="en-US" sz="1000" dirty="0"/>
          </a:p>
        </p:txBody>
      </p:sp>
      <p:sp>
        <p:nvSpPr>
          <p:cNvPr id="8" name="Text 6"/>
          <p:cNvSpPr/>
          <p:nvPr/>
        </p:nvSpPr>
        <p:spPr>
          <a:xfrm>
            <a:off x="502920" y="3703320"/>
            <a:ext cx="534924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Recommended: start with a -AuditOnly pass</a:t>
            </a:r>
            <a:endParaRPr lang="en-US" sz="1300" dirty="0"/>
          </a:p>
        </p:txBody>
      </p:sp>
      <p:sp>
        <p:nvSpPr>
          <p:cNvPr id="9" name="Shape 7"/>
          <p:cNvSpPr/>
          <p:nvPr/>
        </p:nvSpPr>
        <p:spPr>
          <a:xfrm>
            <a:off x="502920" y="4069080"/>
            <a:ext cx="5349240" cy="960120"/>
          </a:xfrm>
          <a:prstGeom prst="roundRect">
            <a:avLst>
              <a:gd name="adj" fmla="val 7619"/>
            </a:avLst>
          </a:prstGeom>
          <a:solidFill>
            <a:srgbClr val="0B1030"/>
          </a:solidFill>
          <a:ln/>
        </p:spPr>
      </p:sp>
      <p:sp>
        <p:nvSpPr>
          <p:cNvPr id="10" name="Text 8"/>
          <p:cNvSpPr/>
          <p:nvPr/>
        </p:nvSpPr>
        <p:spPr>
          <a:xfrm>
            <a:off x="731520" y="4187952"/>
            <a:ext cx="4892040" cy="731520"/>
          </a:xfrm>
          <a:prstGeom prst="rect">
            <a:avLst/>
          </a:prstGeom>
          <a:noFill/>
          <a:ln/>
        </p:spPr>
        <p:txBody>
          <a:bodyPr wrap="square" lIns="0" tIns="0" rIns="0" bIns="0" rtlCol="0" anchor="ctr"/>
          <a:lstStyle/>
          <a:p>
            <a:pPr indent="0" marL="0">
              <a:lnSpc>
                <a:spcPct val="115000"/>
              </a:lnSpc>
              <a:buNone/>
            </a:pPr>
            <a:r>
              <a:rPr lang="en-US" sz="1000" dirty="0">
                <a:solidFill>
                  <a:srgbClr val="7FD1FF"/>
                </a:solidFill>
                <a:latin typeface="Consolas" pitchFamily="34" charset="0"/>
                <a:ea typeface="Consolas" pitchFamily="34" charset="-122"/>
                <a:cs typeface="Consolas" pitchFamily="34" charset="-120"/>
              </a:rPr>
              <a:t>.\Scripts\SmartM365-Invoke-Windows11UpgradeRepairWithPsExec.ps1 `</a:t>
            </a:r>
            <a:endParaRPr lang="en-US" sz="1000" dirty="0"/>
          </a:p>
          <a:p>
            <a:pPr indent="0" marL="0">
              <a:lnSpc>
                <a:spcPct val="115000"/>
              </a:lnSpc>
              <a:buNone/>
            </a:pPr>
            <a:r>
              <a:rPr lang="en-US" sz="1000" dirty="0">
                <a:solidFill>
                  <a:srgbClr val="7FD1FF"/>
                </a:solidFill>
                <a:latin typeface="Consolas" pitchFamily="34" charset="0"/>
                <a:ea typeface="Consolas" pitchFamily="34" charset="-122"/>
                <a:cs typeface="Consolas" pitchFamily="34" charset="-120"/>
              </a:rPr>
              <a:t>  -ComputerListPath .\Lots\LOT-A\Computers.txt -RunOnce -AuditOnly</a:t>
            </a:r>
            <a:endParaRPr lang="en-US" sz="1000" dirty="0"/>
          </a:p>
        </p:txBody>
      </p:sp>
      <p:sp>
        <p:nvSpPr>
          <p:cNvPr id="11" name="Text 9"/>
          <p:cNvSpPr/>
          <p:nvPr/>
        </p:nvSpPr>
        <p:spPr>
          <a:xfrm>
            <a:off x="502920" y="5166360"/>
            <a:ext cx="5349240" cy="777240"/>
          </a:xfrm>
          <a:prstGeom prst="rect">
            <a:avLst/>
          </a:prstGeom>
          <a:noFill/>
          <a:ln/>
        </p:spPr>
        <p:txBody>
          <a:bodyPr wrap="square" lIns="0" tIns="0" rIns="0" bIns="0" rtlCol="0" anchor="ctr"/>
          <a:lstStyle/>
          <a:p>
            <a:pPr indent="0" marL="0">
              <a:lnSpc>
                <a:spcPct val="120000"/>
              </a:lnSpc>
              <a:buNone/>
            </a:pPr>
            <a:r>
              <a:rPr lang="en-US" sz="1100" dirty="0">
                <a:solidFill>
                  <a:srgbClr val="5F6B7A"/>
                </a:solidFill>
                <a:latin typeface="Calibri" pitchFamily="34" charset="0"/>
                <a:ea typeface="Calibri" pitchFamily="34" charset="-122"/>
                <a:cs typeface="Calibri" pitchFamily="34" charset="-120"/>
              </a:rPr>
              <a:t>The GUI pre-fills its Options tab from Windows11UpgradeToolkit.config. Values visible in the GUI take precedence over the LOT config at launch.</a:t>
            </a:r>
            <a:endParaRPr lang="en-US" sz="1100" dirty="0"/>
          </a:p>
        </p:txBody>
      </p:sp>
      <p:sp>
        <p:nvSpPr>
          <p:cNvPr id="12" name="Shape 10"/>
          <p:cNvSpPr/>
          <p:nvPr/>
        </p:nvSpPr>
        <p:spPr>
          <a:xfrm>
            <a:off x="6126480" y="2057400"/>
            <a:ext cx="5577840" cy="4160520"/>
          </a:xfrm>
          <a:prstGeom prst="roundRect">
            <a:avLst>
              <a:gd name="adj" fmla="val 2198"/>
            </a:avLst>
          </a:prstGeom>
          <a:solidFill>
            <a:srgbClr val="FFFFFF"/>
          </a:solidFill>
          <a:ln w="19050">
            <a:solidFill>
              <a:srgbClr val="DDE7F0"/>
            </a:solidFill>
            <a:prstDash val="solid"/>
          </a:ln>
          <a:effectLst>
            <a:outerShdw sx="100000" sy="100000" kx="0" ky="0" algn="bl" rotWithShape="0" blurRad="101600" dist="38100" dir="5400000">
              <a:srgbClr val="1F2937">
                <a:alpha val="18000"/>
              </a:srgbClr>
            </a:outerShdw>
          </a:effectLst>
        </p:spPr>
      </p:sp>
      <p:sp>
        <p:nvSpPr>
          <p:cNvPr id="13" name="Text 11"/>
          <p:cNvSpPr/>
          <p:nvPr/>
        </p:nvSpPr>
        <p:spPr>
          <a:xfrm>
            <a:off x="6309360" y="2176272"/>
            <a:ext cx="5212080" cy="292608"/>
          </a:xfrm>
          <a:prstGeom prst="rect">
            <a:avLst/>
          </a:prstGeom>
          <a:noFill/>
          <a:ln/>
        </p:spPr>
        <p:txBody>
          <a:bodyPr wrap="square" lIns="0" tIns="0" rIns="0" bIns="0" rtlCol="0" anchor="ctr"/>
          <a:lstStyle/>
          <a:p>
            <a:pPr indent="0" marL="0">
              <a:buNone/>
            </a:pPr>
            <a:r>
              <a:rPr lang="en-US" sz="1050" b="1" dirty="0">
                <a:solidFill>
                  <a:srgbClr val="5F6B7A"/>
                </a:solidFill>
                <a:latin typeface="Calibri" pitchFamily="34" charset="0"/>
                <a:ea typeface="Calibri" pitchFamily="34" charset="-122"/>
                <a:cs typeface="Calibri" pitchFamily="34" charset="-120"/>
              </a:rPr>
              <a:t>GUI — LOT Launcher — 'Options' tab</a:t>
            </a:r>
            <a:endParaRPr lang="en-US" sz="1050" dirty="0"/>
          </a:p>
        </p:txBody>
      </p:sp>
      <p:pic>
        <p:nvPicPr>
          <p:cNvPr id="14" name="Image 0" descr="C:\Users\Khaled\AppData\Local\Temp\claude\C--Users-Khaled-OneDrive-Documents-SmartIntune\c5e67daa-f249-479e-bda8-772632c0f9d4\scratchpad\screens\lot-launcher-options.png">    </p:cNvPr>
          <p:cNvPicPr>
            <a:picLocks noChangeAspect="1"/>
          </p:cNvPicPr>
          <p:nvPr/>
        </p:nvPicPr>
        <p:blipFill>
          <a:blip r:embed="rId1"/>
          <a:stretch>
            <a:fillRect/>
          </a:stretch>
        </p:blipFill>
        <p:spPr>
          <a:xfrm>
            <a:off x="6309360" y="2487168"/>
            <a:ext cx="5212080" cy="3639312"/>
          </a:xfrm>
          <a:prstGeom prst="rect">
            <a:avLst/>
          </a:prstGeom>
        </p:spPr>
      </p:pic>
      <p:sp>
        <p:nvSpPr>
          <p:cNvPr id="15" name="Text 12"/>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SmartM365 Devices — Windows 11 Upgrade Toolkit</a:t>
            </a:r>
            <a:endParaRPr lang="en-US" sz="900" dirty="0"/>
          </a:p>
        </p:txBody>
      </p:sp>
      <p:sp>
        <p:nvSpPr>
          <p:cNvPr id="16" name="Text 13"/>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75488"/>
            <a:ext cx="548640" cy="548640"/>
          </a:xfrm>
          <a:prstGeom prst="ellipse">
            <a:avLst/>
          </a:prstGeom>
          <a:solidFill>
            <a:srgbClr val="0078D4"/>
          </a:solidFill>
          <a:ln/>
        </p:spPr>
      </p:sp>
      <p:sp>
        <p:nvSpPr>
          <p:cNvPr id="3" name="Text 1"/>
          <p:cNvSpPr/>
          <p:nvPr/>
        </p:nvSpPr>
        <p:spPr>
          <a:xfrm>
            <a:off x="502920" y="475488"/>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6</a:t>
            </a:r>
            <a:endParaRPr lang="en-US" sz="2200" dirty="0"/>
          </a:p>
        </p:txBody>
      </p:sp>
      <p:sp>
        <p:nvSpPr>
          <p:cNvPr id="4" name="Text 2"/>
          <p:cNvSpPr/>
          <p:nvPr/>
        </p:nvSpPr>
        <p:spPr>
          <a:xfrm>
            <a:off x="1188720" y="530352"/>
            <a:ext cx="3657600" cy="457200"/>
          </a:xfrm>
          <a:prstGeom prst="rect">
            <a:avLst/>
          </a:prstGeom>
          <a:noFill/>
          <a:ln/>
        </p:spPr>
        <p:txBody>
          <a:bodyPr wrap="square" lIns="0" tIns="0" rIns="0" bIns="0" rtlCol="0" anchor="ctr"/>
          <a:lstStyle/>
          <a:p>
            <a:pPr indent="0" marL="0">
              <a:buNone/>
            </a:pPr>
            <a:r>
              <a:rPr lang="en-US" sz="1300" b="1" spc="100" kern="0" dirty="0">
                <a:solidFill>
                  <a:srgbClr val="5F6B7A"/>
                </a:solidFill>
                <a:latin typeface="Calibri" pitchFamily="34" charset="0"/>
                <a:ea typeface="Calibri" pitchFamily="34" charset="-122"/>
                <a:cs typeface="Calibri" pitchFamily="34" charset="-120"/>
              </a:rPr>
              <a:t>STEP 6</a:t>
            </a:r>
            <a:endParaRPr lang="en-US" sz="1300" dirty="0"/>
          </a:p>
        </p:txBody>
      </p:sp>
      <p:sp>
        <p:nvSpPr>
          <p:cNvPr id="5" name="Text 3"/>
          <p:cNvSpPr/>
          <p:nvPr/>
        </p:nvSpPr>
        <p:spPr>
          <a:xfrm>
            <a:off x="502920" y="1207008"/>
            <a:ext cx="11185855"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Monitor the run</a:t>
            </a:r>
            <a:endParaRPr lang="en-US" sz="3200" dirty="0"/>
          </a:p>
        </p:txBody>
      </p:sp>
      <p:sp>
        <p:nvSpPr>
          <p:cNvPr id="6" name="Text 4"/>
          <p:cNvSpPr/>
          <p:nvPr/>
        </p:nvSpPr>
        <p:spPr>
          <a:xfrm>
            <a:off x="502920" y="2057400"/>
            <a:ext cx="11155680" cy="502920"/>
          </a:xfrm>
          <a:prstGeom prst="rect">
            <a:avLst/>
          </a:prstGeom>
          <a:noFill/>
          <a:ln/>
        </p:spPr>
        <p:txBody>
          <a:bodyPr wrap="square" lIns="0" tIns="0" rIns="0" bIns="0" rtlCol="0" anchor="ctr"/>
          <a:lstStyle/>
          <a:p>
            <a:pPr indent="0" marL="0">
              <a:lnSpc>
                <a:spcPct val="120000"/>
              </a:lnSpc>
              <a:buNone/>
            </a:pPr>
            <a:r>
              <a:rPr lang="en-US" sz="1300" dirty="0">
                <a:solidFill>
                  <a:srgbClr val="1F2937"/>
                </a:solidFill>
                <a:latin typeface="Calibri" pitchFamily="34" charset="0"/>
                <a:ea typeface="Calibri" pitchFamily="34" charset="-122"/>
                <a:cs typeface="Calibri" pitchFamily="34" charset="-120"/>
              </a:rPr>
              <a:t>Each run writes evidence under Runs\&lt;LOT&gt;\&lt;timestamp&gt; on the operator side, and under C:\ProgramData\SmartM365\Windows11UpgradeToolkit on the target device.</a:t>
            </a:r>
            <a:endParaRPr lang="en-US" sz="1300" dirty="0"/>
          </a:p>
        </p:txBody>
      </p:sp>
      <p:sp>
        <p:nvSpPr>
          <p:cNvPr id="7" name="Shape 5"/>
          <p:cNvSpPr/>
          <p:nvPr/>
        </p:nvSpPr>
        <p:spPr>
          <a:xfrm>
            <a:off x="502920" y="2743200"/>
            <a:ext cx="2651760" cy="1737360"/>
          </a:xfrm>
          <a:prstGeom prst="roundRect">
            <a:avLst>
              <a:gd name="adj" fmla="val 4211"/>
            </a:avLst>
          </a:prstGeom>
          <a:solidFill>
            <a:srgbClr val="1E2761"/>
          </a:solidFill>
          <a:ln/>
        </p:spPr>
      </p:sp>
      <p:sp>
        <p:nvSpPr>
          <p:cNvPr id="8" name="Text 6"/>
          <p:cNvSpPr/>
          <p:nvPr/>
        </p:nvSpPr>
        <p:spPr>
          <a:xfrm>
            <a:off x="685800" y="2926080"/>
            <a:ext cx="2286000" cy="320040"/>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Logs</a:t>
            </a:r>
            <a:endParaRPr lang="en-US" sz="1400" dirty="0"/>
          </a:p>
        </p:txBody>
      </p:sp>
      <p:sp>
        <p:nvSpPr>
          <p:cNvPr id="9" name="Text 7"/>
          <p:cNvSpPr/>
          <p:nvPr/>
        </p:nvSpPr>
        <p:spPr>
          <a:xfrm>
            <a:off x="685800" y="3310128"/>
            <a:ext cx="2286000" cy="1051560"/>
          </a:xfrm>
          <a:prstGeom prst="rect">
            <a:avLst/>
          </a:prstGeom>
          <a:noFill/>
          <a:ln/>
        </p:spPr>
        <p:txBody>
          <a:bodyPr wrap="square" lIns="0" tIns="0" rIns="0" bIns="0" rtlCol="0" anchor="ctr"/>
          <a:lstStyle/>
          <a:p>
            <a:pPr indent="0" marL="0">
              <a:lnSpc>
                <a:spcPct val="120000"/>
              </a:lnSpc>
              <a:buNone/>
            </a:pPr>
            <a:r>
              <a:rPr lang="en-US" sz="1050" dirty="0">
                <a:solidFill>
                  <a:srgbClr val="C7D0F0"/>
                </a:solidFill>
                <a:latin typeface="Calibri" pitchFamily="34" charset="0"/>
                <a:ea typeface="Calibri" pitchFamily="34" charset="-122"/>
                <a:cs typeface="Calibri" pitchFamily="34" charset="-120"/>
              </a:rPr>
              <a:t>Detailed logs from the orchestrator and every PsExec worker.</a:t>
            </a:r>
            <a:endParaRPr lang="en-US" sz="1050" dirty="0"/>
          </a:p>
        </p:txBody>
      </p:sp>
      <p:sp>
        <p:nvSpPr>
          <p:cNvPr id="10" name="Shape 8"/>
          <p:cNvSpPr/>
          <p:nvPr/>
        </p:nvSpPr>
        <p:spPr>
          <a:xfrm>
            <a:off x="3337560" y="2743200"/>
            <a:ext cx="2651760" cy="1737360"/>
          </a:xfrm>
          <a:prstGeom prst="roundRect">
            <a:avLst>
              <a:gd name="adj" fmla="val 4211"/>
            </a:avLst>
          </a:prstGeom>
          <a:solidFill>
            <a:srgbClr val="1E2761"/>
          </a:solidFill>
          <a:ln/>
        </p:spPr>
      </p:sp>
      <p:sp>
        <p:nvSpPr>
          <p:cNvPr id="11" name="Text 9"/>
          <p:cNvSpPr/>
          <p:nvPr/>
        </p:nvSpPr>
        <p:spPr>
          <a:xfrm>
            <a:off x="3520440" y="2926080"/>
            <a:ext cx="2286000" cy="320040"/>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PsExecLogs</a:t>
            </a:r>
            <a:endParaRPr lang="en-US" sz="1400" dirty="0"/>
          </a:p>
        </p:txBody>
      </p:sp>
      <p:sp>
        <p:nvSpPr>
          <p:cNvPr id="12" name="Text 10"/>
          <p:cNvSpPr/>
          <p:nvPr/>
        </p:nvSpPr>
        <p:spPr>
          <a:xfrm>
            <a:off x="3520440" y="3310128"/>
            <a:ext cx="2286000" cy="1051560"/>
          </a:xfrm>
          <a:prstGeom prst="rect">
            <a:avLst/>
          </a:prstGeom>
          <a:noFill/>
          <a:ln/>
        </p:spPr>
        <p:txBody>
          <a:bodyPr wrap="square" lIns="0" tIns="0" rIns="0" bIns="0" rtlCol="0" anchor="ctr"/>
          <a:lstStyle/>
          <a:p>
            <a:pPr indent="0" marL="0">
              <a:lnSpc>
                <a:spcPct val="120000"/>
              </a:lnSpc>
              <a:buNone/>
            </a:pPr>
            <a:r>
              <a:rPr lang="en-US" sz="1050" dirty="0">
                <a:solidFill>
                  <a:srgbClr val="C7D0F0"/>
                </a:solidFill>
                <a:latin typeface="Calibri" pitchFamily="34" charset="0"/>
                <a:ea typeface="Calibri" pitchFamily="34" charset="-122"/>
                <a:cs typeface="Calibri" pitchFamily="34" charset="-120"/>
              </a:rPr>
              <a:t>Raw output from each per-device PsExec call.</a:t>
            </a:r>
            <a:endParaRPr lang="en-US" sz="1050" dirty="0"/>
          </a:p>
        </p:txBody>
      </p:sp>
      <p:sp>
        <p:nvSpPr>
          <p:cNvPr id="13" name="Shape 11"/>
          <p:cNvSpPr/>
          <p:nvPr/>
        </p:nvSpPr>
        <p:spPr>
          <a:xfrm>
            <a:off x="6172200" y="2743200"/>
            <a:ext cx="2651760" cy="1737360"/>
          </a:xfrm>
          <a:prstGeom prst="roundRect">
            <a:avLst>
              <a:gd name="adj" fmla="val 4211"/>
            </a:avLst>
          </a:prstGeom>
          <a:solidFill>
            <a:srgbClr val="1E2761"/>
          </a:solidFill>
          <a:ln/>
        </p:spPr>
      </p:sp>
      <p:sp>
        <p:nvSpPr>
          <p:cNvPr id="14" name="Text 12"/>
          <p:cNvSpPr/>
          <p:nvPr/>
        </p:nvSpPr>
        <p:spPr>
          <a:xfrm>
            <a:off x="6355080" y="2926080"/>
            <a:ext cx="2286000" cy="320040"/>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Reports</a:t>
            </a:r>
            <a:endParaRPr lang="en-US" sz="1400" dirty="0"/>
          </a:p>
        </p:txBody>
      </p:sp>
      <p:sp>
        <p:nvSpPr>
          <p:cNvPr id="15" name="Text 13"/>
          <p:cNvSpPr/>
          <p:nvPr/>
        </p:nvSpPr>
        <p:spPr>
          <a:xfrm>
            <a:off x="6355080" y="3310128"/>
            <a:ext cx="2286000" cy="1051560"/>
          </a:xfrm>
          <a:prstGeom prst="rect">
            <a:avLst/>
          </a:prstGeom>
          <a:noFill/>
          <a:ln/>
        </p:spPr>
        <p:txBody>
          <a:bodyPr wrap="square" lIns="0" tIns="0" rIns="0" bIns="0" rtlCol="0" anchor="ctr"/>
          <a:lstStyle/>
          <a:p>
            <a:pPr indent="0" marL="0">
              <a:lnSpc>
                <a:spcPct val="120000"/>
              </a:lnSpc>
              <a:buNone/>
            </a:pPr>
            <a:r>
              <a:rPr lang="en-US" sz="1050" dirty="0">
                <a:solidFill>
                  <a:srgbClr val="C7D0F0"/>
                </a:solidFill>
                <a:latin typeface="Calibri" pitchFamily="34" charset="0"/>
                <a:ea typeface="Calibri" pitchFamily="34" charset="-122"/>
                <a:cs typeface="Calibri" pitchFamily="34" charset="-120"/>
              </a:rPr>
              <a:t>Cycle HTML reports (live then final) and a summary CSV.</a:t>
            </a:r>
            <a:endParaRPr lang="en-US" sz="1050" dirty="0"/>
          </a:p>
        </p:txBody>
      </p:sp>
      <p:sp>
        <p:nvSpPr>
          <p:cNvPr id="16" name="Shape 14"/>
          <p:cNvSpPr/>
          <p:nvPr/>
        </p:nvSpPr>
        <p:spPr>
          <a:xfrm>
            <a:off x="9006840" y="2743200"/>
            <a:ext cx="2651760" cy="1737360"/>
          </a:xfrm>
          <a:prstGeom prst="roundRect">
            <a:avLst>
              <a:gd name="adj" fmla="val 4211"/>
            </a:avLst>
          </a:prstGeom>
          <a:solidFill>
            <a:srgbClr val="1E2761"/>
          </a:solidFill>
          <a:ln/>
        </p:spPr>
      </p:sp>
      <p:sp>
        <p:nvSpPr>
          <p:cNvPr id="17" name="Text 15"/>
          <p:cNvSpPr/>
          <p:nvPr/>
        </p:nvSpPr>
        <p:spPr>
          <a:xfrm>
            <a:off x="9189720" y="2926080"/>
            <a:ext cx="2286000" cy="320040"/>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CentralLogs</a:t>
            </a:r>
            <a:endParaRPr lang="en-US" sz="1400" dirty="0"/>
          </a:p>
        </p:txBody>
      </p:sp>
      <p:sp>
        <p:nvSpPr>
          <p:cNvPr id="18" name="Text 16"/>
          <p:cNvSpPr/>
          <p:nvPr/>
        </p:nvSpPr>
        <p:spPr>
          <a:xfrm>
            <a:off x="9189720" y="3310128"/>
            <a:ext cx="2286000" cy="1051560"/>
          </a:xfrm>
          <a:prstGeom prst="rect">
            <a:avLst/>
          </a:prstGeom>
          <a:noFill/>
          <a:ln/>
        </p:spPr>
        <p:txBody>
          <a:bodyPr wrap="square" lIns="0" tIns="0" rIns="0" bIns="0" rtlCol="0" anchor="ctr"/>
          <a:lstStyle/>
          <a:p>
            <a:pPr indent="0" marL="0">
              <a:lnSpc>
                <a:spcPct val="120000"/>
              </a:lnSpc>
              <a:buNone/>
            </a:pPr>
            <a:r>
              <a:rPr lang="en-US" sz="1050" dirty="0">
                <a:solidFill>
                  <a:srgbClr val="C7D0F0"/>
                </a:solidFill>
                <a:latin typeface="Calibri" pitchFamily="34" charset="0"/>
                <a:ea typeface="Calibri" pitchFamily="34" charset="-122"/>
                <a:cs typeface="Calibri" pitchFamily="34" charset="-120"/>
              </a:rPr>
              <a:t>Evidence by category: Success, Compatibility, InsufficientDisk, Errors, ...</a:t>
            </a:r>
            <a:endParaRPr lang="en-US" sz="1050" dirty="0"/>
          </a:p>
        </p:txBody>
      </p:sp>
      <p:sp>
        <p:nvSpPr>
          <p:cNvPr id="19" name="Shape 17"/>
          <p:cNvSpPr/>
          <p:nvPr/>
        </p:nvSpPr>
        <p:spPr>
          <a:xfrm>
            <a:off x="502920" y="4553712"/>
            <a:ext cx="11201400" cy="310896"/>
          </a:xfrm>
          <a:prstGeom prst="roundRect">
            <a:avLst>
              <a:gd name="adj" fmla="val 23529"/>
            </a:avLst>
          </a:prstGeom>
          <a:solidFill>
            <a:srgbClr val="E6F4FF"/>
          </a:solidFill>
          <a:ln/>
        </p:spPr>
      </p:sp>
      <p:sp>
        <p:nvSpPr>
          <p:cNvPr id="20" name="Text 18"/>
          <p:cNvSpPr/>
          <p:nvPr/>
        </p:nvSpPr>
        <p:spPr>
          <a:xfrm>
            <a:off x="685800" y="4553712"/>
            <a:ext cx="10881360" cy="310896"/>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HTML report: </a:t>
            </a:r>
            <a:pPr indent="0" marL="0">
              <a:buNone/>
            </a:pPr>
            <a:r>
              <a:rPr lang="en-US" sz="1050" dirty="0">
                <a:solidFill>
                  <a:srgbClr val="1E2761"/>
                </a:solidFill>
                <a:latin typeface="Consolas" pitchFamily="34" charset="0"/>
                <a:ea typeface="Consolas" pitchFamily="34" charset="-122"/>
                <a:cs typeface="Consolas" pitchFamily="34" charset="-120"/>
              </a:rPr>
              <a:t>PsExec_Windows11Upgrade_Summary_&lt;LOT&gt;_&lt;timestamp&gt;.html</a:t>
            </a:r>
            <a:pPr indent="0" marL="0">
              <a:buNone/>
            </a:pPr>
            <a:r>
              <a:rPr lang="en-US" sz="1050" dirty="0">
                <a:solidFill>
                  <a:srgbClr val="1E2761"/>
                </a:solidFill>
                <a:latin typeface="Calibri" pitchFamily="34" charset="0"/>
                <a:ea typeface="Calibri" pitchFamily="34" charset="-122"/>
                <a:cs typeface="Calibri" pitchFamily="34" charset="-120"/>
              </a:rPr>
              <a:t> under Reports\ — updated live during the cycle, finalized at the end.</a:t>
            </a:r>
            <a:endParaRPr lang="en-US" sz="1050" dirty="0"/>
          </a:p>
        </p:txBody>
      </p:sp>
      <p:sp>
        <p:nvSpPr>
          <p:cNvPr id="21" name="Text 19"/>
          <p:cNvSpPr/>
          <p:nvPr/>
        </p:nvSpPr>
        <p:spPr>
          <a:xfrm>
            <a:off x="502920" y="5029200"/>
            <a:ext cx="548640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CentralLogs categories (excerpt)</a:t>
            </a:r>
            <a:endParaRPr lang="en-US" sz="1300" dirty="0"/>
          </a:p>
        </p:txBody>
      </p:sp>
      <p:sp>
        <p:nvSpPr>
          <p:cNvPr id="22" name="Shape 20"/>
          <p:cNvSpPr/>
          <p:nvPr/>
        </p:nvSpPr>
        <p:spPr>
          <a:xfrm>
            <a:off x="502920" y="5440680"/>
            <a:ext cx="819302" cy="347472"/>
          </a:xfrm>
          <a:prstGeom prst="roundRect">
            <a:avLst>
              <a:gd name="adj" fmla="val 50000"/>
            </a:avLst>
          </a:prstGeom>
          <a:solidFill>
            <a:srgbClr val="E6F4FF"/>
          </a:solidFill>
          <a:ln/>
        </p:spPr>
      </p:sp>
      <p:sp>
        <p:nvSpPr>
          <p:cNvPr id="23" name="Text 21"/>
          <p:cNvSpPr/>
          <p:nvPr/>
        </p:nvSpPr>
        <p:spPr>
          <a:xfrm>
            <a:off x="502920" y="5440680"/>
            <a:ext cx="819302" cy="347472"/>
          </a:xfrm>
          <a:prstGeom prst="rect">
            <a:avLst/>
          </a:prstGeom>
          <a:noFill/>
          <a:ln/>
        </p:spPr>
        <p:txBody>
          <a:bodyPr wrap="square" lIns="0" tIns="0" rIns="0" bIns="0" rtlCol="0" anchor="ctr"/>
          <a:lstStyle/>
          <a:p>
            <a:pPr algn="ctr" indent="0" marL="0">
              <a:buNone/>
            </a:pPr>
            <a:r>
              <a:rPr lang="en-US" sz="950" b="1" dirty="0">
                <a:solidFill>
                  <a:srgbClr val="0078D4"/>
                </a:solidFill>
                <a:latin typeface="Calibri" pitchFamily="34" charset="0"/>
                <a:ea typeface="Calibri" pitchFamily="34" charset="-122"/>
                <a:cs typeface="Calibri" pitchFamily="34" charset="-120"/>
              </a:rPr>
              <a:t>Success</a:t>
            </a:r>
            <a:endParaRPr lang="en-US" sz="950" dirty="0"/>
          </a:p>
        </p:txBody>
      </p:sp>
      <p:sp>
        <p:nvSpPr>
          <p:cNvPr id="24" name="Shape 22"/>
          <p:cNvSpPr/>
          <p:nvPr/>
        </p:nvSpPr>
        <p:spPr>
          <a:xfrm>
            <a:off x="1468526" y="5440680"/>
            <a:ext cx="1302106" cy="347472"/>
          </a:xfrm>
          <a:prstGeom prst="roundRect">
            <a:avLst>
              <a:gd name="adj" fmla="val 50000"/>
            </a:avLst>
          </a:prstGeom>
          <a:solidFill>
            <a:srgbClr val="E6F4FF"/>
          </a:solidFill>
          <a:ln/>
        </p:spPr>
      </p:sp>
      <p:sp>
        <p:nvSpPr>
          <p:cNvPr id="25" name="Text 23"/>
          <p:cNvSpPr/>
          <p:nvPr/>
        </p:nvSpPr>
        <p:spPr>
          <a:xfrm>
            <a:off x="1468526" y="5440680"/>
            <a:ext cx="1302106" cy="347472"/>
          </a:xfrm>
          <a:prstGeom prst="rect">
            <a:avLst/>
          </a:prstGeom>
          <a:noFill/>
          <a:ln/>
        </p:spPr>
        <p:txBody>
          <a:bodyPr wrap="square" lIns="0" tIns="0" rIns="0" bIns="0" rtlCol="0" anchor="ctr"/>
          <a:lstStyle/>
          <a:p>
            <a:pPr algn="ctr" indent="0" marL="0">
              <a:buNone/>
            </a:pPr>
            <a:r>
              <a:rPr lang="en-US" sz="950" b="1" dirty="0">
                <a:solidFill>
                  <a:srgbClr val="0078D4"/>
                </a:solidFill>
                <a:latin typeface="Calibri" pitchFamily="34" charset="0"/>
                <a:ea typeface="Calibri" pitchFamily="34" charset="-122"/>
                <a:cs typeface="Calibri" pitchFamily="34" charset="-120"/>
              </a:rPr>
              <a:t>Compatibility</a:t>
            </a:r>
            <a:endParaRPr lang="en-US" sz="950" dirty="0"/>
          </a:p>
        </p:txBody>
      </p:sp>
      <p:sp>
        <p:nvSpPr>
          <p:cNvPr id="26" name="Shape 24"/>
          <p:cNvSpPr/>
          <p:nvPr/>
        </p:nvSpPr>
        <p:spPr>
          <a:xfrm>
            <a:off x="2916936" y="5440680"/>
            <a:ext cx="1543507" cy="347472"/>
          </a:xfrm>
          <a:prstGeom prst="roundRect">
            <a:avLst>
              <a:gd name="adj" fmla="val 50000"/>
            </a:avLst>
          </a:prstGeom>
          <a:solidFill>
            <a:srgbClr val="E6F4FF"/>
          </a:solidFill>
          <a:ln/>
        </p:spPr>
      </p:sp>
      <p:sp>
        <p:nvSpPr>
          <p:cNvPr id="27" name="Text 25"/>
          <p:cNvSpPr/>
          <p:nvPr/>
        </p:nvSpPr>
        <p:spPr>
          <a:xfrm>
            <a:off x="2916936" y="5440680"/>
            <a:ext cx="1543507" cy="347472"/>
          </a:xfrm>
          <a:prstGeom prst="rect">
            <a:avLst/>
          </a:prstGeom>
          <a:noFill/>
          <a:ln/>
        </p:spPr>
        <p:txBody>
          <a:bodyPr wrap="square" lIns="0" tIns="0" rIns="0" bIns="0" rtlCol="0" anchor="ctr"/>
          <a:lstStyle/>
          <a:p>
            <a:pPr algn="ctr" indent="0" marL="0">
              <a:buNone/>
            </a:pPr>
            <a:r>
              <a:rPr lang="en-US" sz="950" b="1" dirty="0">
                <a:solidFill>
                  <a:srgbClr val="0078D4"/>
                </a:solidFill>
                <a:latin typeface="Calibri" pitchFamily="34" charset="0"/>
                <a:ea typeface="Calibri" pitchFamily="34" charset="-122"/>
                <a:cs typeface="Calibri" pitchFamily="34" charset="-120"/>
              </a:rPr>
              <a:t>InsufficientDisk</a:t>
            </a:r>
            <a:endParaRPr lang="en-US" sz="950" dirty="0"/>
          </a:p>
        </p:txBody>
      </p:sp>
      <p:sp>
        <p:nvSpPr>
          <p:cNvPr id="28" name="Shape 26"/>
          <p:cNvSpPr/>
          <p:nvPr/>
        </p:nvSpPr>
        <p:spPr>
          <a:xfrm>
            <a:off x="4606747" y="5440680"/>
            <a:ext cx="2106778" cy="347472"/>
          </a:xfrm>
          <a:prstGeom prst="roundRect">
            <a:avLst>
              <a:gd name="adj" fmla="val 50000"/>
            </a:avLst>
          </a:prstGeom>
          <a:solidFill>
            <a:srgbClr val="E6F4FF"/>
          </a:solidFill>
          <a:ln/>
        </p:spPr>
      </p:sp>
      <p:sp>
        <p:nvSpPr>
          <p:cNvPr id="29" name="Text 27"/>
          <p:cNvSpPr/>
          <p:nvPr/>
        </p:nvSpPr>
        <p:spPr>
          <a:xfrm>
            <a:off x="4606747" y="5440680"/>
            <a:ext cx="2106778" cy="347472"/>
          </a:xfrm>
          <a:prstGeom prst="rect">
            <a:avLst/>
          </a:prstGeom>
          <a:noFill/>
          <a:ln/>
        </p:spPr>
        <p:txBody>
          <a:bodyPr wrap="square" lIns="0" tIns="0" rIns="0" bIns="0" rtlCol="0" anchor="ctr"/>
          <a:lstStyle/>
          <a:p>
            <a:pPr algn="ctr" indent="0" marL="0">
              <a:buNone/>
            </a:pPr>
            <a:r>
              <a:rPr lang="en-US" sz="950" b="1" dirty="0">
                <a:solidFill>
                  <a:srgbClr val="0078D4"/>
                </a:solidFill>
                <a:latin typeface="Calibri" pitchFamily="34" charset="0"/>
                <a:ea typeface="Calibri" pitchFamily="34" charset="-122"/>
                <a:cs typeface="Calibri" pitchFamily="34" charset="-120"/>
              </a:rPr>
              <a:t>ADMIN_SHARE_UNREACHABLE</a:t>
            </a:r>
            <a:endParaRPr lang="en-US" sz="950" dirty="0"/>
          </a:p>
        </p:txBody>
      </p:sp>
      <p:sp>
        <p:nvSpPr>
          <p:cNvPr id="30" name="Shape 28"/>
          <p:cNvSpPr/>
          <p:nvPr/>
        </p:nvSpPr>
        <p:spPr>
          <a:xfrm>
            <a:off x="6859829" y="5440680"/>
            <a:ext cx="2670048" cy="347472"/>
          </a:xfrm>
          <a:prstGeom prst="roundRect">
            <a:avLst>
              <a:gd name="adj" fmla="val 50000"/>
            </a:avLst>
          </a:prstGeom>
          <a:solidFill>
            <a:srgbClr val="E6F4FF"/>
          </a:solidFill>
          <a:ln/>
        </p:spPr>
      </p:sp>
      <p:sp>
        <p:nvSpPr>
          <p:cNvPr id="31" name="Text 29"/>
          <p:cNvSpPr/>
          <p:nvPr/>
        </p:nvSpPr>
        <p:spPr>
          <a:xfrm>
            <a:off x="6859829" y="5440680"/>
            <a:ext cx="2670048" cy="347472"/>
          </a:xfrm>
          <a:prstGeom prst="rect">
            <a:avLst/>
          </a:prstGeom>
          <a:noFill/>
          <a:ln/>
        </p:spPr>
        <p:txBody>
          <a:bodyPr wrap="square" lIns="0" tIns="0" rIns="0" bIns="0" rtlCol="0" anchor="ctr"/>
          <a:lstStyle/>
          <a:p>
            <a:pPr algn="ctr" indent="0" marL="0">
              <a:buNone/>
            </a:pPr>
            <a:r>
              <a:rPr lang="en-US" sz="950" b="1" dirty="0">
                <a:solidFill>
                  <a:srgbClr val="0078D4"/>
                </a:solidFill>
                <a:latin typeface="Calibri" pitchFamily="34" charset="0"/>
                <a:ea typeface="Calibri" pitchFamily="34" charset="-122"/>
                <a:cs typeface="Calibri" pitchFamily="34" charset="-120"/>
              </a:rPr>
              <a:t>SetupSourceLanguageUnavailable</a:t>
            </a:r>
            <a:endParaRPr lang="en-US" sz="950" dirty="0"/>
          </a:p>
        </p:txBody>
      </p:sp>
      <p:sp>
        <p:nvSpPr>
          <p:cNvPr id="32" name="Shape 30"/>
          <p:cNvSpPr/>
          <p:nvPr/>
        </p:nvSpPr>
        <p:spPr>
          <a:xfrm>
            <a:off x="502920" y="5861304"/>
            <a:ext cx="2509114" cy="347472"/>
          </a:xfrm>
          <a:prstGeom prst="roundRect">
            <a:avLst>
              <a:gd name="adj" fmla="val 50000"/>
            </a:avLst>
          </a:prstGeom>
          <a:solidFill>
            <a:srgbClr val="E6F4FF"/>
          </a:solidFill>
          <a:ln/>
        </p:spPr>
      </p:sp>
      <p:sp>
        <p:nvSpPr>
          <p:cNvPr id="33" name="Text 31"/>
          <p:cNvSpPr/>
          <p:nvPr/>
        </p:nvSpPr>
        <p:spPr>
          <a:xfrm>
            <a:off x="502920" y="5861304"/>
            <a:ext cx="2509114" cy="347472"/>
          </a:xfrm>
          <a:prstGeom prst="rect">
            <a:avLst/>
          </a:prstGeom>
          <a:noFill/>
          <a:ln/>
        </p:spPr>
        <p:txBody>
          <a:bodyPr wrap="square" lIns="0" tIns="0" rIns="0" bIns="0" rtlCol="0" anchor="ctr"/>
          <a:lstStyle/>
          <a:p>
            <a:pPr algn="ctr" indent="0" marL="0">
              <a:buNone/>
            </a:pPr>
            <a:r>
              <a:rPr lang="en-US" sz="950" b="1" dirty="0">
                <a:solidFill>
                  <a:srgbClr val="0078D4"/>
                </a:solidFill>
                <a:latin typeface="Calibri" pitchFamily="34" charset="0"/>
                <a:ea typeface="Calibri" pitchFamily="34" charset="-122"/>
                <a:cs typeface="Calibri" pitchFamily="34" charset="-120"/>
              </a:rPr>
              <a:t>SetupMigrationProfileFailure</a:t>
            </a:r>
            <a:endParaRPr lang="en-US" sz="950" dirty="0"/>
          </a:p>
        </p:txBody>
      </p:sp>
      <p:sp>
        <p:nvSpPr>
          <p:cNvPr id="34" name="Shape 32"/>
          <p:cNvSpPr/>
          <p:nvPr/>
        </p:nvSpPr>
        <p:spPr>
          <a:xfrm>
            <a:off x="3158338" y="5861304"/>
            <a:ext cx="2267712" cy="347472"/>
          </a:xfrm>
          <a:prstGeom prst="roundRect">
            <a:avLst>
              <a:gd name="adj" fmla="val 50000"/>
            </a:avLst>
          </a:prstGeom>
          <a:solidFill>
            <a:srgbClr val="E6F4FF"/>
          </a:solidFill>
          <a:ln/>
        </p:spPr>
      </p:sp>
      <p:sp>
        <p:nvSpPr>
          <p:cNvPr id="35" name="Text 33"/>
          <p:cNvSpPr/>
          <p:nvPr/>
        </p:nvSpPr>
        <p:spPr>
          <a:xfrm>
            <a:off x="3158338" y="5861304"/>
            <a:ext cx="2267712" cy="347472"/>
          </a:xfrm>
          <a:prstGeom prst="rect">
            <a:avLst/>
          </a:prstGeom>
          <a:noFill/>
          <a:ln/>
        </p:spPr>
        <p:txBody>
          <a:bodyPr wrap="square" lIns="0" tIns="0" rIns="0" bIns="0" rtlCol="0" anchor="ctr"/>
          <a:lstStyle/>
          <a:p>
            <a:pPr algn="ctr" indent="0" marL="0">
              <a:buNone/>
            </a:pPr>
            <a:r>
              <a:rPr lang="en-US" sz="950" b="1" dirty="0">
                <a:solidFill>
                  <a:srgbClr val="0078D4"/>
                </a:solidFill>
                <a:latin typeface="Calibri" pitchFamily="34" charset="0"/>
                <a:ea typeface="Calibri" pitchFamily="34" charset="-122"/>
                <a:cs typeface="Calibri" pitchFamily="34" charset="-120"/>
              </a:rPr>
              <a:t>SetupMediaManifestFailure</a:t>
            </a:r>
            <a:endParaRPr lang="en-US" sz="950" dirty="0"/>
          </a:p>
        </p:txBody>
      </p:sp>
      <p:sp>
        <p:nvSpPr>
          <p:cNvPr id="36" name="Shape 34"/>
          <p:cNvSpPr/>
          <p:nvPr/>
        </p:nvSpPr>
        <p:spPr>
          <a:xfrm>
            <a:off x="5572354" y="5861304"/>
            <a:ext cx="738835" cy="347472"/>
          </a:xfrm>
          <a:prstGeom prst="roundRect">
            <a:avLst>
              <a:gd name="adj" fmla="val 50000"/>
            </a:avLst>
          </a:prstGeom>
          <a:solidFill>
            <a:srgbClr val="E6F4FF"/>
          </a:solidFill>
          <a:ln/>
        </p:spPr>
      </p:sp>
      <p:sp>
        <p:nvSpPr>
          <p:cNvPr id="37" name="Text 35"/>
          <p:cNvSpPr/>
          <p:nvPr/>
        </p:nvSpPr>
        <p:spPr>
          <a:xfrm>
            <a:off x="5572354" y="5861304"/>
            <a:ext cx="738835" cy="347472"/>
          </a:xfrm>
          <a:prstGeom prst="rect">
            <a:avLst/>
          </a:prstGeom>
          <a:noFill/>
          <a:ln/>
        </p:spPr>
        <p:txBody>
          <a:bodyPr wrap="square" lIns="0" tIns="0" rIns="0" bIns="0" rtlCol="0" anchor="ctr"/>
          <a:lstStyle/>
          <a:p>
            <a:pPr algn="ctr" indent="0" marL="0">
              <a:buNone/>
            </a:pPr>
            <a:r>
              <a:rPr lang="en-US" sz="950" b="1" dirty="0">
                <a:solidFill>
                  <a:srgbClr val="0078D4"/>
                </a:solidFill>
                <a:latin typeface="Calibri" pitchFamily="34" charset="0"/>
                <a:ea typeface="Calibri" pitchFamily="34" charset="-122"/>
                <a:cs typeface="Calibri" pitchFamily="34" charset="-120"/>
              </a:rPr>
              <a:t>Errors</a:t>
            </a:r>
            <a:endParaRPr lang="en-US" sz="950" dirty="0"/>
          </a:p>
        </p:txBody>
      </p:sp>
      <p:sp>
        <p:nvSpPr>
          <p:cNvPr id="38" name="Text 36"/>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SmartM365 Devices — Windows 11 Upgrade Toolkit</a:t>
            </a:r>
            <a:endParaRPr lang="en-US" sz="900" dirty="0"/>
          </a:p>
        </p:txBody>
      </p:sp>
      <p:sp>
        <p:nvSpPr>
          <p:cNvPr id="39" name="Text 3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75488"/>
            <a:ext cx="548640" cy="548640"/>
          </a:xfrm>
          <a:prstGeom prst="ellipse">
            <a:avLst/>
          </a:prstGeom>
          <a:solidFill>
            <a:srgbClr val="0078D4"/>
          </a:solidFill>
          <a:ln/>
        </p:spPr>
      </p:sp>
      <p:sp>
        <p:nvSpPr>
          <p:cNvPr id="3" name="Text 1"/>
          <p:cNvSpPr/>
          <p:nvPr/>
        </p:nvSpPr>
        <p:spPr>
          <a:xfrm>
            <a:off x="502920" y="475488"/>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7</a:t>
            </a:r>
            <a:endParaRPr lang="en-US" sz="2200" dirty="0"/>
          </a:p>
        </p:txBody>
      </p:sp>
      <p:sp>
        <p:nvSpPr>
          <p:cNvPr id="4" name="Text 2"/>
          <p:cNvSpPr/>
          <p:nvPr/>
        </p:nvSpPr>
        <p:spPr>
          <a:xfrm>
            <a:off x="1188720" y="530352"/>
            <a:ext cx="3657600" cy="457200"/>
          </a:xfrm>
          <a:prstGeom prst="rect">
            <a:avLst/>
          </a:prstGeom>
          <a:noFill/>
          <a:ln/>
        </p:spPr>
        <p:txBody>
          <a:bodyPr wrap="square" lIns="0" tIns="0" rIns="0" bIns="0" rtlCol="0" anchor="ctr"/>
          <a:lstStyle/>
          <a:p>
            <a:pPr indent="0" marL="0">
              <a:buNone/>
            </a:pPr>
            <a:r>
              <a:rPr lang="en-US" sz="1300" b="1" spc="100" kern="0" dirty="0">
                <a:solidFill>
                  <a:srgbClr val="5F6B7A"/>
                </a:solidFill>
                <a:latin typeface="Calibri" pitchFamily="34" charset="0"/>
                <a:ea typeface="Calibri" pitchFamily="34" charset="-122"/>
                <a:cs typeface="Calibri" pitchFamily="34" charset="-120"/>
              </a:rPr>
              <a:t>STEP 7</a:t>
            </a:r>
            <a:endParaRPr lang="en-US" sz="1300" dirty="0"/>
          </a:p>
        </p:txBody>
      </p:sp>
      <p:sp>
        <p:nvSpPr>
          <p:cNvPr id="5" name="Text 3"/>
          <p:cNvSpPr/>
          <p:nvPr/>
        </p:nvSpPr>
        <p:spPr>
          <a:xfrm>
            <a:off x="502920" y="1207008"/>
            <a:ext cx="11185855"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Special cases and troubleshooting</a:t>
            </a:r>
            <a:endParaRPr lang="en-US" sz="3200" dirty="0"/>
          </a:p>
        </p:txBody>
      </p:sp>
      <p:sp>
        <p:nvSpPr>
          <p:cNvPr id="6" name="Shape 4"/>
          <p:cNvSpPr/>
          <p:nvPr/>
        </p:nvSpPr>
        <p:spPr>
          <a:xfrm>
            <a:off x="502920" y="2057400"/>
            <a:ext cx="5440680" cy="1298448"/>
          </a:xfrm>
          <a:prstGeom prst="roundRect">
            <a:avLst>
              <a:gd name="adj" fmla="val 5634"/>
            </a:avLst>
          </a:prstGeom>
          <a:solidFill>
            <a:srgbClr val="F5F8FB"/>
          </a:solidFill>
          <a:ln w="12700">
            <a:solidFill>
              <a:srgbClr val="DDE7F0"/>
            </a:solidFill>
            <a:prstDash val="solid"/>
          </a:ln>
        </p:spPr>
      </p:sp>
      <p:sp>
        <p:nvSpPr>
          <p:cNvPr id="7" name="Text 5"/>
          <p:cNvSpPr/>
          <p:nvPr/>
        </p:nvSpPr>
        <p:spPr>
          <a:xfrm>
            <a:off x="731520" y="2194560"/>
            <a:ext cx="4983480" cy="365760"/>
          </a:xfrm>
          <a:prstGeom prst="rect">
            <a:avLst/>
          </a:prstGeom>
          <a:noFill/>
          <a:ln/>
        </p:spPr>
        <p:txBody>
          <a:bodyPr wrap="square" lIns="0" tIns="0" rIns="0" bIns="0" rtlCol="0" anchor="ctr"/>
          <a:lstStyle/>
          <a:p>
            <a:pPr indent="0" marL="0">
              <a:buNone/>
            </a:pPr>
            <a:r>
              <a:rPr lang="en-US" sz="1250" b="1" dirty="0">
                <a:solidFill>
                  <a:srgbClr val="1E2761"/>
                </a:solidFill>
                <a:latin typeface="Consolas" pitchFamily="34" charset="0"/>
                <a:ea typeface="Consolas" pitchFamily="34" charset="-122"/>
                <a:cs typeface="Consolas" pitchFamily="34" charset="-120"/>
              </a:rPr>
              <a:t>0x8007001F — Gather data</a:t>
            </a:r>
            <a:endParaRPr lang="en-US" sz="1250" dirty="0"/>
          </a:p>
        </p:txBody>
      </p:sp>
      <p:sp>
        <p:nvSpPr>
          <p:cNvPr id="8" name="Text 6"/>
          <p:cNvSpPr/>
          <p:nvPr/>
        </p:nvSpPr>
        <p:spPr>
          <a:xfrm>
            <a:off x="731520" y="2560320"/>
            <a:ext cx="4983480" cy="731520"/>
          </a:xfrm>
          <a:prstGeom prst="rect">
            <a:avLst/>
          </a:prstGeom>
          <a:noFill/>
          <a:ln/>
        </p:spPr>
        <p:txBody>
          <a:bodyPr wrap="square" lIns="0" tIns="0" rIns="0" bIns="0" rtlCol="0" anchor="ctr"/>
          <a:lstStyle/>
          <a:p>
            <a:pPr indent="0" marL="0">
              <a:lnSpc>
                <a:spcPct val="115000"/>
              </a:lnSpc>
              <a:buNone/>
            </a:pPr>
            <a:r>
              <a:rPr lang="en-US" sz="1080" dirty="0">
                <a:solidFill>
                  <a:srgbClr val="5F6B7A"/>
                </a:solidFill>
                <a:latin typeface="Calibri" pitchFamily="34" charset="0"/>
                <a:ea typeface="Calibri" pitchFamily="34" charset="-122"/>
                <a:cs typeface="Calibri" pitchFamily="34" charset="-120"/>
              </a:rPr>
              <a:t>Duplicate profile in ProfileList. Targeted repair possible via -AllowSetupProfileRepair after safety checks.</a:t>
            </a:r>
            <a:endParaRPr lang="en-US" sz="1080" dirty="0"/>
          </a:p>
        </p:txBody>
      </p:sp>
      <p:sp>
        <p:nvSpPr>
          <p:cNvPr id="9" name="Shape 7"/>
          <p:cNvSpPr/>
          <p:nvPr/>
        </p:nvSpPr>
        <p:spPr>
          <a:xfrm>
            <a:off x="6263640" y="2057400"/>
            <a:ext cx="5440680" cy="1298448"/>
          </a:xfrm>
          <a:prstGeom prst="roundRect">
            <a:avLst>
              <a:gd name="adj" fmla="val 5634"/>
            </a:avLst>
          </a:prstGeom>
          <a:solidFill>
            <a:srgbClr val="F5F8FB"/>
          </a:solidFill>
          <a:ln w="12700">
            <a:solidFill>
              <a:srgbClr val="DDE7F0"/>
            </a:solidFill>
            <a:prstDash val="solid"/>
          </a:ln>
        </p:spPr>
      </p:sp>
      <p:sp>
        <p:nvSpPr>
          <p:cNvPr id="10" name="Text 8"/>
          <p:cNvSpPr/>
          <p:nvPr/>
        </p:nvSpPr>
        <p:spPr>
          <a:xfrm>
            <a:off x="6492240" y="2194560"/>
            <a:ext cx="4983480" cy="365760"/>
          </a:xfrm>
          <a:prstGeom prst="rect">
            <a:avLst/>
          </a:prstGeom>
          <a:noFill/>
          <a:ln/>
        </p:spPr>
        <p:txBody>
          <a:bodyPr wrap="square" lIns="0" tIns="0" rIns="0" bIns="0" rtlCol="0" anchor="ctr"/>
          <a:lstStyle/>
          <a:p>
            <a:pPr indent="0" marL="0">
              <a:buNone/>
            </a:pPr>
            <a:r>
              <a:rPr lang="en-US" sz="1250" b="1" dirty="0">
                <a:solidFill>
                  <a:srgbClr val="1E2761"/>
                </a:solidFill>
                <a:latin typeface="Consolas" pitchFamily="34" charset="0"/>
                <a:ea typeface="Consolas" pitchFamily="34" charset="-122"/>
                <a:cs typeface="Consolas" pitchFamily="34" charset="-120"/>
              </a:rPr>
              <a:t>0x8007000B — Corrupt image</a:t>
            </a:r>
            <a:endParaRPr lang="en-US" sz="1250" dirty="0"/>
          </a:p>
        </p:txBody>
      </p:sp>
      <p:sp>
        <p:nvSpPr>
          <p:cNvPr id="11" name="Text 9"/>
          <p:cNvSpPr/>
          <p:nvPr/>
        </p:nvSpPr>
        <p:spPr>
          <a:xfrm>
            <a:off x="6492240" y="2560320"/>
            <a:ext cx="4983480" cy="731520"/>
          </a:xfrm>
          <a:prstGeom prst="rect">
            <a:avLst/>
          </a:prstGeom>
          <a:noFill/>
          <a:ln/>
        </p:spPr>
        <p:txBody>
          <a:bodyPr wrap="square" lIns="0" tIns="0" rIns="0" bIns="0" rtlCol="0" anchor="ctr"/>
          <a:lstStyle/>
          <a:p>
            <a:pPr indent="0" marL="0">
              <a:lnSpc>
                <a:spcPct val="115000"/>
              </a:lnSpc>
              <a:buNone/>
            </a:pPr>
            <a:r>
              <a:rPr lang="en-US" sz="1080" dirty="0">
                <a:solidFill>
                  <a:srgbClr val="5F6B7A"/>
                </a:solidFill>
                <a:latin typeface="Calibri" pitchFamily="34" charset="0"/>
                <a:ea typeface="Calibri" pitchFamily="34" charset="-122"/>
                <a:cs typeface="Calibri" pitchFamily="34" charset="-120"/>
              </a:rPr>
              <a:t>Invalid WIM/ESD header. The local cache is purged automatically before a new copy.</a:t>
            </a:r>
            <a:endParaRPr lang="en-US" sz="1080" dirty="0"/>
          </a:p>
        </p:txBody>
      </p:sp>
      <p:sp>
        <p:nvSpPr>
          <p:cNvPr id="12" name="Shape 10"/>
          <p:cNvSpPr/>
          <p:nvPr/>
        </p:nvSpPr>
        <p:spPr>
          <a:xfrm>
            <a:off x="502920" y="3502152"/>
            <a:ext cx="5440680" cy="1298448"/>
          </a:xfrm>
          <a:prstGeom prst="roundRect">
            <a:avLst>
              <a:gd name="adj" fmla="val 5634"/>
            </a:avLst>
          </a:prstGeom>
          <a:solidFill>
            <a:srgbClr val="F5F8FB"/>
          </a:solidFill>
          <a:ln w="12700">
            <a:solidFill>
              <a:srgbClr val="DDE7F0"/>
            </a:solidFill>
            <a:prstDash val="solid"/>
          </a:ln>
        </p:spPr>
      </p:sp>
      <p:sp>
        <p:nvSpPr>
          <p:cNvPr id="13" name="Text 11"/>
          <p:cNvSpPr/>
          <p:nvPr/>
        </p:nvSpPr>
        <p:spPr>
          <a:xfrm>
            <a:off x="731520" y="3639312"/>
            <a:ext cx="4983480" cy="365760"/>
          </a:xfrm>
          <a:prstGeom prst="rect">
            <a:avLst/>
          </a:prstGeom>
          <a:noFill/>
          <a:ln/>
        </p:spPr>
        <p:txBody>
          <a:bodyPr wrap="square" lIns="0" tIns="0" rIns="0" bIns="0" rtlCol="0" anchor="ctr"/>
          <a:lstStyle/>
          <a:p>
            <a:pPr indent="0" marL="0">
              <a:buNone/>
            </a:pPr>
            <a:r>
              <a:rPr lang="en-US" sz="1250" b="1" dirty="0">
                <a:solidFill>
                  <a:srgbClr val="1E2761"/>
                </a:solidFill>
                <a:latin typeface="Consolas" pitchFamily="34" charset="0"/>
                <a:ea typeface="Consolas" pitchFamily="34" charset="-122"/>
                <a:cs typeface="Consolas" pitchFamily="34" charset="-120"/>
              </a:rPr>
              <a:t>0x8007007F — Migration plugin</a:t>
            </a:r>
            <a:endParaRPr lang="en-US" sz="1250" dirty="0"/>
          </a:p>
        </p:txBody>
      </p:sp>
      <p:sp>
        <p:nvSpPr>
          <p:cNvPr id="14" name="Text 12"/>
          <p:cNvSpPr/>
          <p:nvPr/>
        </p:nvSpPr>
        <p:spPr>
          <a:xfrm>
            <a:off x="731520" y="4005072"/>
            <a:ext cx="4983480" cy="731520"/>
          </a:xfrm>
          <a:prstGeom prst="rect">
            <a:avLst/>
          </a:prstGeom>
          <a:noFill/>
          <a:ln/>
        </p:spPr>
        <p:txBody>
          <a:bodyPr wrap="square" lIns="0" tIns="0" rIns="0" bIns="0" rtlCol="0" anchor="ctr"/>
          <a:lstStyle/>
          <a:p>
            <a:pPr indent="0" marL="0">
              <a:lnSpc>
                <a:spcPct val="115000"/>
              </a:lnSpc>
              <a:buNone/>
            </a:pPr>
            <a:r>
              <a:rPr lang="en-US" sz="1080" dirty="0">
                <a:solidFill>
                  <a:srgbClr val="5F6B7A"/>
                </a:solidFill>
                <a:latin typeface="Calibri" pitchFamily="34" charset="0"/>
                <a:ea typeface="Calibri" pitchFamily="34" charset="-122"/>
                <a:cs typeface="Calibri" pitchFamily="34" charset="-120"/>
              </a:rPr>
              <a:t>Failure detected via Panther logs (CscMig.dll, WSManMigrationPlugin.dll, ...).</a:t>
            </a:r>
            <a:endParaRPr lang="en-US" sz="1080" dirty="0"/>
          </a:p>
        </p:txBody>
      </p:sp>
      <p:sp>
        <p:nvSpPr>
          <p:cNvPr id="15" name="Shape 13"/>
          <p:cNvSpPr/>
          <p:nvPr/>
        </p:nvSpPr>
        <p:spPr>
          <a:xfrm>
            <a:off x="6263640" y="3502152"/>
            <a:ext cx="5440680" cy="1298448"/>
          </a:xfrm>
          <a:prstGeom prst="roundRect">
            <a:avLst>
              <a:gd name="adj" fmla="val 5634"/>
            </a:avLst>
          </a:prstGeom>
          <a:solidFill>
            <a:srgbClr val="F5F8FB"/>
          </a:solidFill>
          <a:ln w="12700">
            <a:solidFill>
              <a:srgbClr val="DDE7F0"/>
            </a:solidFill>
            <a:prstDash val="solid"/>
          </a:ln>
        </p:spPr>
      </p:sp>
      <p:sp>
        <p:nvSpPr>
          <p:cNvPr id="16" name="Text 14"/>
          <p:cNvSpPr/>
          <p:nvPr/>
        </p:nvSpPr>
        <p:spPr>
          <a:xfrm>
            <a:off x="6492240" y="3639312"/>
            <a:ext cx="4983480" cy="365760"/>
          </a:xfrm>
          <a:prstGeom prst="rect">
            <a:avLst/>
          </a:prstGeom>
          <a:noFill/>
          <a:ln/>
        </p:spPr>
        <p:txBody>
          <a:bodyPr wrap="square" lIns="0" tIns="0" rIns="0" bIns="0" rtlCol="0" anchor="ctr"/>
          <a:lstStyle/>
          <a:p>
            <a:pPr indent="0" marL="0">
              <a:buNone/>
            </a:pPr>
            <a:r>
              <a:rPr lang="en-US" sz="1250" b="1" dirty="0">
                <a:solidFill>
                  <a:srgbClr val="1E2761"/>
                </a:solidFill>
                <a:latin typeface="Consolas" pitchFamily="34" charset="0"/>
                <a:ea typeface="Consolas" pitchFamily="34" charset="-122"/>
                <a:cs typeface="Consolas" pitchFamily="34" charset="-120"/>
              </a:rPr>
              <a:t>INSUFFICIENT_DISK</a:t>
            </a:r>
            <a:endParaRPr lang="en-US" sz="1250" dirty="0"/>
          </a:p>
        </p:txBody>
      </p:sp>
      <p:sp>
        <p:nvSpPr>
          <p:cNvPr id="17" name="Text 15"/>
          <p:cNvSpPr/>
          <p:nvPr/>
        </p:nvSpPr>
        <p:spPr>
          <a:xfrm>
            <a:off x="6492240" y="4005072"/>
            <a:ext cx="4983480" cy="731520"/>
          </a:xfrm>
          <a:prstGeom prst="rect">
            <a:avLst/>
          </a:prstGeom>
          <a:noFill/>
          <a:ln/>
        </p:spPr>
        <p:txBody>
          <a:bodyPr wrap="square" lIns="0" tIns="0" rIns="0" bIns="0" rtlCol="0" anchor="ctr"/>
          <a:lstStyle/>
          <a:p>
            <a:pPr indent="0" marL="0">
              <a:lnSpc>
                <a:spcPct val="115000"/>
              </a:lnSpc>
              <a:buNone/>
            </a:pPr>
            <a:r>
              <a:rPr lang="en-US" sz="1080" dirty="0">
                <a:solidFill>
                  <a:srgbClr val="5F6B7A"/>
                </a:solidFill>
                <a:latin typeface="Calibri" pitchFamily="34" charset="0"/>
                <a:ea typeface="Calibri" pitchFamily="34" charset="-122"/>
                <a:cs typeface="Calibri" pitchFamily="34" charset="-120"/>
              </a:rPr>
              <a:t>Not enough free space before copy or upgrade; -AllowDiskCleanup frees rebuildable caches.</a:t>
            </a:r>
            <a:endParaRPr lang="en-US" sz="1080" dirty="0"/>
          </a:p>
        </p:txBody>
      </p:sp>
      <p:sp>
        <p:nvSpPr>
          <p:cNvPr id="18" name="Shape 16"/>
          <p:cNvSpPr/>
          <p:nvPr/>
        </p:nvSpPr>
        <p:spPr>
          <a:xfrm>
            <a:off x="502920" y="4946904"/>
            <a:ext cx="5440680" cy="1298448"/>
          </a:xfrm>
          <a:prstGeom prst="roundRect">
            <a:avLst>
              <a:gd name="adj" fmla="val 5634"/>
            </a:avLst>
          </a:prstGeom>
          <a:solidFill>
            <a:srgbClr val="F5F8FB"/>
          </a:solidFill>
          <a:ln w="12700">
            <a:solidFill>
              <a:srgbClr val="DDE7F0"/>
            </a:solidFill>
            <a:prstDash val="solid"/>
          </a:ln>
        </p:spPr>
      </p:sp>
      <p:sp>
        <p:nvSpPr>
          <p:cNvPr id="19" name="Text 17"/>
          <p:cNvSpPr/>
          <p:nvPr/>
        </p:nvSpPr>
        <p:spPr>
          <a:xfrm>
            <a:off x="731520" y="5084064"/>
            <a:ext cx="4983480" cy="365760"/>
          </a:xfrm>
          <a:prstGeom prst="rect">
            <a:avLst/>
          </a:prstGeom>
          <a:noFill/>
          <a:ln/>
        </p:spPr>
        <p:txBody>
          <a:bodyPr wrap="square" lIns="0" tIns="0" rIns="0" bIns="0" rtlCol="0" anchor="ctr"/>
          <a:lstStyle/>
          <a:p>
            <a:pPr indent="0" marL="0">
              <a:buNone/>
            </a:pPr>
            <a:r>
              <a:rPr lang="en-US" sz="1250" b="1" dirty="0">
                <a:solidFill>
                  <a:srgbClr val="1E2761"/>
                </a:solidFill>
                <a:latin typeface="Consolas" pitchFamily="34" charset="0"/>
                <a:ea typeface="Consolas" pitchFamily="34" charset="-122"/>
                <a:cs typeface="Consolas" pitchFamily="34" charset="-120"/>
              </a:rPr>
              <a:t>Robocopy exit &gt; 7</a:t>
            </a:r>
            <a:endParaRPr lang="en-US" sz="1250" dirty="0"/>
          </a:p>
        </p:txBody>
      </p:sp>
      <p:sp>
        <p:nvSpPr>
          <p:cNvPr id="20" name="Text 18"/>
          <p:cNvSpPr/>
          <p:nvPr/>
        </p:nvSpPr>
        <p:spPr>
          <a:xfrm>
            <a:off x="731520" y="5449824"/>
            <a:ext cx="4983480" cy="731520"/>
          </a:xfrm>
          <a:prstGeom prst="rect">
            <a:avLst/>
          </a:prstGeom>
          <a:noFill/>
          <a:ln/>
        </p:spPr>
        <p:txBody>
          <a:bodyPr wrap="square" lIns="0" tIns="0" rIns="0" bIns="0" rtlCol="0" anchor="ctr"/>
          <a:lstStyle/>
          <a:p>
            <a:pPr indent="0" marL="0">
              <a:lnSpc>
                <a:spcPct val="115000"/>
              </a:lnSpc>
              <a:buNone/>
            </a:pPr>
            <a:r>
              <a:rPr lang="en-US" sz="1080" dirty="0">
                <a:solidFill>
                  <a:srgbClr val="5F6B7A"/>
                </a:solidFill>
                <a:latin typeface="Calibri" pitchFamily="34" charset="0"/>
                <a:ea typeface="Calibri" pitchFamily="34" charset="-122"/>
                <a:cs typeface="Calibri" pitchFamily="34" charset="-120"/>
              </a:rPr>
              <a:t>Media copy failed; the partial local cache is cleared to avoid an inconsistent WIM.</a:t>
            </a:r>
            <a:endParaRPr lang="en-US" sz="1080" dirty="0"/>
          </a:p>
        </p:txBody>
      </p:sp>
      <p:sp>
        <p:nvSpPr>
          <p:cNvPr id="21" name="Shape 19"/>
          <p:cNvSpPr/>
          <p:nvPr/>
        </p:nvSpPr>
        <p:spPr>
          <a:xfrm>
            <a:off x="6263640" y="4946904"/>
            <a:ext cx="5440680" cy="1298448"/>
          </a:xfrm>
          <a:prstGeom prst="roundRect">
            <a:avLst>
              <a:gd name="adj" fmla="val 5634"/>
            </a:avLst>
          </a:prstGeom>
          <a:solidFill>
            <a:srgbClr val="F5F8FB"/>
          </a:solidFill>
          <a:ln w="12700">
            <a:solidFill>
              <a:srgbClr val="DDE7F0"/>
            </a:solidFill>
            <a:prstDash val="solid"/>
          </a:ln>
        </p:spPr>
      </p:sp>
      <p:sp>
        <p:nvSpPr>
          <p:cNvPr id="22" name="Text 20"/>
          <p:cNvSpPr/>
          <p:nvPr/>
        </p:nvSpPr>
        <p:spPr>
          <a:xfrm>
            <a:off x="6492240" y="5084064"/>
            <a:ext cx="4983480" cy="365760"/>
          </a:xfrm>
          <a:prstGeom prst="rect">
            <a:avLst/>
          </a:prstGeom>
          <a:noFill/>
          <a:ln/>
        </p:spPr>
        <p:txBody>
          <a:bodyPr wrap="square" lIns="0" tIns="0" rIns="0" bIns="0" rtlCol="0" anchor="ctr"/>
          <a:lstStyle/>
          <a:p>
            <a:pPr indent="0" marL="0">
              <a:buNone/>
            </a:pPr>
            <a:r>
              <a:rPr lang="en-US" sz="1250" b="1" dirty="0">
                <a:solidFill>
                  <a:srgbClr val="1E2761"/>
                </a:solidFill>
                <a:latin typeface="Consolas" pitchFamily="34" charset="0"/>
                <a:ea typeface="Consolas" pitchFamily="34" charset="-122"/>
                <a:cs typeface="Consolas" pitchFamily="34" charset="-120"/>
              </a:rPr>
              <a:t>PENDING_REBOOT*</a:t>
            </a:r>
            <a:endParaRPr lang="en-US" sz="1250" dirty="0"/>
          </a:p>
        </p:txBody>
      </p:sp>
      <p:sp>
        <p:nvSpPr>
          <p:cNvPr id="23" name="Text 21"/>
          <p:cNvSpPr/>
          <p:nvPr/>
        </p:nvSpPr>
        <p:spPr>
          <a:xfrm>
            <a:off x="6492240" y="5449824"/>
            <a:ext cx="4983480" cy="731520"/>
          </a:xfrm>
          <a:prstGeom prst="rect">
            <a:avLst/>
          </a:prstGeom>
          <a:noFill/>
          <a:ln/>
        </p:spPr>
        <p:txBody>
          <a:bodyPr wrap="square" lIns="0" tIns="0" rIns="0" bIns="0" rtlCol="0" anchor="ctr"/>
          <a:lstStyle/>
          <a:p>
            <a:pPr indent="0" marL="0">
              <a:lnSpc>
                <a:spcPct val="115000"/>
              </a:lnSpc>
              <a:buNone/>
            </a:pPr>
            <a:r>
              <a:rPr lang="en-US" sz="1080" dirty="0">
                <a:solidFill>
                  <a:srgbClr val="5F6B7A"/>
                </a:solidFill>
                <a:latin typeface="Calibri" pitchFamily="34" charset="0"/>
                <a:ea typeface="Calibri" pitchFamily="34" charset="-122"/>
                <a:cs typeface="Calibri" pitchFamily="34" charset="-120"/>
              </a:rPr>
              <a:t>Pending reboot detected; deferred while a user is connected, unless the uptime threshold is exceeded.</a:t>
            </a:r>
            <a:endParaRPr lang="en-US" sz="1080" dirty="0"/>
          </a:p>
        </p:txBody>
      </p:sp>
      <p:sp>
        <p:nvSpPr>
          <p:cNvPr id="24" name="Text 22"/>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SmartM365 Devices — Windows 11 Upgrade Toolkit</a:t>
            </a:r>
            <a:endParaRPr lang="en-US" sz="900" dirty="0"/>
          </a:p>
        </p:txBody>
      </p:sp>
      <p:sp>
        <p:nvSpPr>
          <p:cNvPr id="25" name="Text 23"/>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2834640" cy="347472"/>
          </a:xfrm>
          <a:prstGeom prst="roundRect">
            <a:avLst>
              <a:gd name="adj" fmla="val 50000"/>
            </a:avLst>
          </a:prstGeom>
          <a:solidFill>
            <a:srgbClr val="E6F4FF"/>
          </a:solidFill>
          <a:ln/>
        </p:spPr>
      </p:sp>
      <p:sp>
        <p:nvSpPr>
          <p:cNvPr id="3" name="Text 1"/>
          <p:cNvSpPr/>
          <p:nvPr/>
        </p:nvSpPr>
        <p:spPr>
          <a:xfrm>
            <a:off x="502920" y="457200"/>
            <a:ext cx="2834640" cy="347472"/>
          </a:xfrm>
          <a:prstGeom prst="rect">
            <a:avLst/>
          </a:prstGeom>
          <a:noFill/>
          <a:ln/>
        </p:spPr>
        <p:txBody>
          <a:bodyPr wrap="square" lIns="0" tIns="0" rIns="0" bIns="0" rtlCol="0" anchor="ctr"/>
          <a:lstStyle/>
          <a:p>
            <a:pPr algn="ctr" indent="0" marL="0">
              <a:buNone/>
            </a:pPr>
            <a:r>
              <a:rPr lang="en-US" sz="1100" b="1" spc="100" kern="0" dirty="0">
                <a:solidFill>
                  <a:srgbClr val="0078D4"/>
                </a:solidFill>
                <a:latin typeface="Calibri" pitchFamily="34" charset="0"/>
                <a:ea typeface="Calibri" pitchFamily="34" charset="-122"/>
                <a:cs typeface="Calibri" pitchFamily="34" charset="-120"/>
              </a:rPr>
              <a:t>RECOMMENDATIONS</a:t>
            </a:r>
            <a:endParaRPr lang="en-US" sz="1100" dirty="0"/>
          </a:p>
        </p:txBody>
      </p:sp>
      <p:sp>
        <p:nvSpPr>
          <p:cNvPr id="4" name="Text 2"/>
          <p:cNvSpPr/>
          <p:nvPr/>
        </p:nvSpPr>
        <p:spPr>
          <a:xfrm>
            <a:off x="502920" y="896112"/>
            <a:ext cx="11185855"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Best practices</a:t>
            </a:r>
            <a:endParaRPr lang="en-US" sz="3200" dirty="0"/>
          </a:p>
        </p:txBody>
      </p:sp>
      <p:sp>
        <p:nvSpPr>
          <p:cNvPr id="5" name="Shape 3"/>
          <p:cNvSpPr/>
          <p:nvPr/>
        </p:nvSpPr>
        <p:spPr>
          <a:xfrm>
            <a:off x="502920" y="1783080"/>
            <a:ext cx="3611880" cy="1965960"/>
          </a:xfrm>
          <a:prstGeom prst="roundRect">
            <a:avLst>
              <a:gd name="adj" fmla="val 4651"/>
            </a:avLst>
          </a:prstGeom>
          <a:solidFill>
            <a:srgbClr val="1E2761"/>
          </a:solidFill>
          <a:ln w="12700">
            <a:solidFill>
              <a:srgbClr val="1E2761"/>
            </a:solidFill>
            <a:prstDash val="solid"/>
          </a:ln>
        </p:spPr>
      </p:sp>
      <p:sp>
        <p:nvSpPr>
          <p:cNvPr id="6" name="Shape 4"/>
          <p:cNvSpPr/>
          <p:nvPr/>
        </p:nvSpPr>
        <p:spPr>
          <a:xfrm>
            <a:off x="758952" y="2039112"/>
            <a:ext cx="457200" cy="457200"/>
          </a:xfrm>
          <a:prstGeom prst="roundRect">
            <a:avLst>
              <a:gd name="adj" fmla="val 20000"/>
            </a:avLst>
          </a:prstGeom>
          <a:solidFill>
            <a:srgbClr val="2A3576"/>
          </a:solidFill>
          <a:ln/>
        </p:spPr>
      </p:sp>
      <p:sp>
        <p:nvSpPr>
          <p:cNvPr id="7" name="Text 5"/>
          <p:cNvSpPr/>
          <p:nvPr/>
        </p:nvSpPr>
        <p:spPr>
          <a:xfrm>
            <a:off x="758952" y="203911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8" name="Text 6"/>
          <p:cNvSpPr/>
          <p:nvPr/>
        </p:nvSpPr>
        <p:spPr>
          <a:xfrm>
            <a:off x="758952" y="2624328"/>
            <a:ext cx="3099816"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Inventory precheck</a:t>
            </a:r>
            <a:endParaRPr lang="en-US" sz="1400" dirty="0"/>
          </a:p>
        </p:txBody>
      </p:sp>
      <p:sp>
        <p:nvSpPr>
          <p:cNvPr id="9" name="Text 7"/>
          <p:cNvSpPr/>
          <p:nvPr/>
        </p:nvSpPr>
        <p:spPr>
          <a:xfrm>
            <a:off x="758952" y="3081528"/>
            <a:ext cx="3099816" cy="594360"/>
          </a:xfrm>
          <a:prstGeom prst="rect">
            <a:avLst/>
          </a:prstGeom>
          <a:noFill/>
          <a:ln/>
        </p:spPr>
        <p:txBody>
          <a:bodyPr wrap="square" lIns="0" tIns="0" rIns="0" bIns="0" rtlCol="0" anchor="ctr"/>
          <a:lstStyle/>
          <a:p>
            <a:pPr indent="0" marL="0">
              <a:lnSpc>
                <a:spcPct val="115000"/>
              </a:lnSpc>
              <a:buNone/>
            </a:pPr>
            <a:r>
              <a:rPr lang="en-US" sz="1080" dirty="0">
                <a:solidFill>
                  <a:srgbClr val="C7D0F0"/>
                </a:solidFill>
                <a:latin typeface="Calibri" pitchFamily="34" charset="0"/>
                <a:ea typeface="Calibri" pitchFamily="34" charset="-122"/>
                <a:cs typeface="Calibri" pitchFamily="34" charset="-120"/>
              </a:rPr>
              <a:t>Load/refresh the Intune then AD inventory before each cycle to exclude devices already on Windows 11.</a:t>
            </a:r>
            <a:endParaRPr lang="en-US" sz="1080" dirty="0"/>
          </a:p>
        </p:txBody>
      </p:sp>
      <p:sp>
        <p:nvSpPr>
          <p:cNvPr id="10" name="Shape 8"/>
          <p:cNvSpPr/>
          <p:nvPr/>
        </p:nvSpPr>
        <p:spPr>
          <a:xfrm>
            <a:off x="4370832" y="1783080"/>
            <a:ext cx="3611880" cy="1965960"/>
          </a:xfrm>
          <a:prstGeom prst="roundRect">
            <a:avLst>
              <a:gd name="adj" fmla="val 4651"/>
            </a:avLst>
          </a:prstGeom>
          <a:solidFill>
            <a:srgbClr val="F5F8FB"/>
          </a:solidFill>
          <a:ln w="12700">
            <a:solidFill>
              <a:srgbClr val="DDE7F0"/>
            </a:solidFill>
            <a:prstDash val="solid"/>
          </a:ln>
        </p:spPr>
      </p:sp>
      <p:sp>
        <p:nvSpPr>
          <p:cNvPr id="11" name="Shape 9"/>
          <p:cNvSpPr/>
          <p:nvPr/>
        </p:nvSpPr>
        <p:spPr>
          <a:xfrm>
            <a:off x="4626864" y="2039112"/>
            <a:ext cx="457200" cy="457200"/>
          </a:xfrm>
          <a:prstGeom prst="roundRect">
            <a:avLst>
              <a:gd name="adj" fmla="val 20000"/>
            </a:avLst>
          </a:prstGeom>
          <a:solidFill>
            <a:srgbClr val="CADCFC"/>
          </a:solidFill>
          <a:ln/>
        </p:spPr>
      </p:sp>
      <p:sp>
        <p:nvSpPr>
          <p:cNvPr id="12" name="Text 10"/>
          <p:cNvSpPr/>
          <p:nvPr/>
        </p:nvSpPr>
        <p:spPr>
          <a:xfrm>
            <a:off x="4626864" y="2039112"/>
            <a:ext cx="457200" cy="457200"/>
          </a:xfrm>
          <a:prstGeom prst="rect">
            <a:avLst/>
          </a:prstGeom>
          <a:noFill/>
          <a:ln/>
        </p:spPr>
        <p:txBody>
          <a:bodyPr wrap="square" lIns="0" tIns="0" rIns="0" bIns="0" rtlCol="0" anchor="ctr"/>
          <a:lstStyle/>
          <a:p>
            <a:pPr algn="ctr" indent="0" marL="0">
              <a:buNone/>
            </a:pPr>
            <a:r>
              <a:rPr lang="en-US" sz="1700" b="1" dirty="0">
                <a:solidFill>
                  <a:srgbClr val="1E2761"/>
                </a:solidFill>
                <a:latin typeface="Calibri" pitchFamily="34" charset="0"/>
                <a:ea typeface="Calibri" pitchFamily="34" charset="-122"/>
                <a:cs typeface="Calibri" pitchFamily="34" charset="-120"/>
              </a:rPr>
              <a:t>2</a:t>
            </a:r>
            <a:endParaRPr lang="en-US" sz="1700" dirty="0"/>
          </a:p>
        </p:txBody>
      </p:sp>
      <p:sp>
        <p:nvSpPr>
          <p:cNvPr id="13" name="Text 11"/>
          <p:cNvSpPr/>
          <p:nvPr/>
        </p:nvSpPr>
        <p:spPr>
          <a:xfrm>
            <a:off x="4626864" y="2624328"/>
            <a:ext cx="3099816" cy="50292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-AuditOnly first</a:t>
            </a:r>
            <a:endParaRPr lang="en-US" sz="1400" dirty="0"/>
          </a:p>
        </p:txBody>
      </p:sp>
      <p:sp>
        <p:nvSpPr>
          <p:cNvPr id="14" name="Text 12"/>
          <p:cNvSpPr/>
          <p:nvPr/>
        </p:nvSpPr>
        <p:spPr>
          <a:xfrm>
            <a:off x="4626864" y="3081528"/>
            <a:ext cx="3099816" cy="594360"/>
          </a:xfrm>
          <a:prstGeom prst="rect">
            <a:avLst/>
          </a:prstGeom>
          <a:noFill/>
          <a:ln/>
        </p:spPr>
        <p:txBody>
          <a:bodyPr wrap="square" lIns="0" tIns="0" rIns="0" bIns="0" rtlCol="0" anchor="ctr"/>
          <a:lstStyle/>
          <a:p>
            <a:pPr indent="0" marL="0">
              <a:lnSpc>
                <a:spcPct val="115000"/>
              </a:lnSpc>
              <a:buNone/>
            </a:pPr>
            <a:r>
              <a:rPr lang="en-US" sz="1080" dirty="0">
                <a:solidFill>
                  <a:srgbClr val="5F6B7A"/>
                </a:solidFill>
                <a:latin typeface="Calibri" pitchFamily="34" charset="0"/>
                <a:ea typeface="Calibri" pitchFamily="34" charset="-122"/>
                <a:cs typeface="Calibri" pitchFamily="34" charset="-120"/>
              </a:rPr>
              <a:t>Validate diagnostics on a sample before enabling corrective actions across the whole LOT.</a:t>
            </a:r>
            <a:endParaRPr lang="en-US" sz="1080" dirty="0"/>
          </a:p>
        </p:txBody>
      </p:sp>
      <p:sp>
        <p:nvSpPr>
          <p:cNvPr id="15" name="Shape 13"/>
          <p:cNvSpPr/>
          <p:nvPr/>
        </p:nvSpPr>
        <p:spPr>
          <a:xfrm>
            <a:off x="8238744" y="1783080"/>
            <a:ext cx="3611880" cy="1965960"/>
          </a:xfrm>
          <a:prstGeom prst="roundRect">
            <a:avLst>
              <a:gd name="adj" fmla="val 4651"/>
            </a:avLst>
          </a:prstGeom>
          <a:solidFill>
            <a:srgbClr val="1E2761"/>
          </a:solidFill>
          <a:ln w="12700">
            <a:solidFill>
              <a:srgbClr val="1E2761"/>
            </a:solidFill>
            <a:prstDash val="solid"/>
          </a:ln>
        </p:spPr>
      </p:sp>
      <p:sp>
        <p:nvSpPr>
          <p:cNvPr id="16" name="Shape 14"/>
          <p:cNvSpPr/>
          <p:nvPr/>
        </p:nvSpPr>
        <p:spPr>
          <a:xfrm>
            <a:off x="8494776" y="2039112"/>
            <a:ext cx="457200" cy="457200"/>
          </a:xfrm>
          <a:prstGeom prst="roundRect">
            <a:avLst>
              <a:gd name="adj" fmla="val 20000"/>
            </a:avLst>
          </a:prstGeom>
          <a:solidFill>
            <a:srgbClr val="2A3576"/>
          </a:solidFill>
          <a:ln/>
        </p:spPr>
      </p:sp>
      <p:sp>
        <p:nvSpPr>
          <p:cNvPr id="17" name="Text 15"/>
          <p:cNvSpPr/>
          <p:nvPr/>
        </p:nvSpPr>
        <p:spPr>
          <a:xfrm>
            <a:off x="8494776" y="203911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8" name="Text 16"/>
          <p:cNvSpPr/>
          <p:nvPr/>
        </p:nvSpPr>
        <p:spPr>
          <a:xfrm>
            <a:off x="8494776" y="2624328"/>
            <a:ext cx="3099816"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Global concurrency</a:t>
            </a:r>
            <a:endParaRPr lang="en-US" sz="1400" dirty="0"/>
          </a:p>
        </p:txBody>
      </p:sp>
      <p:sp>
        <p:nvSpPr>
          <p:cNvPr id="19" name="Text 17"/>
          <p:cNvSpPr/>
          <p:nvPr/>
        </p:nvSpPr>
        <p:spPr>
          <a:xfrm>
            <a:off x="8494776" y="3081528"/>
            <a:ext cx="3099816" cy="594360"/>
          </a:xfrm>
          <a:prstGeom prst="rect">
            <a:avLst/>
          </a:prstGeom>
          <a:noFill/>
          <a:ln/>
        </p:spPr>
        <p:txBody>
          <a:bodyPr wrap="square" lIns="0" tIns="0" rIns="0" bIns="0" rtlCol="0" anchor="ctr"/>
          <a:lstStyle/>
          <a:p>
            <a:pPr indent="0" marL="0">
              <a:lnSpc>
                <a:spcPct val="115000"/>
              </a:lnSpc>
              <a:buNone/>
            </a:pPr>
            <a:r>
              <a:rPr lang="en-US" sz="1080" dirty="0">
                <a:solidFill>
                  <a:srgbClr val="C7D0F0"/>
                </a:solidFill>
                <a:latin typeface="Calibri" pitchFamily="34" charset="0"/>
                <a:ea typeface="Calibri" pitchFamily="34" charset="-122"/>
                <a:cs typeface="Calibri" pitchFamily="34" charset="-120"/>
              </a:rPr>
              <a:t>The W11UT_GLOBAL_CONCURRENCY_LIMIT gate shares the limit across multiple LOT windows open in parallel.</a:t>
            </a:r>
            <a:endParaRPr lang="en-US" sz="1080" dirty="0"/>
          </a:p>
        </p:txBody>
      </p:sp>
      <p:sp>
        <p:nvSpPr>
          <p:cNvPr id="20" name="Shape 18"/>
          <p:cNvSpPr/>
          <p:nvPr/>
        </p:nvSpPr>
        <p:spPr>
          <a:xfrm>
            <a:off x="502920" y="3977640"/>
            <a:ext cx="3611880" cy="1965960"/>
          </a:xfrm>
          <a:prstGeom prst="roundRect">
            <a:avLst>
              <a:gd name="adj" fmla="val 4651"/>
            </a:avLst>
          </a:prstGeom>
          <a:solidFill>
            <a:srgbClr val="F5F8FB"/>
          </a:solidFill>
          <a:ln w="12700">
            <a:solidFill>
              <a:srgbClr val="DDE7F0"/>
            </a:solidFill>
            <a:prstDash val="solid"/>
          </a:ln>
        </p:spPr>
      </p:sp>
      <p:sp>
        <p:nvSpPr>
          <p:cNvPr id="21" name="Shape 19"/>
          <p:cNvSpPr/>
          <p:nvPr/>
        </p:nvSpPr>
        <p:spPr>
          <a:xfrm>
            <a:off x="758952" y="4233672"/>
            <a:ext cx="457200" cy="457200"/>
          </a:xfrm>
          <a:prstGeom prst="roundRect">
            <a:avLst>
              <a:gd name="adj" fmla="val 20000"/>
            </a:avLst>
          </a:prstGeom>
          <a:solidFill>
            <a:srgbClr val="CADCFC"/>
          </a:solidFill>
          <a:ln/>
        </p:spPr>
      </p:sp>
      <p:sp>
        <p:nvSpPr>
          <p:cNvPr id="22" name="Text 20"/>
          <p:cNvSpPr/>
          <p:nvPr/>
        </p:nvSpPr>
        <p:spPr>
          <a:xfrm>
            <a:off x="758952" y="4233672"/>
            <a:ext cx="457200" cy="457200"/>
          </a:xfrm>
          <a:prstGeom prst="rect">
            <a:avLst/>
          </a:prstGeom>
          <a:noFill/>
          <a:ln/>
        </p:spPr>
        <p:txBody>
          <a:bodyPr wrap="square" lIns="0" tIns="0" rIns="0" bIns="0" rtlCol="0" anchor="ctr"/>
          <a:lstStyle/>
          <a:p>
            <a:pPr algn="ctr" indent="0" marL="0">
              <a:buNone/>
            </a:pPr>
            <a:r>
              <a:rPr lang="en-US" sz="1700" b="1" dirty="0">
                <a:solidFill>
                  <a:srgbClr val="1E2761"/>
                </a:solidFill>
                <a:latin typeface="Calibri" pitchFamily="34" charset="0"/>
                <a:ea typeface="Calibri" pitchFamily="34" charset="-122"/>
                <a:cs typeface="Calibri" pitchFamily="34" charset="-120"/>
              </a:rPr>
              <a:t>4</a:t>
            </a:r>
            <a:endParaRPr lang="en-US" sz="1700" dirty="0"/>
          </a:p>
        </p:txBody>
      </p:sp>
      <p:sp>
        <p:nvSpPr>
          <p:cNvPr id="23" name="Text 21"/>
          <p:cNvSpPr/>
          <p:nvPr/>
        </p:nvSpPr>
        <p:spPr>
          <a:xfrm>
            <a:off x="758952" y="4818888"/>
            <a:ext cx="3099816" cy="50292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Controlled bandwidth</a:t>
            </a:r>
            <a:endParaRPr lang="en-US" sz="1400" dirty="0"/>
          </a:p>
        </p:txBody>
      </p:sp>
      <p:sp>
        <p:nvSpPr>
          <p:cNvPr id="24" name="Text 22"/>
          <p:cNvSpPr/>
          <p:nvPr/>
        </p:nvSpPr>
        <p:spPr>
          <a:xfrm>
            <a:off x="758952" y="5276088"/>
            <a:ext cx="3099816" cy="594360"/>
          </a:xfrm>
          <a:prstGeom prst="rect">
            <a:avLst/>
          </a:prstGeom>
          <a:noFill/>
          <a:ln/>
        </p:spPr>
        <p:txBody>
          <a:bodyPr wrap="square" lIns="0" tIns="0" rIns="0" bIns="0" rtlCol="0" anchor="ctr"/>
          <a:lstStyle/>
          <a:p>
            <a:pPr indent="0" marL="0">
              <a:lnSpc>
                <a:spcPct val="115000"/>
              </a:lnSpc>
              <a:buNone/>
            </a:pPr>
            <a:r>
              <a:rPr lang="en-US" sz="1080" dirty="0">
                <a:solidFill>
                  <a:srgbClr val="5F6B7A"/>
                </a:solidFill>
                <a:latin typeface="Calibri" pitchFamily="34" charset="0"/>
                <a:ea typeface="Calibri" pitchFamily="34" charset="-122"/>
                <a:cs typeface="Calibri" pitchFamily="34" charset="-120"/>
              </a:rPr>
              <a:t>Keep the default media-copy IPG/jitter values to spread out network load.</a:t>
            </a:r>
            <a:endParaRPr lang="en-US" sz="1080" dirty="0"/>
          </a:p>
        </p:txBody>
      </p:sp>
      <p:sp>
        <p:nvSpPr>
          <p:cNvPr id="25" name="Shape 23"/>
          <p:cNvSpPr/>
          <p:nvPr/>
        </p:nvSpPr>
        <p:spPr>
          <a:xfrm>
            <a:off x="4370832" y="3977640"/>
            <a:ext cx="3611880" cy="1965960"/>
          </a:xfrm>
          <a:prstGeom prst="roundRect">
            <a:avLst>
              <a:gd name="adj" fmla="val 4651"/>
            </a:avLst>
          </a:prstGeom>
          <a:solidFill>
            <a:srgbClr val="1E2761"/>
          </a:solidFill>
          <a:ln w="12700">
            <a:solidFill>
              <a:srgbClr val="1E2761"/>
            </a:solidFill>
            <a:prstDash val="solid"/>
          </a:ln>
        </p:spPr>
      </p:sp>
      <p:sp>
        <p:nvSpPr>
          <p:cNvPr id="26" name="Shape 24"/>
          <p:cNvSpPr/>
          <p:nvPr/>
        </p:nvSpPr>
        <p:spPr>
          <a:xfrm>
            <a:off x="4626864" y="4233672"/>
            <a:ext cx="457200" cy="457200"/>
          </a:xfrm>
          <a:prstGeom prst="roundRect">
            <a:avLst>
              <a:gd name="adj" fmla="val 20000"/>
            </a:avLst>
          </a:prstGeom>
          <a:solidFill>
            <a:srgbClr val="2A3576"/>
          </a:solidFill>
          <a:ln/>
        </p:spPr>
      </p:sp>
      <p:sp>
        <p:nvSpPr>
          <p:cNvPr id="27" name="Text 25"/>
          <p:cNvSpPr/>
          <p:nvPr/>
        </p:nvSpPr>
        <p:spPr>
          <a:xfrm>
            <a:off x="4626864" y="423367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28" name="Text 26"/>
          <p:cNvSpPr/>
          <p:nvPr/>
        </p:nvSpPr>
        <p:spPr>
          <a:xfrm>
            <a:off x="4626864" y="4818888"/>
            <a:ext cx="3099816"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SHA256 manifest</a:t>
            </a:r>
            <a:endParaRPr lang="en-US" sz="1400" dirty="0"/>
          </a:p>
        </p:txBody>
      </p:sp>
      <p:sp>
        <p:nvSpPr>
          <p:cNvPr id="29" name="Text 27"/>
          <p:cNvSpPr/>
          <p:nvPr/>
        </p:nvSpPr>
        <p:spPr>
          <a:xfrm>
            <a:off x="4626864" y="5276088"/>
            <a:ext cx="3099816" cy="594360"/>
          </a:xfrm>
          <a:prstGeom prst="rect">
            <a:avLst/>
          </a:prstGeom>
          <a:noFill/>
          <a:ln/>
        </p:spPr>
        <p:txBody>
          <a:bodyPr wrap="square" lIns="0" tIns="0" rIns="0" bIns="0" rtlCol="0" anchor="ctr"/>
          <a:lstStyle/>
          <a:p>
            <a:pPr indent="0" marL="0">
              <a:lnSpc>
                <a:spcPct val="115000"/>
              </a:lnSpc>
              <a:buNone/>
            </a:pPr>
            <a:r>
              <a:rPr lang="en-US" sz="1080" dirty="0">
                <a:solidFill>
                  <a:srgbClr val="C7D0F0"/>
                </a:solidFill>
                <a:latin typeface="Calibri" pitchFamily="34" charset="0"/>
                <a:ea typeface="Calibri" pitchFamily="34" charset="-122"/>
                <a:cs typeface="Calibri" pitchFamily="34" charset="-120"/>
              </a:rPr>
              <a:t>Generate and publish the manifest on every media update to detect corruption.</a:t>
            </a:r>
            <a:endParaRPr lang="en-US" sz="1080" dirty="0"/>
          </a:p>
        </p:txBody>
      </p:sp>
      <p:sp>
        <p:nvSpPr>
          <p:cNvPr id="30" name="Shape 28"/>
          <p:cNvSpPr/>
          <p:nvPr/>
        </p:nvSpPr>
        <p:spPr>
          <a:xfrm>
            <a:off x="8238744" y="3977640"/>
            <a:ext cx="3611880" cy="1965960"/>
          </a:xfrm>
          <a:prstGeom prst="roundRect">
            <a:avLst>
              <a:gd name="adj" fmla="val 4651"/>
            </a:avLst>
          </a:prstGeom>
          <a:solidFill>
            <a:srgbClr val="F5F8FB"/>
          </a:solidFill>
          <a:ln w="12700">
            <a:solidFill>
              <a:srgbClr val="DDE7F0"/>
            </a:solidFill>
            <a:prstDash val="solid"/>
          </a:ln>
        </p:spPr>
      </p:sp>
      <p:sp>
        <p:nvSpPr>
          <p:cNvPr id="31" name="Shape 29"/>
          <p:cNvSpPr/>
          <p:nvPr/>
        </p:nvSpPr>
        <p:spPr>
          <a:xfrm>
            <a:off x="8494776" y="4233672"/>
            <a:ext cx="457200" cy="457200"/>
          </a:xfrm>
          <a:prstGeom prst="roundRect">
            <a:avLst>
              <a:gd name="adj" fmla="val 20000"/>
            </a:avLst>
          </a:prstGeom>
          <a:solidFill>
            <a:srgbClr val="CADCFC"/>
          </a:solidFill>
          <a:ln/>
        </p:spPr>
      </p:sp>
      <p:sp>
        <p:nvSpPr>
          <p:cNvPr id="32" name="Text 30"/>
          <p:cNvSpPr/>
          <p:nvPr/>
        </p:nvSpPr>
        <p:spPr>
          <a:xfrm>
            <a:off x="8494776" y="4233672"/>
            <a:ext cx="457200" cy="457200"/>
          </a:xfrm>
          <a:prstGeom prst="rect">
            <a:avLst/>
          </a:prstGeom>
          <a:noFill/>
          <a:ln/>
        </p:spPr>
        <p:txBody>
          <a:bodyPr wrap="square" lIns="0" tIns="0" rIns="0" bIns="0" rtlCol="0" anchor="ctr"/>
          <a:lstStyle/>
          <a:p>
            <a:pPr algn="ctr" indent="0" marL="0">
              <a:buNone/>
            </a:pPr>
            <a:r>
              <a:rPr lang="en-US" sz="1700" b="1" dirty="0">
                <a:solidFill>
                  <a:srgbClr val="1E2761"/>
                </a:solidFill>
                <a:latin typeface="Calibri" pitchFamily="34" charset="0"/>
                <a:ea typeface="Calibri" pitchFamily="34" charset="-122"/>
                <a:cs typeface="Calibri" pitchFamily="34" charset="-120"/>
              </a:rPr>
              <a:t>6</a:t>
            </a:r>
            <a:endParaRPr lang="en-US" sz="1700" dirty="0"/>
          </a:p>
        </p:txBody>
      </p:sp>
      <p:sp>
        <p:nvSpPr>
          <p:cNvPr id="33" name="Text 31"/>
          <p:cNvSpPr/>
          <p:nvPr/>
        </p:nvSpPr>
        <p:spPr>
          <a:xfrm>
            <a:off x="8494776" y="4818888"/>
            <a:ext cx="3099816" cy="50292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Never commit</a:t>
            </a:r>
            <a:endParaRPr lang="en-US" sz="1400" dirty="0"/>
          </a:p>
        </p:txBody>
      </p:sp>
      <p:sp>
        <p:nvSpPr>
          <p:cNvPr id="34" name="Text 32"/>
          <p:cNvSpPr/>
          <p:nvPr/>
        </p:nvSpPr>
        <p:spPr>
          <a:xfrm>
            <a:off x="8494776" y="5276088"/>
            <a:ext cx="3099816" cy="594360"/>
          </a:xfrm>
          <a:prstGeom prst="rect">
            <a:avLst/>
          </a:prstGeom>
          <a:noFill/>
          <a:ln/>
        </p:spPr>
        <p:txBody>
          <a:bodyPr wrap="square" lIns="0" tIns="0" rIns="0" bIns="0" rtlCol="0" anchor="ctr"/>
          <a:lstStyle/>
          <a:p>
            <a:pPr indent="0" marL="0">
              <a:lnSpc>
                <a:spcPct val="115000"/>
              </a:lnSpc>
              <a:buNone/>
            </a:pPr>
            <a:r>
              <a:rPr lang="en-US" sz="1080" dirty="0">
                <a:solidFill>
                  <a:srgbClr val="5F6B7A"/>
                </a:solidFill>
                <a:latin typeface="Calibri" pitchFamily="34" charset="0"/>
                <a:ea typeface="Calibri" pitchFamily="34" charset="-122"/>
                <a:cs typeface="Calibri" pitchFamily="34" charset="-120"/>
              </a:rPr>
              <a:t>Real Computers.txt files, setup media, PsExec/CentralLogs, and *.local.json files stay out of Git.</a:t>
            </a:r>
            <a:endParaRPr lang="en-US" sz="1080" dirty="0"/>
          </a:p>
        </p:txBody>
      </p:sp>
      <p:sp>
        <p:nvSpPr>
          <p:cNvPr id="35" name="Text 33"/>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SmartM365 Devices — Windows 11 Upgrade Toolkit</a:t>
            </a:r>
            <a:endParaRPr lang="en-US" sz="900" dirty="0"/>
          </a:p>
        </p:txBody>
      </p:sp>
      <p:sp>
        <p:nvSpPr>
          <p:cNvPr id="36" name="Text 34"/>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2834640" cy="347472"/>
          </a:xfrm>
          <a:prstGeom prst="roundRect">
            <a:avLst>
              <a:gd name="adj" fmla="val 50000"/>
            </a:avLst>
          </a:prstGeom>
          <a:solidFill>
            <a:srgbClr val="E6F4FF"/>
          </a:solidFill>
          <a:ln/>
        </p:spPr>
      </p:sp>
      <p:sp>
        <p:nvSpPr>
          <p:cNvPr id="3" name="Text 1"/>
          <p:cNvSpPr/>
          <p:nvPr/>
        </p:nvSpPr>
        <p:spPr>
          <a:xfrm>
            <a:off x="502920" y="457200"/>
            <a:ext cx="2834640" cy="347472"/>
          </a:xfrm>
          <a:prstGeom prst="rect">
            <a:avLst/>
          </a:prstGeom>
          <a:noFill/>
          <a:ln/>
        </p:spPr>
        <p:txBody>
          <a:bodyPr wrap="square" lIns="0" tIns="0" rIns="0" bIns="0" rtlCol="0" anchor="ctr"/>
          <a:lstStyle/>
          <a:p>
            <a:pPr algn="ctr" indent="0" marL="0">
              <a:buNone/>
            </a:pPr>
            <a:r>
              <a:rPr lang="en-US" sz="1100" b="1" spc="100" kern="0" dirty="0">
                <a:solidFill>
                  <a:srgbClr val="0078D4"/>
                </a:solidFill>
                <a:latin typeface="Calibri" pitchFamily="34" charset="0"/>
                <a:ea typeface="Calibri" pitchFamily="34" charset="-122"/>
                <a:cs typeface="Calibri" pitchFamily="34" charset="-120"/>
              </a:rPr>
              <a:t>ANNEX</a:t>
            </a:r>
            <a:endParaRPr lang="en-US" sz="1100" dirty="0"/>
          </a:p>
        </p:txBody>
      </p:sp>
      <p:sp>
        <p:nvSpPr>
          <p:cNvPr id="4" name="Text 2"/>
          <p:cNvSpPr/>
          <p:nvPr/>
        </p:nvSpPr>
        <p:spPr>
          <a:xfrm>
            <a:off x="502920" y="896112"/>
            <a:ext cx="11185855"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Manual configuration (.config file)</a:t>
            </a:r>
            <a:endParaRPr lang="en-US" sz="3200" dirty="0"/>
          </a:p>
        </p:txBody>
      </p:sp>
      <p:sp>
        <p:nvSpPr>
          <p:cNvPr id="5" name="Text 3"/>
          <p:cNvSpPr/>
          <p:nvPr/>
        </p:nvSpPr>
        <p:spPr>
          <a:xfrm>
            <a:off x="502920" y="1783080"/>
            <a:ext cx="11155680" cy="45720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For LOT runs without the GUI, copy the template then set a setup source reachable by the targets.</a:t>
            </a:r>
            <a:endParaRPr lang="en-US" sz="1350" dirty="0"/>
          </a:p>
        </p:txBody>
      </p:sp>
      <p:sp>
        <p:nvSpPr>
          <p:cNvPr id="6" name="Shape 4"/>
          <p:cNvSpPr/>
          <p:nvPr/>
        </p:nvSpPr>
        <p:spPr>
          <a:xfrm>
            <a:off x="502920" y="2331720"/>
            <a:ext cx="5623560" cy="1417320"/>
          </a:xfrm>
          <a:prstGeom prst="roundRect">
            <a:avLst>
              <a:gd name="adj" fmla="val 5161"/>
            </a:avLst>
          </a:prstGeom>
          <a:solidFill>
            <a:srgbClr val="0B1030"/>
          </a:solidFill>
          <a:ln/>
        </p:spPr>
      </p:sp>
      <p:sp>
        <p:nvSpPr>
          <p:cNvPr id="7" name="Text 5"/>
          <p:cNvSpPr/>
          <p:nvPr/>
        </p:nvSpPr>
        <p:spPr>
          <a:xfrm>
            <a:off x="731520" y="2468880"/>
            <a:ext cx="5166360" cy="1143000"/>
          </a:xfrm>
          <a:prstGeom prst="rect">
            <a:avLst/>
          </a:prstGeom>
          <a:noFill/>
          <a:ln/>
        </p:spPr>
        <p:txBody>
          <a:bodyPr wrap="square" lIns="0" tIns="0" rIns="0" bIns="0" rtlCol="0" anchor="ctr"/>
          <a:lstStyle/>
          <a:p>
            <a:pPr indent="0" marL="0">
              <a:lnSpc>
                <a:spcPct val="115000"/>
              </a:lnSpc>
              <a:buNone/>
            </a:pPr>
            <a:r>
              <a:rPr lang="en-US" sz="1050" dirty="0">
                <a:solidFill>
                  <a:srgbClr val="9EE6B8"/>
                </a:solidFill>
                <a:latin typeface="Consolas" pitchFamily="34" charset="0"/>
                <a:ea typeface="Consolas" pitchFamily="34" charset="-122"/>
                <a:cs typeface="Consolas" pitchFamily="34" charset="-120"/>
              </a:rPr>
              <a:t>copy Windows11UpgradeToolkit.config.template ^
</a:t>
            </a:r>
            <a:pPr indent="0" marL="0">
              <a:lnSpc>
                <a:spcPct val="115000"/>
              </a:lnSpc>
              <a:buNone/>
            </a:pPr>
            <a:r>
              <a:rPr lang="en-US" sz="1050" dirty="0">
                <a:solidFill>
                  <a:srgbClr val="9EE6B8"/>
                </a:solidFill>
                <a:latin typeface="Consolas" pitchFamily="34" charset="0"/>
                <a:ea typeface="Consolas" pitchFamily="34" charset="-122"/>
                <a:cs typeface="Consolas" pitchFamily="34" charset="-120"/>
              </a:rPr>
              <a:t>     Windows11UpgradeToolkit.config
</a:t>
            </a:r>
            <a:pPr indent="0" marL="0">
              <a:lnSpc>
                <a:spcPct val="115000"/>
              </a:lnSpc>
              <a:buNone/>
            </a:pPr>
            <a:r>
              <a:rPr lang="en-US" sz="1050" dirty="0">
                <a:solidFill>
                  <a:srgbClr val="7FD1FF"/>
                </a:solidFill>
                <a:latin typeface="Consolas" pitchFamily="34" charset="0"/>
                <a:ea typeface="Consolas" pitchFamily="34" charset="-122"/>
                <a:cs typeface="Consolas" pitchFamily="34" charset="-120"/>
              </a:rPr>
              <a:t>W11UT_SETUP_SOURCE=\\server\share\Windows11
</a:t>
            </a:r>
            <a:pPr indent="0" marL="0">
              <a:lnSpc>
                <a:spcPct val="115000"/>
              </a:lnSpc>
              <a:buNone/>
            </a:pPr>
            <a:r>
              <a:rPr lang="en-US" sz="1050" dirty="0">
                <a:solidFill>
                  <a:srgbClr val="7FD1FF"/>
                </a:solidFill>
                <a:latin typeface="Consolas" pitchFamily="34" charset="0"/>
                <a:ea typeface="Consolas" pitchFamily="34" charset="-122"/>
                <a:cs typeface="Consolas" pitchFamily="34" charset="-120"/>
              </a:rPr>
              <a:t>W11UT_SETUP_DYNAMIC_UPDATE=Disable</a:t>
            </a:r>
            <a:endParaRPr lang="en-US" sz="1050" dirty="0"/>
          </a:p>
        </p:txBody>
      </p:sp>
      <p:sp>
        <p:nvSpPr>
          <p:cNvPr id="8" name="Text 6"/>
          <p:cNvSpPr/>
          <p:nvPr/>
        </p:nvSpPr>
        <p:spPr>
          <a:xfrm>
            <a:off x="502920" y="3977640"/>
            <a:ext cx="548640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Configuration precedence</a:t>
            </a:r>
            <a:endParaRPr lang="en-US" sz="1300" dirty="0"/>
          </a:p>
        </p:txBody>
      </p:sp>
      <p:sp>
        <p:nvSpPr>
          <p:cNvPr id="9" name="Shape 7"/>
          <p:cNvSpPr/>
          <p:nvPr/>
        </p:nvSpPr>
        <p:spPr>
          <a:xfrm>
            <a:off x="502920" y="4370832"/>
            <a:ext cx="292608" cy="292608"/>
          </a:xfrm>
          <a:prstGeom prst="roundRect">
            <a:avLst>
              <a:gd name="adj" fmla="val 18750"/>
            </a:avLst>
          </a:prstGeom>
          <a:solidFill>
            <a:srgbClr val="CADCFC"/>
          </a:solidFill>
          <a:ln/>
        </p:spPr>
      </p:sp>
      <p:sp>
        <p:nvSpPr>
          <p:cNvPr id="10" name="Text 8"/>
          <p:cNvSpPr/>
          <p:nvPr/>
        </p:nvSpPr>
        <p:spPr>
          <a:xfrm>
            <a:off x="502920" y="4370832"/>
            <a:ext cx="292608" cy="292608"/>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1</a:t>
            </a:r>
            <a:endParaRPr lang="en-US" sz="1100" dirty="0"/>
          </a:p>
        </p:txBody>
      </p:sp>
      <p:sp>
        <p:nvSpPr>
          <p:cNvPr id="11" name="Text 9"/>
          <p:cNvSpPr/>
          <p:nvPr/>
        </p:nvSpPr>
        <p:spPr>
          <a:xfrm>
            <a:off x="914400" y="4343400"/>
            <a:ext cx="5212080" cy="36576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Environment variable set before launch</a:t>
            </a:r>
            <a:endParaRPr lang="en-US" sz="1150" dirty="0"/>
          </a:p>
        </p:txBody>
      </p:sp>
      <p:sp>
        <p:nvSpPr>
          <p:cNvPr id="12" name="Shape 10"/>
          <p:cNvSpPr/>
          <p:nvPr/>
        </p:nvSpPr>
        <p:spPr>
          <a:xfrm>
            <a:off x="502920" y="4828032"/>
            <a:ext cx="292608" cy="292608"/>
          </a:xfrm>
          <a:prstGeom prst="roundRect">
            <a:avLst>
              <a:gd name="adj" fmla="val 18750"/>
            </a:avLst>
          </a:prstGeom>
          <a:solidFill>
            <a:srgbClr val="CADCFC"/>
          </a:solidFill>
          <a:ln/>
        </p:spPr>
      </p:sp>
      <p:sp>
        <p:nvSpPr>
          <p:cNvPr id="13" name="Text 11"/>
          <p:cNvSpPr/>
          <p:nvPr/>
        </p:nvSpPr>
        <p:spPr>
          <a:xfrm>
            <a:off x="502920" y="4828032"/>
            <a:ext cx="292608" cy="292608"/>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2</a:t>
            </a:r>
            <a:endParaRPr lang="en-US" sz="1100" dirty="0"/>
          </a:p>
        </p:txBody>
      </p:sp>
      <p:sp>
        <p:nvSpPr>
          <p:cNvPr id="14" name="Text 12"/>
          <p:cNvSpPr/>
          <p:nvPr/>
        </p:nvSpPr>
        <p:spPr>
          <a:xfrm>
            <a:off x="914400" y="4800600"/>
            <a:ext cx="5212080" cy="36576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LOT config (Lots\LOT-&lt;name&gt;\Windows11UpgradeToolkit.config)</a:t>
            </a:r>
            <a:endParaRPr lang="en-US" sz="1150" dirty="0"/>
          </a:p>
        </p:txBody>
      </p:sp>
      <p:sp>
        <p:nvSpPr>
          <p:cNvPr id="15" name="Shape 13"/>
          <p:cNvSpPr/>
          <p:nvPr/>
        </p:nvSpPr>
        <p:spPr>
          <a:xfrm>
            <a:off x="502920" y="5285232"/>
            <a:ext cx="292608" cy="292608"/>
          </a:xfrm>
          <a:prstGeom prst="roundRect">
            <a:avLst>
              <a:gd name="adj" fmla="val 18750"/>
            </a:avLst>
          </a:prstGeom>
          <a:solidFill>
            <a:srgbClr val="CADCFC"/>
          </a:solidFill>
          <a:ln/>
        </p:spPr>
      </p:sp>
      <p:sp>
        <p:nvSpPr>
          <p:cNvPr id="16" name="Text 14"/>
          <p:cNvSpPr/>
          <p:nvPr/>
        </p:nvSpPr>
        <p:spPr>
          <a:xfrm>
            <a:off x="502920" y="5285232"/>
            <a:ext cx="292608" cy="292608"/>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3</a:t>
            </a:r>
            <a:endParaRPr lang="en-US" sz="1100" dirty="0"/>
          </a:p>
        </p:txBody>
      </p:sp>
      <p:sp>
        <p:nvSpPr>
          <p:cNvPr id="17" name="Text 15"/>
          <p:cNvSpPr/>
          <p:nvPr/>
        </p:nvSpPr>
        <p:spPr>
          <a:xfrm>
            <a:off x="914400" y="5257800"/>
            <a:ext cx="5212080" cy="36576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Toolkit root config</a:t>
            </a:r>
            <a:endParaRPr lang="en-US" sz="1150" dirty="0"/>
          </a:p>
        </p:txBody>
      </p:sp>
      <p:sp>
        <p:nvSpPr>
          <p:cNvPr id="18" name="Shape 16"/>
          <p:cNvSpPr/>
          <p:nvPr/>
        </p:nvSpPr>
        <p:spPr>
          <a:xfrm>
            <a:off x="6446520" y="2331720"/>
            <a:ext cx="5257800" cy="3749040"/>
          </a:xfrm>
          <a:prstGeom prst="roundRect">
            <a:avLst>
              <a:gd name="adj" fmla="val 2439"/>
            </a:avLst>
          </a:prstGeom>
          <a:solidFill>
            <a:srgbClr val="F5F8FB"/>
          </a:solidFill>
          <a:ln w="12700">
            <a:solidFill>
              <a:srgbClr val="DDE7F0"/>
            </a:solidFill>
            <a:prstDash val="solid"/>
          </a:ln>
        </p:spPr>
      </p:sp>
      <p:sp>
        <p:nvSpPr>
          <p:cNvPr id="19" name="Text 17"/>
          <p:cNvSpPr/>
          <p:nvPr/>
        </p:nvSpPr>
        <p:spPr>
          <a:xfrm>
            <a:off x="6720840" y="2514600"/>
            <a:ext cx="475488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Key variables</a:t>
            </a:r>
            <a:endParaRPr lang="en-US" sz="1350" dirty="0"/>
          </a:p>
        </p:txBody>
      </p:sp>
      <p:sp>
        <p:nvSpPr>
          <p:cNvPr id="20" name="Text 18"/>
          <p:cNvSpPr/>
          <p:nvPr/>
        </p:nvSpPr>
        <p:spPr>
          <a:xfrm>
            <a:off x="6720840" y="2926080"/>
            <a:ext cx="4754880" cy="274320"/>
          </a:xfrm>
          <a:prstGeom prst="rect">
            <a:avLst/>
          </a:prstGeom>
          <a:noFill/>
          <a:ln/>
        </p:spPr>
        <p:txBody>
          <a:bodyPr wrap="square" lIns="0" tIns="0" rIns="0" bIns="0" rtlCol="0" anchor="ctr"/>
          <a:lstStyle/>
          <a:p>
            <a:pPr indent="0" marL="0">
              <a:buNone/>
            </a:pPr>
            <a:r>
              <a:rPr lang="en-US" sz="1150" b="1" dirty="0">
                <a:solidFill>
                  <a:srgbClr val="0078D4"/>
                </a:solidFill>
                <a:latin typeface="Consolas" pitchFamily="34" charset="0"/>
                <a:ea typeface="Consolas" pitchFamily="34" charset="-122"/>
                <a:cs typeface="Consolas" pitchFamily="34" charset="-120"/>
              </a:rPr>
              <a:t>W11UT_SETUP_SOURCE</a:t>
            </a:r>
            <a:endParaRPr lang="en-US" sz="1150" dirty="0"/>
          </a:p>
        </p:txBody>
      </p:sp>
      <p:sp>
        <p:nvSpPr>
          <p:cNvPr id="21" name="Text 19"/>
          <p:cNvSpPr/>
          <p:nvPr/>
        </p:nvSpPr>
        <p:spPr>
          <a:xfrm>
            <a:off x="6720840" y="3182112"/>
            <a:ext cx="4754880" cy="320040"/>
          </a:xfrm>
          <a:prstGeom prst="rect">
            <a:avLst/>
          </a:prstGeom>
          <a:noFill/>
          <a:ln/>
        </p:spPr>
        <p:txBody>
          <a:bodyPr wrap="square" lIns="0" tIns="0" rIns="0" bIns="0" rtlCol="0" anchor="ctr"/>
          <a:lstStyle/>
          <a:p>
            <a:pPr indent="0" marL="0">
              <a:buNone/>
            </a:pPr>
            <a:r>
              <a:rPr lang="en-US" sz="1050" dirty="0">
                <a:solidFill>
                  <a:srgbClr val="5F6B7A"/>
                </a:solidFill>
                <a:latin typeface="Calibri" pitchFamily="34" charset="0"/>
                <a:ea typeface="Calibri" pitchFamily="34" charset="-122"/>
                <a:cs typeface="Calibri" pitchFamily="34" charset="-120"/>
              </a:rPr>
              <a:t>UNC path(s) to the media, semicolon-separated for multiple sites</a:t>
            </a:r>
            <a:endParaRPr lang="en-US" sz="1050" dirty="0"/>
          </a:p>
        </p:txBody>
      </p:sp>
      <p:sp>
        <p:nvSpPr>
          <p:cNvPr id="22" name="Text 20"/>
          <p:cNvSpPr/>
          <p:nvPr/>
        </p:nvSpPr>
        <p:spPr>
          <a:xfrm>
            <a:off x="6720840" y="3520440"/>
            <a:ext cx="4754880" cy="274320"/>
          </a:xfrm>
          <a:prstGeom prst="rect">
            <a:avLst/>
          </a:prstGeom>
          <a:noFill/>
          <a:ln/>
        </p:spPr>
        <p:txBody>
          <a:bodyPr wrap="square" lIns="0" tIns="0" rIns="0" bIns="0" rtlCol="0" anchor="ctr"/>
          <a:lstStyle/>
          <a:p>
            <a:pPr indent="0" marL="0">
              <a:buNone/>
            </a:pPr>
            <a:r>
              <a:rPr lang="en-US" sz="1150" b="1" dirty="0">
                <a:solidFill>
                  <a:srgbClr val="0078D4"/>
                </a:solidFill>
                <a:latin typeface="Consolas" pitchFamily="34" charset="0"/>
                <a:ea typeface="Consolas" pitchFamily="34" charset="-122"/>
                <a:cs typeface="Consolas" pitchFamily="34" charset="-120"/>
              </a:rPr>
              <a:t>W11UT_SETUP_EXECUTION_MODE</a:t>
            </a:r>
            <a:endParaRPr lang="en-US" sz="1150" dirty="0"/>
          </a:p>
        </p:txBody>
      </p:sp>
      <p:sp>
        <p:nvSpPr>
          <p:cNvPr id="23" name="Text 21"/>
          <p:cNvSpPr/>
          <p:nvPr/>
        </p:nvSpPr>
        <p:spPr>
          <a:xfrm>
            <a:off x="6720840" y="3776472"/>
            <a:ext cx="4754880" cy="320040"/>
          </a:xfrm>
          <a:prstGeom prst="rect">
            <a:avLst/>
          </a:prstGeom>
          <a:noFill/>
          <a:ln/>
        </p:spPr>
        <p:txBody>
          <a:bodyPr wrap="square" lIns="0" tIns="0" rIns="0" bIns="0" rtlCol="0" anchor="ctr"/>
          <a:lstStyle/>
          <a:p>
            <a:pPr indent="0" marL="0">
              <a:buNone/>
            </a:pPr>
            <a:r>
              <a:rPr lang="en-US" sz="1050" dirty="0">
                <a:solidFill>
                  <a:srgbClr val="5F6B7A"/>
                </a:solidFill>
                <a:latin typeface="Calibri" pitchFamily="34" charset="0"/>
                <a:ea typeface="Calibri" pitchFamily="34" charset="-122"/>
                <a:cs typeface="Calibri" pitchFamily="34" charset="-120"/>
              </a:rPr>
              <a:t>LocalCache (default) / Share / Auto</a:t>
            </a:r>
            <a:endParaRPr lang="en-US" sz="1050" dirty="0"/>
          </a:p>
        </p:txBody>
      </p:sp>
      <p:sp>
        <p:nvSpPr>
          <p:cNvPr id="24" name="Text 22"/>
          <p:cNvSpPr/>
          <p:nvPr/>
        </p:nvSpPr>
        <p:spPr>
          <a:xfrm>
            <a:off x="6720840" y="4114800"/>
            <a:ext cx="4754880" cy="274320"/>
          </a:xfrm>
          <a:prstGeom prst="rect">
            <a:avLst/>
          </a:prstGeom>
          <a:noFill/>
          <a:ln/>
        </p:spPr>
        <p:txBody>
          <a:bodyPr wrap="square" lIns="0" tIns="0" rIns="0" bIns="0" rtlCol="0" anchor="ctr"/>
          <a:lstStyle/>
          <a:p>
            <a:pPr indent="0" marL="0">
              <a:buNone/>
            </a:pPr>
            <a:r>
              <a:rPr lang="en-US" sz="1150" b="1" dirty="0">
                <a:solidFill>
                  <a:srgbClr val="0078D4"/>
                </a:solidFill>
                <a:latin typeface="Consolas" pitchFamily="34" charset="0"/>
                <a:ea typeface="Consolas" pitchFamily="34" charset="-122"/>
                <a:cs typeface="Consolas" pitchFamily="34" charset="-120"/>
              </a:rPr>
              <a:t>W11UT_SETUP_LANGUAGE</a:t>
            </a:r>
            <a:endParaRPr lang="en-US" sz="1150" dirty="0"/>
          </a:p>
        </p:txBody>
      </p:sp>
      <p:sp>
        <p:nvSpPr>
          <p:cNvPr id="25" name="Text 23"/>
          <p:cNvSpPr/>
          <p:nvPr/>
        </p:nvSpPr>
        <p:spPr>
          <a:xfrm>
            <a:off x="6720840" y="4370832"/>
            <a:ext cx="4754880" cy="320040"/>
          </a:xfrm>
          <a:prstGeom prst="rect">
            <a:avLst/>
          </a:prstGeom>
          <a:noFill/>
          <a:ln/>
        </p:spPr>
        <p:txBody>
          <a:bodyPr wrap="square" lIns="0" tIns="0" rIns="0" bIns="0" rtlCol="0" anchor="ctr"/>
          <a:lstStyle/>
          <a:p>
            <a:pPr indent="0" marL="0">
              <a:buNone/>
            </a:pPr>
            <a:r>
              <a:rPr lang="en-US" sz="1050" dirty="0">
                <a:solidFill>
                  <a:srgbClr val="5F6B7A"/>
                </a:solidFill>
                <a:latin typeface="Calibri" pitchFamily="34" charset="0"/>
                <a:ea typeface="Calibri" pitchFamily="34" charset="-122"/>
                <a:cs typeface="Calibri" pitchFamily="34" charset="-120"/>
              </a:rPr>
              <a:t>MatchSystem (default), a specific culture, or Any</a:t>
            </a:r>
            <a:endParaRPr lang="en-US" sz="1050" dirty="0"/>
          </a:p>
        </p:txBody>
      </p:sp>
      <p:sp>
        <p:nvSpPr>
          <p:cNvPr id="26" name="Text 24"/>
          <p:cNvSpPr/>
          <p:nvPr/>
        </p:nvSpPr>
        <p:spPr>
          <a:xfrm>
            <a:off x="6720840" y="4709160"/>
            <a:ext cx="4754880" cy="274320"/>
          </a:xfrm>
          <a:prstGeom prst="rect">
            <a:avLst/>
          </a:prstGeom>
          <a:noFill/>
          <a:ln/>
        </p:spPr>
        <p:txBody>
          <a:bodyPr wrap="square" lIns="0" tIns="0" rIns="0" bIns="0" rtlCol="0" anchor="ctr"/>
          <a:lstStyle/>
          <a:p>
            <a:pPr indent="0" marL="0">
              <a:buNone/>
            </a:pPr>
            <a:r>
              <a:rPr lang="en-US" sz="1150" b="1" dirty="0">
                <a:solidFill>
                  <a:srgbClr val="0078D4"/>
                </a:solidFill>
                <a:latin typeface="Consolas" pitchFamily="34" charset="0"/>
                <a:ea typeface="Consolas" pitchFamily="34" charset="-122"/>
                <a:cs typeface="Consolas" pitchFamily="34" charset="-120"/>
              </a:rPr>
              <a:t>W11UT_SETUP_DYNAMIC_UPDATE</a:t>
            </a:r>
            <a:endParaRPr lang="en-US" sz="1150" dirty="0"/>
          </a:p>
        </p:txBody>
      </p:sp>
      <p:sp>
        <p:nvSpPr>
          <p:cNvPr id="27" name="Text 25"/>
          <p:cNvSpPr/>
          <p:nvPr/>
        </p:nvSpPr>
        <p:spPr>
          <a:xfrm>
            <a:off x="6720840" y="4965192"/>
            <a:ext cx="4754880" cy="320040"/>
          </a:xfrm>
          <a:prstGeom prst="rect">
            <a:avLst/>
          </a:prstGeom>
          <a:noFill/>
          <a:ln/>
        </p:spPr>
        <p:txBody>
          <a:bodyPr wrap="square" lIns="0" tIns="0" rIns="0" bIns="0" rtlCol="0" anchor="ctr"/>
          <a:lstStyle/>
          <a:p>
            <a:pPr indent="0" marL="0">
              <a:buNone/>
            </a:pPr>
            <a:r>
              <a:rPr lang="en-US" sz="1050" dirty="0">
                <a:solidFill>
                  <a:srgbClr val="5F6B7A"/>
                </a:solidFill>
                <a:latin typeface="Calibri" pitchFamily="34" charset="0"/>
                <a:ea typeface="Calibri" pitchFamily="34" charset="-122"/>
                <a:cs typeface="Calibri" pitchFamily="34" charset="-120"/>
              </a:rPr>
              <a:t>Disable (default) / Enable / NoDrivers / NoLCU</a:t>
            </a:r>
            <a:endParaRPr lang="en-US" sz="1050" dirty="0"/>
          </a:p>
        </p:txBody>
      </p:sp>
      <p:sp>
        <p:nvSpPr>
          <p:cNvPr id="28" name="Text 26"/>
          <p:cNvSpPr/>
          <p:nvPr/>
        </p:nvSpPr>
        <p:spPr>
          <a:xfrm>
            <a:off x="6720840" y="5303520"/>
            <a:ext cx="4754880" cy="274320"/>
          </a:xfrm>
          <a:prstGeom prst="rect">
            <a:avLst/>
          </a:prstGeom>
          <a:noFill/>
          <a:ln/>
        </p:spPr>
        <p:txBody>
          <a:bodyPr wrap="square" lIns="0" tIns="0" rIns="0" bIns="0" rtlCol="0" anchor="ctr"/>
          <a:lstStyle/>
          <a:p>
            <a:pPr indent="0" marL="0">
              <a:buNone/>
            </a:pPr>
            <a:r>
              <a:rPr lang="en-US" sz="1150" b="1" dirty="0">
                <a:solidFill>
                  <a:srgbClr val="0078D4"/>
                </a:solidFill>
                <a:latin typeface="Consolas" pitchFamily="34" charset="0"/>
                <a:ea typeface="Consolas" pitchFamily="34" charset="-122"/>
                <a:cs typeface="Consolas" pitchFamily="34" charset="-120"/>
              </a:rPr>
              <a:t>W11UT_SETUP_MEDIA_ID</a:t>
            </a:r>
            <a:endParaRPr lang="en-US" sz="1150" dirty="0"/>
          </a:p>
        </p:txBody>
      </p:sp>
      <p:sp>
        <p:nvSpPr>
          <p:cNvPr id="29" name="Text 27"/>
          <p:cNvSpPr/>
          <p:nvPr/>
        </p:nvSpPr>
        <p:spPr>
          <a:xfrm>
            <a:off x="6720840" y="5559552"/>
            <a:ext cx="4754880" cy="320040"/>
          </a:xfrm>
          <a:prstGeom prst="rect">
            <a:avLst/>
          </a:prstGeom>
          <a:noFill/>
          <a:ln/>
        </p:spPr>
        <p:txBody>
          <a:bodyPr wrap="square" lIns="0" tIns="0" rIns="0" bIns="0" rtlCol="0" anchor="ctr"/>
          <a:lstStyle/>
          <a:p>
            <a:pPr indent="0" marL="0">
              <a:buNone/>
            </a:pPr>
            <a:r>
              <a:rPr lang="en-US" sz="1050" dirty="0">
                <a:solidFill>
                  <a:srgbClr val="5F6B7A"/>
                </a:solidFill>
                <a:latin typeface="Calibri" pitchFamily="34" charset="0"/>
                <a:ea typeface="Calibri" pitchFamily="34" charset="-122"/>
                <a:cs typeface="Calibri" pitchFamily="34" charset="-120"/>
              </a:rPr>
              <a:t>Local cache identifier, e.g. Win11-24H2</a:t>
            </a:r>
            <a:endParaRPr lang="en-US" sz="1050" dirty="0"/>
          </a:p>
        </p:txBody>
      </p:sp>
      <p:sp>
        <p:nvSpPr>
          <p:cNvPr id="30" name="Text 28"/>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SmartM365 Devices — Windows 11 Upgrade Toolkit</a:t>
            </a:r>
            <a:endParaRPr lang="en-US" sz="900" dirty="0"/>
          </a:p>
        </p:txBody>
      </p:sp>
      <p:sp>
        <p:nvSpPr>
          <p:cNvPr id="31" name="Text 2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2834640" cy="347472"/>
          </a:xfrm>
          <a:prstGeom prst="roundRect">
            <a:avLst>
              <a:gd name="adj" fmla="val 50000"/>
            </a:avLst>
          </a:prstGeom>
          <a:solidFill>
            <a:srgbClr val="E6F4FF"/>
          </a:solidFill>
          <a:ln/>
        </p:spPr>
      </p:sp>
      <p:sp>
        <p:nvSpPr>
          <p:cNvPr id="3" name="Text 1"/>
          <p:cNvSpPr/>
          <p:nvPr/>
        </p:nvSpPr>
        <p:spPr>
          <a:xfrm>
            <a:off x="502920" y="457200"/>
            <a:ext cx="2834640" cy="347472"/>
          </a:xfrm>
          <a:prstGeom prst="rect">
            <a:avLst/>
          </a:prstGeom>
          <a:noFill/>
          <a:ln/>
        </p:spPr>
        <p:txBody>
          <a:bodyPr wrap="square" lIns="0" tIns="0" rIns="0" bIns="0" rtlCol="0" anchor="ctr"/>
          <a:lstStyle/>
          <a:p>
            <a:pPr algn="ctr" indent="0" marL="0">
              <a:buNone/>
            </a:pPr>
            <a:r>
              <a:rPr lang="en-US" sz="1100" b="1" spc="100" kern="0" dirty="0">
                <a:solidFill>
                  <a:srgbClr val="0078D4"/>
                </a:solidFill>
                <a:latin typeface="Calibri" pitchFamily="34" charset="0"/>
                <a:ea typeface="Calibri" pitchFamily="34" charset="-122"/>
                <a:cs typeface="Calibri" pitchFamily="34" charset="-120"/>
              </a:rPr>
              <a:t>ANNEX</a:t>
            </a:r>
            <a:endParaRPr lang="en-US" sz="1100" dirty="0"/>
          </a:p>
        </p:txBody>
      </p:sp>
      <p:sp>
        <p:nvSpPr>
          <p:cNvPr id="4" name="Text 2"/>
          <p:cNvSpPr/>
          <p:nvPr/>
        </p:nvSpPr>
        <p:spPr>
          <a:xfrm>
            <a:off x="502920" y="896112"/>
            <a:ext cx="11185855" cy="77724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Controlled bandwidth</a:t>
            </a:r>
            <a:endParaRPr lang="en-US" sz="3200" dirty="0"/>
          </a:p>
        </p:txBody>
      </p:sp>
      <p:sp>
        <p:nvSpPr>
          <p:cNvPr id="5" name="Text 3"/>
          <p:cNvSpPr/>
          <p:nvPr/>
        </p:nvSpPr>
        <p:spPr>
          <a:xfrm>
            <a:off x="502920" y="1783080"/>
            <a:ext cx="11155680" cy="41148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Several levers control the network impact of copying the Windows 11 media into each device's local cache.</a:t>
            </a:r>
            <a:endParaRPr lang="en-US" sz="1300" dirty="0"/>
          </a:p>
        </p:txBody>
      </p:sp>
      <p:sp>
        <p:nvSpPr>
          <p:cNvPr id="6" name="Shape 4"/>
          <p:cNvSpPr/>
          <p:nvPr/>
        </p:nvSpPr>
        <p:spPr>
          <a:xfrm>
            <a:off x="502920" y="2240280"/>
            <a:ext cx="11201400" cy="548640"/>
          </a:xfrm>
          <a:prstGeom prst="roundRect">
            <a:avLst>
              <a:gd name="adj" fmla="val 13333"/>
            </a:avLst>
          </a:prstGeom>
          <a:solidFill>
            <a:srgbClr val="F5F8FB"/>
          </a:solidFill>
          <a:ln w="12700">
            <a:solidFill>
              <a:srgbClr val="DDE7F0"/>
            </a:solidFill>
            <a:prstDash val="solid"/>
          </a:ln>
        </p:spPr>
      </p:sp>
      <p:sp>
        <p:nvSpPr>
          <p:cNvPr id="7" name="Text 5"/>
          <p:cNvSpPr/>
          <p:nvPr/>
        </p:nvSpPr>
        <p:spPr>
          <a:xfrm>
            <a:off x="731520" y="2313432"/>
            <a:ext cx="10698480" cy="237744"/>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COPY PACING  </a:t>
            </a:r>
            <a:pPr indent="0" marL="0">
              <a:buNone/>
            </a:pPr>
            <a:r>
              <a:rPr lang="en-US" sz="1050" b="1" dirty="0">
                <a:solidFill>
                  <a:srgbClr val="0078D4"/>
                </a:solidFill>
                <a:latin typeface="Consolas" pitchFamily="34" charset="0"/>
                <a:ea typeface="Consolas" pitchFamily="34" charset="-122"/>
                <a:cs typeface="Consolas" pitchFamily="34" charset="-120"/>
              </a:rPr>
              <a:t>W11UT_SETUP_COPY_IPG_MS</a:t>
            </a:r>
            <a:endParaRPr lang="en-US" sz="1050" dirty="0"/>
          </a:p>
        </p:txBody>
      </p:sp>
      <p:sp>
        <p:nvSpPr>
          <p:cNvPr id="8" name="Text 6"/>
          <p:cNvSpPr/>
          <p:nvPr/>
        </p:nvSpPr>
        <p:spPr>
          <a:xfrm>
            <a:off x="731520" y="2560320"/>
            <a:ext cx="10698480" cy="182880"/>
          </a:xfrm>
          <a:prstGeom prst="rect">
            <a:avLst/>
          </a:prstGeom>
          <a:noFill/>
          <a:ln/>
        </p:spPr>
        <p:txBody>
          <a:bodyPr wrap="square" lIns="0" tIns="0" rIns="0" bIns="0" rtlCol="0" anchor="ctr"/>
          <a:lstStyle/>
          <a:p>
            <a:pPr indent="0" marL="0">
              <a:lnSpc>
                <a:spcPct val="108000"/>
              </a:lnSpc>
              <a:buNone/>
            </a:pPr>
            <a:r>
              <a:rPr lang="en-US" sz="950" dirty="0">
                <a:solidFill>
                  <a:srgbClr val="5F6B7A"/>
                </a:solidFill>
                <a:latin typeface="Calibri" pitchFamily="34" charset="0"/>
                <a:ea typeface="Calibri" pitchFamily="34" charset="-122"/>
                <a:cs typeface="Calibri" pitchFamily="34" charset="-120"/>
              </a:rPr>
              <a:t>Default 20. Per-device Robocopy inter-packet throttling: a higher value makes the copy slower and gentler on the network.</a:t>
            </a:r>
            <a:endParaRPr lang="en-US" sz="950" dirty="0"/>
          </a:p>
        </p:txBody>
      </p:sp>
      <p:sp>
        <p:nvSpPr>
          <p:cNvPr id="9" name="Shape 7"/>
          <p:cNvSpPr/>
          <p:nvPr/>
        </p:nvSpPr>
        <p:spPr>
          <a:xfrm>
            <a:off x="502920" y="2862072"/>
            <a:ext cx="11201400" cy="548640"/>
          </a:xfrm>
          <a:prstGeom prst="roundRect">
            <a:avLst>
              <a:gd name="adj" fmla="val 13333"/>
            </a:avLst>
          </a:prstGeom>
          <a:solidFill>
            <a:srgbClr val="F5F8FB"/>
          </a:solidFill>
          <a:ln w="12700">
            <a:solidFill>
              <a:srgbClr val="DDE7F0"/>
            </a:solidFill>
            <a:prstDash val="solid"/>
          </a:ln>
        </p:spPr>
      </p:sp>
      <p:sp>
        <p:nvSpPr>
          <p:cNvPr id="10" name="Text 8"/>
          <p:cNvSpPr/>
          <p:nvPr/>
        </p:nvSpPr>
        <p:spPr>
          <a:xfrm>
            <a:off x="731520" y="2935224"/>
            <a:ext cx="10698480" cy="237744"/>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COPY PACING  </a:t>
            </a:r>
            <a:pPr indent="0" marL="0">
              <a:buNone/>
            </a:pPr>
            <a:r>
              <a:rPr lang="en-US" sz="1050" b="1" dirty="0">
                <a:solidFill>
                  <a:srgbClr val="0078D4"/>
                </a:solidFill>
                <a:latin typeface="Consolas" pitchFamily="34" charset="0"/>
                <a:ea typeface="Consolas" pitchFamily="34" charset="-122"/>
                <a:cs typeface="Consolas" pitchFamily="34" charset="-120"/>
              </a:rPr>
              <a:t>W11UT_SETUP_COPY_JITTER_SECONDS</a:t>
            </a:r>
            <a:endParaRPr lang="en-US" sz="1050" dirty="0"/>
          </a:p>
        </p:txBody>
      </p:sp>
      <p:sp>
        <p:nvSpPr>
          <p:cNvPr id="11" name="Text 9"/>
          <p:cNvSpPr/>
          <p:nvPr/>
        </p:nvSpPr>
        <p:spPr>
          <a:xfrm>
            <a:off x="731520" y="3182112"/>
            <a:ext cx="10698480" cy="182880"/>
          </a:xfrm>
          <a:prstGeom prst="rect">
            <a:avLst/>
          </a:prstGeom>
          <a:noFill/>
          <a:ln/>
        </p:spPr>
        <p:txBody>
          <a:bodyPr wrap="square" lIns="0" tIns="0" rIns="0" bIns="0" rtlCol="0" anchor="ctr"/>
          <a:lstStyle/>
          <a:p>
            <a:pPr indent="0" marL="0">
              <a:lnSpc>
                <a:spcPct val="108000"/>
              </a:lnSpc>
              <a:buNone/>
            </a:pPr>
            <a:r>
              <a:rPr lang="en-US" sz="950" dirty="0">
                <a:solidFill>
                  <a:srgbClr val="5F6B7A"/>
                </a:solidFill>
                <a:latin typeface="Calibri" pitchFamily="34" charset="0"/>
                <a:ea typeface="Calibri" pitchFamily="34" charset="-122"/>
                <a:cs typeface="Calibri" pitchFamily="34" charset="-120"/>
              </a:rPr>
              <a:t>Default 300. Randomly spreads copy starts over this window (seconds) to avoid a simultaneous spike when a LOT launches.</a:t>
            </a:r>
            <a:endParaRPr lang="en-US" sz="950" dirty="0"/>
          </a:p>
        </p:txBody>
      </p:sp>
      <p:sp>
        <p:nvSpPr>
          <p:cNvPr id="12" name="Shape 10"/>
          <p:cNvSpPr/>
          <p:nvPr/>
        </p:nvSpPr>
        <p:spPr>
          <a:xfrm>
            <a:off x="502920" y="3483864"/>
            <a:ext cx="11201400" cy="548640"/>
          </a:xfrm>
          <a:prstGeom prst="roundRect">
            <a:avLst>
              <a:gd name="adj" fmla="val 13333"/>
            </a:avLst>
          </a:prstGeom>
          <a:solidFill>
            <a:srgbClr val="F5F8FB"/>
          </a:solidFill>
          <a:ln w="12700">
            <a:solidFill>
              <a:srgbClr val="DDE7F0"/>
            </a:solidFill>
            <a:prstDash val="solid"/>
          </a:ln>
        </p:spPr>
      </p:sp>
      <p:sp>
        <p:nvSpPr>
          <p:cNvPr id="13" name="Text 11"/>
          <p:cNvSpPr/>
          <p:nvPr/>
        </p:nvSpPr>
        <p:spPr>
          <a:xfrm>
            <a:off x="731520" y="3557016"/>
            <a:ext cx="10698480" cy="237744"/>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SOURCE SELECTION  </a:t>
            </a:r>
            <a:pPr indent="0" marL="0">
              <a:buNone/>
            </a:pPr>
            <a:r>
              <a:rPr lang="en-US" sz="1050" b="1" dirty="0">
                <a:solidFill>
                  <a:srgbClr val="0078D4"/>
                </a:solidFill>
                <a:latin typeface="Consolas" pitchFamily="34" charset="0"/>
                <a:ea typeface="Consolas" pitchFamily="34" charset="-122"/>
                <a:cs typeface="Consolas" pitchFamily="34" charset="-120"/>
              </a:rPr>
              <a:t>W11UT_SETUP_SOURCE_CANDIDATE_LIMIT</a:t>
            </a:r>
            <a:endParaRPr lang="en-US" sz="1050" dirty="0"/>
          </a:p>
        </p:txBody>
      </p:sp>
      <p:sp>
        <p:nvSpPr>
          <p:cNvPr id="14" name="Text 12"/>
          <p:cNvSpPr/>
          <p:nvPr/>
        </p:nvSpPr>
        <p:spPr>
          <a:xfrm>
            <a:off x="731520" y="3803904"/>
            <a:ext cx="10698480" cy="182880"/>
          </a:xfrm>
          <a:prstGeom prst="rect">
            <a:avLst/>
          </a:prstGeom>
          <a:noFill/>
          <a:ln/>
        </p:spPr>
        <p:txBody>
          <a:bodyPr wrap="square" lIns="0" tIns="0" rIns="0" bIns="0" rtlCol="0" anchor="ctr"/>
          <a:lstStyle/>
          <a:p>
            <a:pPr indent="0" marL="0">
              <a:lnSpc>
                <a:spcPct val="108000"/>
              </a:lnSpc>
              <a:buNone/>
            </a:pPr>
            <a:r>
              <a:rPr lang="en-US" sz="950" dirty="0">
                <a:solidFill>
                  <a:srgbClr val="5F6B7A"/>
                </a:solidFill>
                <a:latin typeface="Calibri" pitchFamily="34" charset="0"/>
                <a:ea typeface="Calibri" pitchFamily="34" charset="-122"/>
                <a:cs typeface="Calibri" pitchFamily="34" charset="-120"/>
              </a:rPr>
              <a:t>Caps the number of candidate sources actually tested/benchmarked per device, useful with multiple UNC paths.</a:t>
            </a:r>
            <a:endParaRPr lang="en-US" sz="950" dirty="0"/>
          </a:p>
        </p:txBody>
      </p:sp>
      <p:sp>
        <p:nvSpPr>
          <p:cNvPr id="15" name="Shape 13"/>
          <p:cNvSpPr/>
          <p:nvPr/>
        </p:nvSpPr>
        <p:spPr>
          <a:xfrm>
            <a:off x="502920" y="4105656"/>
            <a:ext cx="11201400" cy="713232"/>
          </a:xfrm>
          <a:prstGeom prst="roundRect">
            <a:avLst>
              <a:gd name="adj" fmla="val 10256"/>
            </a:avLst>
          </a:prstGeom>
          <a:solidFill>
            <a:srgbClr val="F5F8FB"/>
          </a:solidFill>
          <a:ln w="12700">
            <a:solidFill>
              <a:srgbClr val="DDE7F0"/>
            </a:solidFill>
            <a:prstDash val="solid"/>
          </a:ln>
        </p:spPr>
      </p:sp>
      <p:sp>
        <p:nvSpPr>
          <p:cNvPr id="16" name="Text 14"/>
          <p:cNvSpPr/>
          <p:nvPr/>
        </p:nvSpPr>
        <p:spPr>
          <a:xfrm>
            <a:off x="731520" y="4178808"/>
            <a:ext cx="10698480" cy="237744"/>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SOURCE SELECTION (CSV MAP)  </a:t>
            </a:r>
            <a:pPr indent="0" marL="0">
              <a:buNone/>
            </a:pPr>
            <a:r>
              <a:rPr lang="en-US" sz="1050" b="1" dirty="0">
                <a:solidFill>
                  <a:srgbClr val="0078D4"/>
                </a:solidFill>
                <a:latin typeface="Consolas" pitchFamily="34" charset="0"/>
                <a:ea typeface="Consolas" pitchFamily="34" charset="-122"/>
                <a:cs typeface="Consolas" pitchFamily="34" charset="-120"/>
              </a:rPr>
              <a:t>W11UT_SETUP_SOURCE_MAP</a:t>
            </a:r>
            <a:endParaRPr lang="en-US" sz="1050" dirty="0"/>
          </a:p>
        </p:txBody>
      </p:sp>
      <p:sp>
        <p:nvSpPr>
          <p:cNvPr id="17" name="Text 15"/>
          <p:cNvSpPr/>
          <p:nvPr/>
        </p:nvSpPr>
        <p:spPr>
          <a:xfrm>
            <a:off x="731520" y="4425696"/>
            <a:ext cx="10698480" cy="347472"/>
          </a:xfrm>
          <a:prstGeom prst="rect">
            <a:avLst/>
          </a:prstGeom>
          <a:noFill/>
          <a:ln/>
        </p:spPr>
        <p:txBody>
          <a:bodyPr wrap="square" lIns="0" tIns="0" rIns="0" bIns="0" rtlCol="0" anchor="ctr"/>
          <a:lstStyle/>
          <a:p>
            <a:pPr indent="0" marL="0">
              <a:lnSpc>
                <a:spcPct val="108000"/>
              </a:lnSpc>
              <a:buNone/>
            </a:pPr>
            <a:r>
              <a:rPr lang="en-US" sz="950" dirty="0">
                <a:solidFill>
                  <a:srgbClr val="5F6B7A"/>
                </a:solidFill>
                <a:latin typeface="Calibri" pitchFamily="34" charset="0"/>
                <a:ea typeface="Calibri" pitchFamily="34" charset="-122"/>
                <a:cs typeface="Calibri" pitchFamily="34" charset="-120"/>
              </a:rPr>
              <a:t>SetupSourceMap.csv file (columns ScopeType, ScopeValue, SetupSourcePath, Priority) to automatically pick the nearest source by subnet, IP prefix, or device name, instead of listing every share in W11UT_SETUP_SOURCE.</a:t>
            </a:r>
            <a:endParaRPr lang="en-US" sz="950" dirty="0"/>
          </a:p>
        </p:txBody>
      </p:sp>
      <p:sp>
        <p:nvSpPr>
          <p:cNvPr id="18" name="Shape 16"/>
          <p:cNvSpPr/>
          <p:nvPr/>
        </p:nvSpPr>
        <p:spPr>
          <a:xfrm>
            <a:off x="502920" y="4892040"/>
            <a:ext cx="11201400" cy="603504"/>
          </a:xfrm>
          <a:prstGeom prst="roundRect">
            <a:avLst>
              <a:gd name="adj" fmla="val 12121"/>
            </a:avLst>
          </a:prstGeom>
          <a:solidFill>
            <a:srgbClr val="F5F8FB"/>
          </a:solidFill>
          <a:ln w="12700">
            <a:solidFill>
              <a:srgbClr val="DDE7F0"/>
            </a:solidFill>
            <a:prstDash val="solid"/>
          </a:ln>
        </p:spPr>
      </p:sp>
      <p:sp>
        <p:nvSpPr>
          <p:cNvPr id="19" name="Text 17"/>
          <p:cNvSpPr/>
          <p:nvPr/>
        </p:nvSpPr>
        <p:spPr>
          <a:xfrm>
            <a:off x="731520" y="4965192"/>
            <a:ext cx="10698480" cy="237744"/>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CONCURRENCY PER SOURCE  </a:t>
            </a:r>
            <a:pPr indent="0" marL="0">
              <a:buNone/>
            </a:pPr>
            <a:r>
              <a:rPr lang="en-US" sz="1050" b="1" dirty="0">
                <a:solidFill>
                  <a:srgbClr val="0078D4"/>
                </a:solidFill>
                <a:latin typeface="Consolas" pitchFamily="34" charset="0"/>
                <a:ea typeface="Consolas" pitchFamily="34" charset="-122"/>
                <a:cs typeface="Consolas" pitchFamily="34" charset="-120"/>
              </a:rPr>
              <a:t>W11UT_SETUP_SOURCE_CONCURRENCY_LIMIT / _GATE_ROOT</a:t>
            </a:r>
            <a:endParaRPr lang="en-US" sz="1050" dirty="0"/>
          </a:p>
        </p:txBody>
      </p:sp>
      <p:sp>
        <p:nvSpPr>
          <p:cNvPr id="20" name="Text 18"/>
          <p:cNvSpPr/>
          <p:nvPr/>
        </p:nvSpPr>
        <p:spPr>
          <a:xfrm>
            <a:off x="731520" y="5212080"/>
            <a:ext cx="10698480" cy="237744"/>
          </a:xfrm>
          <a:prstGeom prst="rect">
            <a:avLst/>
          </a:prstGeom>
          <a:noFill/>
          <a:ln/>
        </p:spPr>
        <p:txBody>
          <a:bodyPr wrap="square" lIns="0" tIns="0" rIns="0" bIns="0" rtlCol="0" anchor="ctr"/>
          <a:lstStyle/>
          <a:p>
            <a:pPr indent="0" marL="0">
              <a:lnSpc>
                <a:spcPct val="108000"/>
              </a:lnSpc>
              <a:buNone/>
            </a:pPr>
            <a:r>
              <a:rPr lang="en-US" sz="950" dirty="0">
                <a:solidFill>
                  <a:srgbClr val="5F6B7A"/>
                </a:solidFill>
                <a:latin typeface="Calibri" pitchFamily="34" charset="0"/>
                <a:ea typeface="Calibri" pitchFamily="34" charset="-122"/>
                <a:cs typeface="Calibri" pitchFamily="34" charset="-120"/>
              </a:rPr>
              <a:t>Limits concurrent copies per media source through a shared gate on a writable UNC folder.</a:t>
            </a:r>
            <a:endParaRPr lang="en-US" sz="950" dirty="0"/>
          </a:p>
        </p:txBody>
      </p:sp>
      <p:sp>
        <p:nvSpPr>
          <p:cNvPr id="21" name="Shape 19"/>
          <p:cNvSpPr/>
          <p:nvPr/>
        </p:nvSpPr>
        <p:spPr>
          <a:xfrm>
            <a:off x="502920" y="5568696"/>
            <a:ext cx="11201400" cy="603504"/>
          </a:xfrm>
          <a:prstGeom prst="roundRect">
            <a:avLst>
              <a:gd name="adj" fmla="val 12121"/>
            </a:avLst>
          </a:prstGeom>
          <a:solidFill>
            <a:srgbClr val="F5F8FB"/>
          </a:solidFill>
          <a:ln w="12700">
            <a:solidFill>
              <a:srgbClr val="DDE7F0"/>
            </a:solidFill>
            <a:prstDash val="solid"/>
          </a:ln>
        </p:spPr>
      </p:sp>
      <p:sp>
        <p:nvSpPr>
          <p:cNvPr id="22" name="Text 20"/>
          <p:cNvSpPr/>
          <p:nvPr/>
        </p:nvSpPr>
        <p:spPr>
          <a:xfrm>
            <a:off x="731520" y="5641848"/>
            <a:ext cx="10698480" cy="237744"/>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CONCURRENCY PER SUBNET  </a:t>
            </a:r>
            <a:pPr indent="0" marL="0">
              <a:buNone/>
            </a:pPr>
            <a:r>
              <a:rPr lang="en-US" sz="1050" b="1" dirty="0">
                <a:solidFill>
                  <a:srgbClr val="0078D4"/>
                </a:solidFill>
                <a:latin typeface="Consolas" pitchFamily="34" charset="0"/>
                <a:ea typeface="Consolas" pitchFamily="34" charset="-122"/>
                <a:cs typeface="Consolas" pitchFamily="34" charset="-120"/>
              </a:rPr>
              <a:t>W11UT_SETUP_SUBNET_CONCURRENCY_LIMIT / _GATE_ROOT</a:t>
            </a:r>
            <a:endParaRPr lang="en-US" sz="1050" dirty="0"/>
          </a:p>
        </p:txBody>
      </p:sp>
      <p:sp>
        <p:nvSpPr>
          <p:cNvPr id="23" name="Text 21"/>
          <p:cNvSpPr/>
          <p:nvPr/>
        </p:nvSpPr>
        <p:spPr>
          <a:xfrm>
            <a:off x="731520" y="5888736"/>
            <a:ext cx="10698480" cy="237744"/>
          </a:xfrm>
          <a:prstGeom prst="rect">
            <a:avLst/>
          </a:prstGeom>
          <a:noFill/>
          <a:ln/>
        </p:spPr>
        <p:txBody>
          <a:bodyPr wrap="square" lIns="0" tIns="0" rIns="0" bIns="0" rtlCol="0" anchor="ctr"/>
          <a:lstStyle/>
          <a:p>
            <a:pPr indent="0" marL="0">
              <a:lnSpc>
                <a:spcPct val="108000"/>
              </a:lnSpc>
              <a:buNone/>
            </a:pPr>
            <a:r>
              <a:rPr lang="en-US" sz="950" dirty="0">
                <a:solidFill>
                  <a:srgbClr val="5F6B7A"/>
                </a:solidFill>
                <a:latin typeface="Calibri" pitchFamily="34" charset="0"/>
                <a:ea typeface="Calibri" pitchFamily="34" charset="-122"/>
                <a:cs typeface="Calibri" pitchFamily="34" charset="-120"/>
              </a:rPr>
              <a:t>Default 1. Allows only one Robocopy at a time per subnet, to protect the narrowest site links.</a:t>
            </a:r>
            <a:endParaRPr lang="en-US" sz="950" dirty="0"/>
          </a:p>
        </p:txBody>
      </p:sp>
      <p:sp>
        <p:nvSpPr>
          <p:cNvPr id="24" name="Text 22"/>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F6B7A"/>
                </a:solidFill>
                <a:latin typeface="Calibri" pitchFamily="34" charset="0"/>
                <a:ea typeface="Calibri" pitchFamily="34" charset="-122"/>
                <a:cs typeface="Calibri" pitchFamily="34" charset="-120"/>
              </a:rPr>
              <a:t>SmartM365 Devices — Windows 11 Upgrade Toolkit</a:t>
            </a:r>
            <a:endParaRPr lang="en-US" sz="900" dirty="0"/>
          </a:p>
        </p:txBody>
      </p:sp>
      <p:sp>
        <p:nvSpPr>
          <p:cNvPr id="25" name="Text 23"/>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F6B7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2286000" y="4114800"/>
            <a:ext cx="5486400" cy="5486400"/>
          </a:xfrm>
          <a:prstGeom prst="ellipse">
            <a:avLst/>
          </a:prstGeom>
          <a:solidFill>
            <a:srgbClr val="263080"/>
          </a:solidFill>
          <a:ln/>
        </p:spPr>
      </p:sp>
      <p:pic>
        <p:nvPicPr>
          <p:cNvPr id="3" name="Image 0" descr="C:\Users\Khaled\AppData\Local\Temp\claude\C--Users-Khaled-OneDrive-Documents-SmartIntune\c5e67daa-f249-479e-bda8-772632c0f9d4\scratchpad\pptx\logo.png">    </p:cNvPr>
          <p:cNvPicPr>
            <a:picLocks noChangeAspect="1"/>
          </p:cNvPicPr>
          <p:nvPr/>
        </p:nvPicPr>
        <p:blipFill>
          <a:blip r:embed="rId1"/>
          <a:stretch>
            <a:fillRect/>
          </a:stretch>
        </p:blipFill>
        <p:spPr>
          <a:xfrm>
            <a:off x="640080" y="548640"/>
            <a:ext cx="1920240" cy="749808"/>
          </a:xfrm>
          <a:prstGeom prst="rect">
            <a:avLst/>
          </a:prstGeom>
        </p:spPr>
      </p:pic>
      <p:sp>
        <p:nvSpPr>
          <p:cNvPr id="4" name="Text 1"/>
          <p:cNvSpPr/>
          <p:nvPr/>
        </p:nvSpPr>
        <p:spPr>
          <a:xfrm>
            <a:off x="640080" y="1600200"/>
            <a:ext cx="73152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Summary</a:t>
            </a:r>
            <a:endParaRPr lang="en-US" sz="3200" dirty="0"/>
          </a:p>
        </p:txBody>
      </p:sp>
      <p:sp>
        <p:nvSpPr>
          <p:cNvPr id="5" name="Text 2"/>
          <p:cNvSpPr/>
          <p:nvPr/>
        </p:nvSpPr>
        <p:spPr>
          <a:xfrm>
            <a:off x="685800" y="2468880"/>
            <a:ext cx="7589520" cy="384048"/>
          </a:xfrm>
          <a:prstGeom prst="rect">
            <a:avLst/>
          </a:prstGeom>
          <a:noFill/>
          <a:ln/>
        </p:spPr>
        <p:txBody>
          <a:bodyPr wrap="square" lIns="0" tIns="0" rIns="0" bIns="0" rtlCol="0" anchor="ctr"/>
          <a:lstStyle/>
          <a:p>
            <a:pPr indent="0" marL="0">
              <a:buNone/>
            </a:pPr>
            <a:r>
              <a:rPr lang="en-US" sz="1400" dirty="0">
                <a:solidFill>
                  <a:srgbClr val="D7DEFA"/>
                </a:solidFill>
                <a:latin typeface="Calibri" pitchFamily="34" charset="0"/>
                <a:ea typeface="Calibri" pitchFamily="34" charset="-122"/>
                <a:cs typeface="Calibri" pitchFamily="34" charset="-120"/>
              </a:rPr>
              <a:t>1. Prepare and validate the Windows 11 media, publish it to a UNC share</a:t>
            </a:r>
            <a:endParaRPr lang="en-US" sz="1400" dirty="0"/>
          </a:p>
        </p:txBody>
      </p:sp>
      <p:sp>
        <p:nvSpPr>
          <p:cNvPr id="6" name="Text 3"/>
          <p:cNvSpPr/>
          <p:nvPr/>
        </p:nvSpPr>
        <p:spPr>
          <a:xfrm>
            <a:off x="685800" y="2889504"/>
            <a:ext cx="7589520" cy="384048"/>
          </a:xfrm>
          <a:prstGeom prst="rect">
            <a:avLst/>
          </a:prstGeom>
          <a:noFill/>
          <a:ln/>
        </p:spPr>
        <p:txBody>
          <a:bodyPr wrap="square" lIns="0" tIns="0" rIns="0" bIns="0" rtlCol="0" anchor="ctr"/>
          <a:lstStyle/>
          <a:p>
            <a:pPr indent="0" marL="0">
              <a:buNone/>
            </a:pPr>
            <a:r>
              <a:rPr lang="en-US" sz="1400" dirty="0">
                <a:solidFill>
                  <a:srgbClr val="D7DEFA"/>
                </a:solidFill>
                <a:latin typeface="Calibri" pitchFamily="34" charset="0"/>
                <a:ea typeface="Calibri" pitchFamily="34" charset="-122"/>
                <a:cs typeface="Calibri" pitchFamily="34" charset="-120"/>
              </a:rPr>
              <a:t>2. Configure Windows11UpgradeToolkit.config (source, mode, language)</a:t>
            </a:r>
            <a:endParaRPr lang="en-US" sz="1400" dirty="0"/>
          </a:p>
        </p:txBody>
      </p:sp>
      <p:sp>
        <p:nvSpPr>
          <p:cNvPr id="7" name="Text 4"/>
          <p:cNvSpPr/>
          <p:nvPr/>
        </p:nvSpPr>
        <p:spPr>
          <a:xfrm>
            <a:off x="685800" y="3310128"/>
            <a:ext cx="7589520" cy="384048"/>
          </a:xfrm>
          <a:prstGeom prst="rect">
            <a:avLst/>
          </a:prstGeom>
          <a:noFill/>
          <a:ln/>
        </p:spPr>
        <p:txBody>
          <a:bodyPr wrap="square" lIns="0" tIns="0" rIns="0" bIns="0" rtlCol="0" anchor="ctr"/>
          <a:lstStyle/>
          <a:p>
            <a:pPr indent="0" marL="0">
              <a:buNone/>
            </a:pPr>
            <a:r>
              <a:rPr lang="en-US" sz="1400" dirty="0">
                <a:solidFill>
                  <a:srgbClr val="D7DEFA"/>
                </a:solidFill>
                <a:latin typeface="Calibri" pitchFamily="34" charset="0"/>
                <a:ea typeface="Calibri" pitchFamily="34" charset="-122"/>
                <a:cs typeface="Calibri" pitchFamily="34" charset="-120"/>
              </a:rPr>
              <a:t>3. Create the LOT via the GUI and fill in Computers.txt</a:t>
            </a:r>
            <a:endParaRPr lang="en-US" sz="1400" dirty="0"/>
          </a:p>
        </p:txBody>
      </p:sp>
      <p:sp>
        <p:nvSpPr>
          <p:cNvPr id="8" name="Text 5"/>
          <p:cNvSpPr/>
          <p:nvPr/>
        </p:nvSpPr>
        <p:spPr>
          <a:xfrm>
            <a:off x="685800" y="3730752"/>
            <a:ext cx="7589520" cy="384048"/>
          </a:xfrm>
          <a:prstGeom prst="rect">
            <a:avLst/>
          </a:prstGeom>
          <a:noFill/>
          <a:ln/>
        </p:spPr>
        <p:txBody>
          <a:bodyPr wrap="square" lIns="0" tIns="0" rIns="0" bIns="0" rtlCol="0" anchor="ctr"/>
          <a:lstStyle/>
          <a:p>
            <a:pPr indent="0" marL="0">
              <a:buNone/>
            </a:pPr>
            <a:r>
              <a:rPr lang="en-US" sz="1400" dirty="0">
                <a:solidFill>
                  <a:srgbClr val="D7DEFA"/>
                </a:solidFill>
                <a:latin typeface="Calibri" pitchFamily="34" charset="0"/>
                <a:ea typeface="Calibri" pitchFamily="34" charset="-122"/>
                <a:cs typeface="Calibri" pitchFamily="34" charset="-120"/>
              </a:rPr>
              <a:t>4. Choose the -Allow* guardrails suited to the campaign</a:t>
            </a:r>
            <a:endParaRPr lang="en-US" sz="1400" dirty="0"/>
          </a:p>
        </p:txBody>
      </p:sp>
      <p:sp>
        <p:nvSpPr>
          <p:cNvPr id="9" name="Text 6"/>
          <p:cNvSpPr/>
          <p:nvPr/>
        </p:nvSpPr>
        <p:spPr>
          <a:xfrm>
            <a:off x="685800" y="4151376"/>
            <a:ext cx="7589520" cy="384048"/>
          </a:xfrm>
          <a:prstGeom prst="rect">
            <a:avLst/>
          </a:prstGeom>
          <a:noFill/>
          <a:ln/>
        </p:spPr>
        <p:txBody>
          <a:bodyPr wrap="square" lIns="0" tIns="0" rIns="0" bIns="0" rtlCol="0" anchor="ctr"/>
          <a:lstStyle/>
          <a:p>
            <a:pPr indent="0" marL="0">
              <a:buNone/>
            </a:pPr>
            <a:r>
              <a:rPr lang="en-US" sz="1400" dirty="0">
                <a:solidFill>
                  <a:srgbClr val="D7DEFA"/>
                </a:solidFill>
                <a:latin typeface="Calibri" pitchFamily="34" charset="0"/>
                <a:ea typeface="Calibri" pitchFamily="34" charset="-122"/>
                <a:cs typeface="Calibri" pitchFamily="34" charset="-120"/>
              </a:rPr>
              <a:t>5. Launch in -AuditOnly, then in action mode</a:t>
            </a:r>
            <a:endParaRPr lang="en-US" sz="1400" dirty="0"/>
          </a:p>
        </p:txBody>
      </p:sp>
      <p:sp>
        <p:nvSpPr>
          <p:cNvPr id="10" name="Text 7"/>
          <p:cNvSpPr/>
          <p:nvPr/>
        </p:nvSpPr>
        <p:spPr>
          <a:xfrm>
            <a:off x="685800" y="4572000"/>
            <a:ext cx="7589520" cy="384048"/>
          </a:xfrm>
          <a:prstGeom prst="rect">
            <a:avLst/>
          </a:prstGeom>
          <a:noFill/>
          <a:ln/>
        </p:spPr>
        <p:txBody>
          <a:bodyPr wrap="square" lIns="0" tIns="0" rIns="0" bIns="0" rtlCol="0" anchor="ctr"/>
          <a:lstStyle/>
          <a:p>
            <a:pPr indent="0" marL="0">
              <a:buNone/>
            </a:pPr>
            <a:r>
              <a:rPr lang="en-US" sz="1400" dirty="0">
                <a:solidFill>
                  <a:srgbClr val="D7DEFA"/>
                </a:solidFill>
                <a:latin typeface="Calibri" pitchFamily="34" charset="0"/>
                <a:ea typeface="Calibri" pitchFamily="34" charset="-122"/>
                <a:cs typeface="Calibri" pitchFamily="34" charset="-120"/>
              </a:rPr>
              <a:t>6. Monitor the HTML reports and CentralLogs by category</a:t>
            </a:r>
            <a:endParaRPr lang="en-US" sz="1400" dirty="0"/>
          </a:p>
        </p:txBody>
      </p:sp>
      <p:sp>
        <p:nvSpPr>
          <p:cNvPr id="11" name="Shape 8"/>
          <p:cNvSpPr/>
          <p:nvPr/>
        </p:nvSpPr>
        <p:spPr>
          <a:xfrm>
            <a:off x="8732520" y="2377440"/>
            <a:ext cx="2880360" cy="2834640"/>
          </a:xfrm>
          <a:prstGeom prst="roundRect">
            <a:avLst>
              <a:gd name="adj" fmla="val 3226"/>
            </a:avLst>
          </a:prstGeom>
          <a:solidFill>
            <a:srgbClr val="18205C"/>
          </a:solidFill>
          <a:ln w="12700">
            <a:solidFill>
              <a:srgbClr val="2A3576"/>
            </a:solidFill>
            <a:prstDash val="solid"/>
          </a:ln>
        </p:spPr>
      </p:sp>
      <p:sp>
        <p:nvSpPr>
          <p:cNvPr id="12" name="Text 9"/>
          <p:cNvSpPr/>
          <p:nvPr/>
        </p:nvSpPr>
        <p:spPr>
          <a:xfrm>
            <a:off x="8961120" y="2606040"/>
            <a:ext cx="2468880" cy="320040"/>
          </a:xfrm>
          <a:prstGeom prst="rect">
            <a:avLst/>
          </a:prstGeom>
          <a:noFill/>
          <a:ln/>
        </p:spPr>
        <p:txBody>
          <a:bodyPr wrap="square" lIns="0" tIns="0" rIns="0" bIns="0" rtlCol="0" anchor="ctr"/>
          <a:lstStyle/>
          <a:p>
            <a:pPr indent="0" marL="0">
              <a:buNone/>
            </a:pPr>
            <a:r>
              <a:rPr lang="en-US" sz="1200" b="1" dirty="0">
                <a:solidFill>
                  <a:srgbClr val="CADCFC"/>
                </a:solidFill>
                <a:latin typeface="Calibri" pitchFamily="34" charset="0"/>
                <a:ea typeface="Calibri" pitchFamily="34" charset="-122"/>
                <a:cs typeface="Calibri" pitchFamily="34" charset="-120"/>
              </a:rPr>
              <a:t>Documentation</a:t>
            </a:r>
            <a:endParaRPr lang="en-US" sz="1200" dirty="0"/>
          </a:p>
        </p:txBody>
      </p:sp>
      <p:sp>
        <p:nvSpPr>
          <p:cNvPr id="13" name="Text 10"/>
          <p:cNvSpPr/>
          <p:nvPr/>
        </p:nvSpPr>
        <p:spPr>
          <a:xfrm>
            <a:off x="8961120" y="2971800"/>
            <a:ext cx="2468880" cy="1005840"/>
          </a:xfrm>
          <a:prstGeom prst="rect">
            <a:avLst/>
          </a:prstGeom>
          <a:noFill/>
          <a:ln/>
        </p:spPr>
        <p:txBody>
          <a:bodyPr wrap="square" lIns="0" tIns="0" rIns="0" bIns="0" rtlCol="0" anchor="ctr"/>
          <a:lstStyle/>
          <a:p>
            <a:pPr indent="0" marL="0">
              <a:lnSpc>
                <a:spcPct val="120000"/>
              </a:lnSpc>
              <a:buNone/>
            </a:pPr>
            <a:r>
              <a:rPr lang="en-US" sz="1050" dirty="0">
                <a:solidFill>
                  <a:srgbClr val="AEBBEF"/>
                </a:solidFill>
                <a:latin typeface="Calibri" pitchFamily="34" charset="0"/>
                <a:ea typeface="Calibri" pitchFamily="34" charset="-122"/>
                <a:cs typeface="Calibri" pitchFamily="34" charset="-120"/>
              </a:rPr>
              <a:t>README.md and LOCAL_MEMORY.md in the Windows11UpgradeToolkit folder describe every option in detail.</a:t>
            </a:r>
            <a:endParaRPr lang="en-US" sz="1050" dirty="0"/>
          </a:p>
        </p:txBody>
      </p:sp>
      <p:sp>
        <p:nvSpPr>
          <p:cNvPr id="14" name="Shape 11"/>
          <p:cNvSpPr/>
          <p:nvPr/>
        </p:nvSpPr>
        <p:spPr>
          <a:xfrm>
            <a:off x="8961120" y="4160520"/>
            <a:ext cx="2468880" cy="0"/>
          </a:xfrm>
          <a:prstGeom prst="line">
            <a:avLst/>
          </a:prstGeom>
          <a:noFill/>
          <a:ln w="12700">
            <a:solidFill>
              <a:srgbClr val="2A3576"/>
            </a:solidFill>
            <a:prstDash val="solid"/>
          </a:ln>
        </p:spPr>
      </p:sp>
      <p:sp>
        <p:nvSpPr>
          <p:cNvPr id="15" name="Text 12"/>
          <p:cNvSpPr/>
          <p:nvPr/>
        </p:nvSpPr>
        <p:spPr>
          <a:xfrm>
            <a:off x="8961120" y="4343400"/>
            <a:ext cx="2468880" cy="320040"/>
          </a:xfrm>
          <a:prstGeom prst="rect">
            <a:avLst/>
          </a:prstGeom>
          <a:noFill/>
          <a:ln/>
        </p:spPr>
        <p:txBody>
          <a:bodyPr wrap="square" lIns="0" tIns="0" rIns="0" bIns="0" rtlCol="0" anchor="ctr"/>
          <a:lstStyle/>
          <a:p>
            <a:pPr indent="0" marL="0">
              <a:buNone/>
            </a:pPr>
            <a:r>
              <a:rPr lang="en-US" sz="1050" dirty="0">
                <a:solidFill>
                  <a:srgbClr val="8C99D6"/>
                </a:solidFill>
                <a:latin typeface="Calibri" pitchFamily="34" charset="0"/>
                <a:ea typeface="Calibri" pitchFamily="34" charset="-122"/>
                <a:cs typeface="Calibri" pitchFamily="34" charset="-120"/>
              </a:rPr>
              <a:t>workplacecloudhub.com</a:t>
            </a:r>
            <a:endParaRPr lang="en-US" sz="1050" dirty="0"/>
          </a:p>
        </p:txBody>
      </p:sp>
      <p:sp>
        <p:nvSpPr>
          <p:cNvPr id="16" name="Text 13"/>
          <p:cNvSpPr/>
          <p:nvPr/>
        </p:nvSpPr>
        <p:spPr>
          <a:xfrm>
            <a:off x="640080" y="6217920"/>
            <a:ext cx="5486400" cy="365760"/>
          </a:xfrm>
          <a:prstGeom prst="rect">
            <a:avLst/>
          </a:prstGeom>
          <a:noFill/>
          <a:ln/>
        </p:spPr>
        <p:txBody>
          <a:bodyPr wrap="square" lIns="0" tIns="0" rIns="0" bIns="0" rtlCol="0" anchor="ctr"/>
          <a:lstStyle/>
          <a:p>
            <a:pPr indent="0" marL="0">
              <a:buNone/>
            </a:pPr>
            <a:r>
              <a:rPr lang="en-US" sz="1100" dirty="0">
                <a:solidFill>
                  <a:srgbClr val="8C99D6"/>
                </a:solidFill>
                <a:latin typeface="Calibri" pitchFamily="34" charset="0"/>
                <a:ea typeface="Calibri" pitchFamily="34" charset="-122"/>
                <a:cs typeface="Calibri" pitchFamily="34" charset="-120"/>
              </a:rPr>
              <a:t>SmartM365 Devices — Technical team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2026-07-14T18:14:18Z</dcterms:created>
  <dcterms:modified xsi:type="dcterms:W3CDTF">2026-07-14T18:14:18Z</dcterms:modified>
</cp:coreProperties>
</file>